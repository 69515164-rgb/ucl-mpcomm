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2" r:id="rId8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微软雅黑"/>
                <a:ea typeface="微软雅黑"/>
                <a:cs typeface="微软雅黑"/>
              </a:rPr>
              <a:t>本页为业务假设情景，不是现场测实收益。铁面不按此签「已验证」。</a:t>
            </a:r>
          </a:p>
          <a:p>
            <a:r>
              <a:rPr lang="zh-CN" sz="1200">
                <a:latin typeface="微软雅黑"/>
                <a:ea typeface="微软雅黑"/>
                <a:cs typeface="微软雅黑"/>
              </a:rPr>
              <a:t>价值数字来源：/workspace/poc-b0bc/typical-unit-value-scenario.md（内部价值情景；假设：不忙100ms / 忙无控制面125ms / 忙有控制面102ms；客户线110ms；忙时窗占比35%；部署12×950PR+24×950DT）。</a:t>
            </a:r>
          </a:p>
          <a:p>
            <a:r>
              <a:rPr lang="zh-CN" sz="1200">
                <a:latin typeface="微软雅黑"/>
                <a:ea typeface="微软雅黑"/>
                <a:cs typeface="微软雅黑"/>
              </a:rPr>
              <a:t>架构来源：已过组评审的昇腾四框设计（控制面夹在 MindIE 与四类传输之间）。</a:t>
            </a:r>
          </a:p>
          <a:p>
            <a:r>
              <a:rPr lang="zh-CN" sz="1200">
                <a:latin typeface="微软雅黑"/>
                <a:ea typeface="微软雅黑"/>
                <a:cs typeface="微软雅黑"/>
              </a:rPr>
              <a:t>用语：正文禁黑话（卸数、池化、±HCCL、B0/Bc 裸符号）；英文库名仅括号对照。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ROME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803" cy="6858000"/>
          </a:xfrm>
          <a:prstGeom prst="rect">
            <a:avLst/>
          </a:prstGeom>
          <a:solidFill>
            <a:srgbClr val="EEEEEE"/>
          </a:solidFill>
          <a:ln/>
          <a:effectLst>
            <a:outerShdw sx="100000" sy="100000" kx="0" ky="0" algn="bl" rotWithShape="0" blurRad="330200" dist="38100" dir="108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 rot="16200000">
            <a:off x="-661111" y="3298241"/>
            <a:ext cx="1805026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/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 rot="16200000">
            <a:off x="-96926" y="6158484"/>
            <a:ext cx="675742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/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238658"/>
            <a:ext cx="428854" cy="2304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238658"/>
            <a:ext cx="428854" cy="2304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6A6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2630" y="830275"/>
            <a:ext cx="246888" cy="249628"/>
          </a:xfrm>
          <a:prstGeom prst="roundRect">
            <a:avLst>
              <a:gd name="adj" fmla="val 33986"/>
            </a:avLst>
          </a:prstGeom>
          <a:solidFill>
            <a:srgbClr val="072BF2"/>
          </a:solidFill>
          <a:ln/>
          <a:effectLst>
            <a:outerShdw sx="100000" sy="100000" kx="0" ky="0" algn="bl" rotWithShape="0" blurRad="508000" dist="304800" dir="27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2272" y="891234"/>
            <a:ext cx="121083" cy="121069"/>
          </a:xfrm>
          <a:prstGeom prst="blockArc">
            <a:avLst>
              <a:gd name="adj1" fmla="val 10800000"/>
              <a:gd name="adj2" fmla="val 21600000"/>
              <a:gd name="adj3" fmla="val 14025"/>
            </a:avLst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78781" y="897875"/>
            <a:ext cx="121083" cy="121069"/>
          </a:xfrm>
          <a:prstGeom prst="blockArc">
            <a:avLst>
              <a:gd name="adj1" fmla="val 0"/>
              <a:gd name="adj2" fmla="val 10800000"/>
              <a:gd name="adj3" fmla="val 14025"/>
            </a:avLst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19322" y="918117"/>
            <a:ext cx="66957" cy="66946"/>
          </a:xfrm>
          <a:prstGeom prst="blockArc">
            <a:avLst>
              <a:gd name="adj1" fmla="val 10800000"/>
              <a:gd name="adj2" fmla="val 21600000"/>
              <a:gd name="adj3" fmla="val 25600"/>
            </a:avLst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05844" y="925103"/>
            <a:ext cx="66957" cy="66946"/>
          </a:xfrm>
          <a:prstGeom prst="blockArc">
            <a:avLst>
              <a:gd name="adj1" fmla="val 0"/>
              <a:gd name="adj2" fmla="val 10800000"/>
              <a:gd name="adj3" fmla="val 25600"/>
            </a:avLst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78673" y="950351"/>
            <a:ext cx="30338" cy="9463"/>
          </a:xfrm>
          <a:custGeom>
            <a:avLst/>
            <a:gdLst/>
            <a:ahLst/>
            <a:cxnLst/>
            <a:rect l="l" t="t" r="r" b="b"/>
            <a:pathLst>
              <a:path w="30338" h="9463">
                <a:moveTo>
                  <a:pt x="13479" y="0"/>
                </a:moveTo>
                <a:lnTo>
                  <a:pt x="30338" y="0"/>
                </a:lnTo>
                <a:lnTo>
                  <a:pt x="16859" y="9463"/>
                </a:lnTo>
                <a:lnTo>
                  <a:pt x="0" y="9463"/>
                </a:lnTo>
                <a:close/>
              </a:path>
            </a:pathLst>
          </a:custGeom>
          <a:solidFill>
            <a:srgbClr val="1C46F2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05642" y="950351"/>
            <a:ext cx="30338" cy="9463"/>
          </a:xfrm>
          <a:custGeom>
            <a:avLst/>
            <a:gdLst/>
            <a:ahLst/>
            <a:cxnLst/>
            <a:rect l="l" t="t" r="r" b="b"/>
            <a:pathLst>
              <a:path w="30338" h="9463">
                <a:moveTo>
                  <a:pt x="13479" y="0"/>
                </a:moveTo>
                <a:lnTo>
                  <a:pt x="30338" y="0"/>
                </a:lnTo>
                <a:lnTo>
                  <a:pt x="16859" y="9463"/>
                </a:lnTo>
                <a:lnTo>
                  <a:pt x="0" y="9463"/>
                </a:lnTo>
                <a:close/>
              </a:path>
            </a:pathLst>
          </a:custGeom>
          <a:solidFill>
            <a:srgbClr val="1C46F2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56116" y="950351"/>
            <a:ext cx="30338" cy="9463"/>
          </a:xfrm>
          <a:custGeom>
            <a:avLst/>
            <a:gdLst/>
            <a:ahLst/>
            <a:cxnLst/>
            <a:rect l="l" t="t" r="r" b="b"/>
            <a:pathLst>
              <a:path w="30338" h="9463">
                <a:moveTo>
                  <a:pt x="13479" y="0"/>
                </a:moveTo>
                <a:lnTo>
                  <a:pt x="30338" y="0"/>
                </a:lnTo>
                <a:lnTo>
                  <a:pt x="16859" y="9463"/>
                </a:lnTo>
                <a:lnTo>
                  <a:pt x="0" y="9463"/>
                </a:lnTo>
                <a:close/>
              </a:path>
            </a:pathLst>
          </a:custGeom>
          <a:solidFill>
            <a:srgbClr val="1C46F2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83111" y="950351"/>
            <a:ext cx="30338" cy="9463"/>
          </a:xfrm>
          <a:custGeom>
            <a:avLst/>
            <a:gdLst/>
            <a:ahLst/>
            <a:cxnLst/>
            <a:rect l="l" t="t" r="r" b="b"/>
            <a:pathLst>
              <a:path w="30338" h="9463">
                <a:moveTo>
                  <a:pt x="13479" y="0"/>
                </a:moveTo>
                <a:lnTo>
                  <a:pt x="30338" y="0"/>
                </a:lnTo>
                <a:lnTo>
                  <a:pt x="16859" y="9463"/>
                </a:lnTo>
                <a:lnTo>
                  <a:pt x="0" y="9463"/>
                </a:lnTo>
                <a:close/>
              </a:path>
            </a:pathLst>
          </a:custGeom>
          <a:solidFill>
            <a:srgbClr val="1C46F2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184148" y="801014"/>
            <a:ext cx="4114800" cy="308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12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业务假设 · 非测实</a:t>
            </a:r>
            <a:endParaRPr lang="zh-CN" sz="1200"/>
          </a:p>
        </p:txBody>
      </p:sp>
      <p:sp>
        <p:nvSpPr>
          <p:cNvPr id="12" name="Text 10"/>
          <p:cNvSpPr txBox="1"/>
          <p:nvPr/>
        </p:nvSpPr>
        <p:spPr>
          <a:xfrm>
            <a:off x="922630" y="120700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dirty="0" sz="2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推理侧传输成为可编排资源</a:t>
            </a:r>
            <a:r>
              <a:rPr lang="zh-CN" dirty="0" sz="2000" b="1">
                <a:solidFill>
                  <a:srgbClr val="1C46F2"/>
                </a:solidFill>
                <a:latin typeface="微软雅黑"/>
                <a:ea typeface="微软雅黑"/>
                <a:cs typeface="微软雅黑"/>
              </a:rPr>
              <a:t>（护城河在哪）</a:t>
            </a:r>
          </a:p>
          <a:p>
            <a:r>
              <a:rPr lang="zh-CN" dirty="0" sz="1100">
                <a:solidFill>
                  <a:srgbClr val="525252"/>
                </a:solidFill>
                <a:latin typeface="微软雅黑"/>
                <a:ea typeface="微软雅黑"/>
                <a:cs typeface="微软雅黑"/>
              </a:rPr>
              <a:t>护城河不在多几个限速旋钮，而在同一控制面按路径立规矩，并落到可执行层。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922630" y="56509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 lIns="45720" tIns="36576" rIns="45720" bIns="36576"/>
          <a:lstStyle/>
          <a:p>
            <a:pPr>
              <a:lnSpc>
                <a:spcPts val="1350"/>
              </a:lnSpc>
            </a:pPr>
            <a:r>
              <a:rPr lang="zh-CN" sz="1000" dirty="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备注（业务假设，非测实）：</a:t>
            </a:r>
            <a:r>
              <a:rPr lang="zh-CN" sz="1000" dirty="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01 价值情景数字为典型单元忙闲量级外推假设，非现场测实；测实三个数一到，同方法重算。本页不写未测实收益百分比。架构来自已过组评审的昇腾四框设计。</a:t>
            </a:r>
            <a:endParaRPr lang="zh-CN" sz="1000"/>
          </a:p>
        </p:txBody>
      </p:sp>
      <p:sp>
        <p:nvSpPr>
          <p:cNvPr id="14" name="Text 12"/>
          <p:cNvSpPr txBox="1"/>
          <p:nvPr/>
        </p:nvSpPr>
        <p:spPr>
          <a:xfrm>
            <a:off x="922630" y="21488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2200" dirty="0" b="1">
                <a:solidFill>
                  <a:srgbClr val="1C46F2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zh-CN" sz="2200"/>
          </a:p>
        </p:txBody>
      </p:sp>
      <p:sp>
        <p:nvSpPr>
          <p:cNvPr id="15" name="Text 13"/>
          <p:cNvSpPr txBox="1"/>
          <p:nvPr/>
        </p:nvSpPr>
        <p:spPr>
          <a:xfrm>
            <a:off x="1745590" y="221284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1600" dirty="0" b="1">
                <a:solidFill>
                  <a:srgbClr val="525252"/>
                </a:solidFill>
                <a:latin typeface="微软雅黑"/>
                <a:ea typeface="微软雅黑"/>
                <a:cs typeface="微软雅黑"/>
              </a:rPr>
              <a:t>值不值</a:t>
            </a:r>
            <a:endParaRPr lang="zh-CN" sz="1600"/>
          </a:p>
        </p:txBody>
      </p:sp>
      <p:sp>
        <p:nvSpPr>
          <p:cNvPr id="16" name="Text 14"/>
          <p:cNvSpPr txBox="1"/>
          <p:nvPr/>
        </p:nvSpPr>
        <p:spPr>
          <a:xfrm>
            <a:off x="922630" y="2624328"/>
            <a:ext cx="3246120" cy="2542032"/>
          </a:xfrm>
          <a:prstGeom prst="rect">
            <a:avLst/>
          </a:prstGeom>
          <a:noFill/>
          <a:ln/>
        </p:spPr>
        <p:txBody>
          <a:bodyPr wrap="square" rtlCol="0" anchor="t" lIns="18288" tIns="18288" rIns="45720" bIns="18288"/>
          <a:lstStyle/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忙时：首字尾延迟从破客户线（125 ms）回到过线（102 ms）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高峰大约少用六成机器；按一整天大约少用两成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部署按 12 张 950PR + 24 张 950DT</a:t>
            </a:r>
            <a:endParaRPr lang="zh-CN" sz="1000"/>
          </a:p>
        </p:txBody>
      </p:sp>
      <p:sp>
        <p:nvSpPr>
          <p:cNvPr id="17" name="Text 15"/>
          <p:cNvSpPr txBox="1"/>
          <p:nvPr/>
        </p:nvSpPr>
        <p:spPr>
          <a:xfrm>
            <a:off x="4480560" y="21488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2200" dirty="0" b="1">
                <a:solidFill>
                  <a:srgbClr val="1C46F2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zh-CN" sz="2200"/>
          </a:p>
        </p:txBody>
      </p:sp>
      <p:sp>
        <p:nvSpPr>
          <p:cNvPr id="18" name="Text 16"/>
          <p:cNvSpPr txBox="1"/>
          <p:nvPr/>
        </p:nvSpPr>
        <p:spPr>
          <a:xfrm>
            <a:off x="5303520" y="221284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1600" dirty="0" b="1">
                <a:solidFill>
                  <a:srgbClr val="525252"/>
                </a:solidFill>
                <a:latin typeface="微软雅黑"/>
                <a:ea typeface="微软雅黑"/>
                <a:cs typeface="微软雅黑"/>
              </a:rPr>
              <a:t>控制面插在哪</a:t>
            </a:r>
            <a:endParaRPr lang="zh-CN" sz="1600"/>
          </a:p>
        </p:txBody>
      </p:sp>
      <p:sp>
        <p:nvSpPr>
          <p:cNvPr id="19" name="Text 17"/>
          <p:cNvSpPr txBox="1"/>
          <p:nvPr/>
        </p:nvSpPr>
        <p:spPr>
          <a:xfrm>
            <a:off x="4480560" y="2624328"/>
            <a:ext cx="3246120" cy="2542032"/>
          </a:xfrm>
          <a:prstGeom prst="rect">
            <a:avLst/>
          </a:prstGeom>
          <a:noFill/>
          <a:ln/>
        </p:spPr>
        <p:txBody>
          <a:bodyPr wrap="square" rtlCol="0" anchor="t" lIns="18288" tIns="18288" rIns="45720" bIns="18288"/>
          <a:lstStyle/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夹在推理引擎（MindIE）和四类传输之间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（1）提示词侧算完后把 KV 送给吐字侧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（2）吐字侧多卡同步、对齐数据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（3）KV 临时搬到本机内存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（4）多机共用大内存取存 KV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忙时优先保证传 KV；本机内存 / 共享内存先按一按；失败要拦发或保守限速，禁止静默直通</a:t>
            </a:r>
            <a:endParaRPr lang="zh-CN" sz="1000"/>
          </a:p>
        </p:txBody>
      </p:sp>
      <p:sp>
        <p:nvSpPr>
          <p:cNvPr id="20" name="Text 18"/>
          <p:cNvSpPr txBox="1"/>
          <p:nvPr/>
        </p:nvSpPr>
        <p:spPr>
          <a:xfrm>
            <a:off x="8037576" y="21488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2200" dirty="0" b="1">
                <a:solidFill>
                  <a:srgbClr val="1C46F2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zh-CN" sz="2200"/>
          </a:p>
        </p:txBody>
      </p:sp>
      <p:sp>
        <p:nvSpPr>
          <p:cNvPr id="21" name="Text 19"/>
          <p:cNvSpPr txBox="1"/>
          <p:nvPr/>
        </p:nvSpPr>
        <p:spPr>
          <a:xfrm>
            <a:off x="8860536" y="221284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/>
            <a:r>
              <a:rPr lang="zh-CN" sz="1600" dirty="0" b="1">
                <a:solidFill>
                  <a:srgbClr val="525252"/>
                </a:solidFill>
                <a:latin typeface="微软雅黑"/>
                <a:ea typeface="微软雅黑"/>
                <a:cs typeface="微软雅黑"/>
              </a:rPr>
              <a:t>和业界差在哪</a:t>
            </a:r>
            <a:endParaRPr lang="zh-CN" sz="1600"/>
          </a:p>
        </p:txBody>
      </p:sp>
      <p:sp>
        <p:nvSpPr>
          <p:cNvPr id="22" name="Text 20"/>
          <p:cNvSpPr txBox="1"/>
          <p:nvPr/>
        </p:nvSpPr>
        <p:spPr>
          <a:xfrm>
            <a:off x="8037576" y="2624328"/>
            <a:ext cx="3246120" cy="2953512"/>
          </a:xfrm>
          <a:prstGeom prst="rect">
            <a:avLst/>
          </a:prstGeom>
          <a:noFill/>
          <a:ln/>
        </p:spPr>
        <p:txBody>
          <a:bodyPr wrap="square" rtlCol="0" anchor="t" lIns="18288" tIns="18288" rIns="45720" bIns="18288"/>
          <a:lstStyle/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业界常见停在：传得更快更满；软限速、忙时仍可能静默直通；各路各跑各的</a:t>
            </a:r>
            <a:endParaRPr lang="zh-CN" sz="1000"/>
          </a:p>
          <a:p>
            <a:pPr>
              <a:lnSpc>
                <a:spcPts val="1500"/>
              </a:lnSpc>
              <a:spcAft>
                <a:spcPts val="80"/>
              </a:spcAft>
            </a:pPr>
            <a:r>
              <a:rPr lang="zh-CN" sz="1000" dirty="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对照 UCL-MPComm：优秀数据面，不替代多路编排（谁先走、违了约能不能拦）</a:t>
            </a:r>
            <a:endParaRPr lang="zh-CN" sz="1000"/>
          </a:p>
          <a:p>
            <a:r>
              <a:rPr sz="1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我们多出来的抓手：</a:t>
            </a:r>
          </a:p>
          <a:p>
            <a:r>
              <a:rPr sz="1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 · 看得见：流量先注册，路径可观测</a:t>
            </a:r>
          </a:p>
          <a:p>
            <a:r>
              <a:rPr sz="1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 · 排得上队：忙时按路径让路（优先传 KV）</a:t>
            </a:r>
          </a:p>
          <a:p>
            <a:r>
              <a:rPr sz="1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 · 违了约能拦：拦发或保守限速，禁止静默直通</a:t>
            </a:r>
          </a:p>
          <a:p>
            <a:r>
              <a:rPr sz="1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 · 四类统一编排：传 KV、多卡同步、本机内存、多机共享内存</a:t>
            </a:r>
          </a:p>
          <a:p>
            <a:r>
              <a:rPr sz="10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· 护城河：停在「只会软限速」就和业界同层；四类收成同一套可编排资源（注册·观测·让路·拦发），才构成可依赖的差异化</a:t>
            </a:r>
          </a:p>
          <a:p>
            <a:r>
              <a:rPr lang="zh-CN" altLang="en-US" sz="1000" dirty="0" b="1">
                <a:solidFill>
                  <a:srgbClr val="1C46F2"/>
                </a:solidFill>
                <a:latin typeface="微软雅黑"/>
                <a:ea typeface="微软雅黑"/>
                <a:cs typeface="微软雅黑"/>
              </a:rPr>
              <a:t>边界：</a:t>
            </a:r>
            <a:r>
              <a:rPr lang="zh-CN" altLang="en-US" sz="100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「当前默认可执行层＝用户态包装（登记·观测·让路·拦发）；硬件队列/建链 QoS 仍 TBD，属中长期加固，不是本页已交付能力。」</a:t>
            </a:r>
            <a:endParaRPr lang="zh-CN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238658"/>
            <a:ext cx="428854" cy="2304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t" wrap="square"/>
          <a:lstStyle>
            <a:lvl1pPr>
              <a:defRPr sz="900">
                <a:solidFill>
                  <a:srgbClr val="A6A6A6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/>
            <a:r>
              <a:rPr lang="zh-CN" sz="100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Business</dc:title>
  <dc:subject>PptxGenJS Presentation</dc:subject>
  <dc:creator>Executive</dc:creator>
  <cp:lastModifiedBy>Executive</cp:lastModifiedBy>
  <cp:revision>1</cp:revision>
  <dcterms:created xsi:type="dcterms:W3CDTF">2026-10-12T10:54:40Z</dcterms:created>
  <dcterms:modified xsi:type="dcterms:W3CDTF">2026-10-12T10:54:40Z</dcterms:modified>
</cp:coreProperties>
</file>