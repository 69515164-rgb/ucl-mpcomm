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SLO Engine 服务 PD 分离下的 prefill 池。输入保留 TTFT 目标、当前批 token 预算、本请求长度，并补上队列、激活显存、KV 带宽与在途条数、decode 空槽。输出 1 是下一批 token 预算，相对当前预算每拍最多一档。输出 2 是本请求的准入、推迟或拒绝。预测 TTFT = 队列等待 + 本批计算 + 露出的搬运 + 接纳等待。已发射的批不在执行器里。Decode 批大小由 TPOT 环调整。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控制律按预测 TTFT 的主导项分支。本批计算或露出的 KV 搬运把 TTFT 顶过目标时，下一批 token 预算减一档。队列等待已经是大头时，再减预算会降低服务率，所以预算保持，新请求拒绝。decode 没有空槽时，本请求推迟，prefill 预算不动，空槽由 TPOT 环释放。低于目标且显存、带宽有余时加一档。死区内保持。每拍最多改一档。观测用队头和窗口高分位。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11521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PD 分离  ·  Prefill 闭环   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29184"/>
            <a:ext cx="116128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每拍只改下一批的 token 预算，并决定这条请求进不进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731520"/>
            <a:ext cx="64008" cy="329184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94944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已在 GPU 上的批保持不动。Decode 的批大小由另一条环按 TPOT 调整，本引擎只读它的空槽。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52144"/>
            <a:ext cx="2944368" cy="1176527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152144"/>
            <a:ext cx="73152" cy="1176527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207008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约束与现状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1481328"/>
            <a:ext cx="2688336" cy="22148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TTFT 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757680"/>
            <a:ext cx="2688336" cy="22148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当前批 token 预算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2034032"/>
            <a:ext cx="2688336" cy="22148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prefill 实测吞吐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401824"/>
            <a:ext cx="2944368" cy="1176527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2401824"/>
            <a:ext cx="73152" cy="1176527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456688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队列与本请求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2731007"/>
            <a:ext cx="2688336" cy="22148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本请求的 prompt token 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" y="3007360"/>
            <a:ext cx="2688336" cy="22148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队头已经等待的时间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3283711"/>
            <a:ext cx="2688336" cy="22148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排在前面的 token 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651504"/>
            <a:ext cx="2944368" cy="1176527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3651504"/>
            <a:ext cx="73152" cy="1176527"/>
          </a:xfrm>
          <a:prstGeom prst="rect">
            <a:avLst/>
          </a:prstGeom>
          <a:solidFill>
            <a:srgbClr val="8C6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3706367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6424"/>
                </a:solidFill>
                <a:latin typeface="Microsoft YaHei"/>
                <a:ea typeface="Microsoft YaHei"/>
                <a:cs typeface="Microsoft YaHei"/>
              </a:rPr>
              <a:t>资源与下游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3980688"/>
            <a:ext cx="2688336" cy="22148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激活显存余量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" y="4257040"/>
            <a:ext cx="2688336" cy="22148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KV 有效带宽与在途条数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" y="4533392"/>
            <a:ext cx="2688336" cy="221487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decode 空槽数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93008" y="1152144"/>
            <a:ext cx="4773168" cy="3675887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93008" y="1152144"/>
            <a:ext cx="4773168" cy="347472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Token SLO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84448" y="1591056"/>
            <a:ext cx="4590288" cy="975359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1682496"/>
            <a:ext cx="292608" cy="256032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1664208"/>
            <a:ext cx="405993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4176" y="1956816"/>
            <a:ext cx="4389120" cy="5547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假设本请求装进下一批。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预测 TTFT = 队列等待 + 本批计算 + 露出的搬运 + 接纳等待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8" y="2639568"/>
            <a:ext cx="4590288" cy="975359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2731008"/>
            <a:ext cx="292608" cy="256032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2712720"/>
            <a:ext cx="405993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归因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4176" y="3005328"/>
            <a:ext cx="4389120" cy="5547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误差 = TTFT 目标 - 预测 TTFT。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四段里最大的一段，决定动预算还是动准入。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84448" y="3688080"/>
            <a:ext cx="4590288" cy="975359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779519"/>
            <a:ext cx="292608" cy="256032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3761232"/>
            <a:ext cx="405993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限幅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94176" y="4053840"/>
            <a:ext cx="4389120" cy="5547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死区内预算保持。出死区每拍只改一档。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上界 = min(TTFT 还允许的预算, 显存放得下的预算)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58784" y="1152144"/>
            <a:ext cx="3310128" cy="1792223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58784" y="1152144"/>
            <a:ext cx="73152" cy="1792223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23376" y="1225296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输出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3376" y="1426464"/>
            <a:ext cx="303580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下一批 token 预算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05088" y="1773936"/>
            <a:ext cx="957072" cy="292608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6E48"/>
                </a:solidFill>
                <a:latin typeface="Microsoft YaHei"/>
                <a:ea typeface="Microsoft YaHei"/>
                <a:cs typeface="Microsoft YaHei"/>
              </a:rPr>
              <a:t>+1 档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17024" y="1773936"/>
            <a:ext cx="957072" cy="292608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保持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28960" y="1773936"/>
            <a:ext cx="957072" cy="292608"/>
          </a:xfrm>
          <a:prstGeom prst="rect">
            <a:avLst/>
          </a:prstGeom>
          <a:solidFill>
            <a:srgbClr val="FF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4034"/>
                </a:solidFill>
                <a:latin typeface="Microsoft YaHei"/>
                <a:ea typeface="Microsoft YaHei"/>
                <a:cs typeface="Microsoft YaHei"/>
              </a:rPr>
              <a:t>-1 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23376" y="2139696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相对当前预算移动一档。一档是按显存和 prefill 吞吐预先划好的相邻台阶。执行器记的是 token 数。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3035808"/>
            <a:ext cx="3310128" cy="1792223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58784" y="3035808"/>
            <a:ext cx="73152" cy="1792223"/>
          </a:xfrm>
          <a:prstGeom prst="rect">
            <a:avLst/>
          </a:prstGeom>
          <a:solidFill>
            <a:srgbClr val="1B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23376" y="3108960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6E48"/>
                </a:solidFill>
                <a:latin typeface="Microsoft YaHei"/>
                <a:ea typeface="Microsoft YaHei"/>
                <a:cs typeface="Microsoft YaHei"/>
              </a:rPr>
              <a:t>输出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23376" y="3310127"/>
            <a:ext cx="303580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本请求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05088" y="3657600"/>
            <a:ext cx="957072" cy="292608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6E48"/>
                </a:solidFill>
                <a:latin typeface="Microsoft YaHei"/>
                <a:ea typeface="Microsoft YaHei"/>
                <a:cs typeface="Microsoft YaHei"/>
              </a:rPr>
              <a:t>准入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17024" y="3657600"/>
            <a:ext cx="957072" cy="292608"/>
          </a:xfrm>
          <a:prstGeom prst="rect">
            <a:avLst/>
          </a:prstGeom>
          <a:solidFill>
            <a:srgbClr val="FFF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424"/>
                </a:solidFill>
                <a:latin typeface="Microsoft YaHei"/>
                <a:ea typeface="Microsoft YaHei"/>
                <a:cs typeface="Microsoft YaHei"/>
              </a:rPr>
              <a:t>推迟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728960" y="3657600"/>
            <a:ext cx="957072" cy="292608"/>
          </a:xfrm>
          <a:prstGeom prst="rect">
            <a:avLst/>
          </a:prstGeom>
          <a:solidFill>
            <a:srgbClr val="FF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4034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23376" y="4023360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准入进入下一批。推迟留下一拍再判。拒绝只在队列已经把 TTFT 顶过目标时使用。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3218688" y="2880359"/>
            <a:ext cx="256032" cy="219456"/>
          </a:xfrm>
          <a:prstGeom prst="right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ight Arrow 55"/>
          <p:cNvSpPr/>
          <p:nvPr/>
        </p:nvSpPr>
        <p:spPr>
          <a:xfrm>
            <a:off x="8284463" y="2880359"/>
            <a:ext cx="256032" cy="219456"/>
          </a:xfrm>
          <a:prstGeom prst="right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6032" y="4937760"/>
            <a:ext cx="11676888" cy="310896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闭环回读：下一拍的当前预算 = 本拍输出。刚完成请求的 TTFT 写入预测窗口。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" y="5358384"/>
            <a:ext cx="381914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56032" y="5358384"/>
            <a:ext cx="3819144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5504688"/>
            <a:ext cx="35631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预算按 token 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" y="5797296"/>
            <a:ext cx="3563112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一条长请求占掉的 token，等于很多条短请求。台阶按 token 数划，长度直接进入预测。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84904" y="5358384"/>
            <a:ext cx="381914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84904" y="5358384"/>
            <a:ext cx="3819144" cy="73152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12920" y="5504688"/>
            <a:ext cx="35631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只改下一拍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12920" y="5797296"/>
            <a:ext cx="3563112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当前预算是加减一档的基准。已经发射的 kernel 跑完为止，闭环从下一次组批生效。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13776" y="5358384"/>
            <a:ext cx="381914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13776" y="5358384"/>
            <a:ext cx="3819144" cy="73152"/>
          </a:xfrm>
          <a:prstGeom prst="rect">
            <a:avLst/>
          </a:prstGeom>
          <a:solidFill>
            <a:srgbClr val="8C6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41792" y="5504688"/>
            <a:ext cx="35631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424"/>
                </a:solidFill>
                <a:latin typeface="Microsoft YaHei"/>
                <a:ea typeface="Microsoft YaHei"/>
                <a:cs typeface="Microsoft YaHei"/>
              </a:rPr>
              <a:t>准入单独给出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41792" y="5797296"/>
            <a:ext cx="3563112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队列是大头时拒绝新请求。decode 没有空槽时推迟。decode 批大小留在 TPOT 环。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11521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PD 分离  ·  Prefill 闭环   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29184"/>
            <a:ext cx="116128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TTFT 要越线时，先看是哪一段把它顶上去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731520"/>
            <a:ext cx="64008" cy="329184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94944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本批计算或 KV 搬运是大头，才把下一批预算减一档。队列已是大头就保持预算并拒绝新请求。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11612880" cy="12435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预测 TTFT = 队列等待 + 本批计算 + 露出的搬运 + 接纳等待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误差 = TTFT 目标 - 预测 TTFT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本批计算 = 下一批 token 数 / prefill 吞吐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队列等待 = 队头已等 + 前面各批剩余时间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露出的搬运 = max(0, 同时完成条数 × 单条 KV 字节 × 8 / 有效带宽 - 可重叠时间)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单条 KV 字节 = 2 × 层数 × KV 头数 × 头维 × token 数 × 每元素字节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" y="2395728"/>
          <a:ext cx="11676888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331720"/>
                <a:gridCol w="2240280"/>
                <a:gridCol w="4224528"/>
              </a:tblGrid>
              <a:tr h="329184"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 TTFT 目标</a:t>
                      </a:r>
                    </a:p>
                  </a:txBody>
                  <a:tcPr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主导项</a:t>
                      </a:r>
                    </a:p>
                  </a:txBody>
                  <a:tcPr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下一批 token 预算</a:t>
                      </a:r>
                    </a:p>
                  </a:txBody>
                  <a:tcPr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本请求</a:t>
                      </a:r>
                    </a:p>
                  </a:txBody>
                  <a:tcPr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低于目标，超出死区</a:t>
                      </a:r>
                    </a:p>
                  </a:txBody>
                  <a:tcPr anchor="ctr">
                    <a:solidFill>
                      <a:srgbClr val="E8F3EC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显存与带宽仍有余</a:t>
                      </a:r>
                    </a:p>
                  </a:txBody>
                  <a:tcPr anchor="ctr">
                    <a:solidFill>
                      <a:srgbClr val="E8F3EC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1B6E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加大一档</a:t>
                      </a:r>
                    </a:p>
                  </a:txBody>
                  <a:tcPr anchor="ctr">
                    <a:solidFill>
                      <a:srgbClr val="E8F3EC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1B6E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准入</a:t>
                      </a:r>
                    </a:p>
                  </a:txBody>
                  <a:tcPr anchor="ctr">
                    <a:solidFill>
                      <a:srgbClr val="E8F3EC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落在死区内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四段都在目标内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装得下就准入，否则推迟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高于目标，超出死区</a:t>
                      </a:r>
                    </a:p>
                  </a:txBody>
                  <a:tcPr anchor="ctr">
                    <a:solidFill>
                      <a:srgbClr val="FFF0EC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本批计算</a:t>
                      </a:r>
                    </a:p>
                  </a:txBody>
                  <a:tcPr anchor="ctr">
                    <a:solidFill>
                      <a:srgbClr val="FFF0EC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B040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减小一档</a:t>
                      </a:r>
                    </a:p>
                  </a:txBody>
                  <a:tcPr anchor="ctr">
                    <a:solidFill>
                      <a:srgbClr val="FFF0EC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B040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长请求推迟，短请求可准入</a:t>
                      </a:r>
                    </a:p>
                  </a:txBody>
                  <a:tcPr anchor="ctr">
                    <a:solidFill>
                      <a:srgbClr val="FFF0EC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高于目标，超出死区</a:t>
                      </a:r>
                    </a:p>
                  </a:txBody>
                  <a:tcPr anchor="ctr">
                    <a:solidFill>
                      <a:srgbClr val="FFF0EC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搬运露出</a:t>
                      </a:r>
                    </a:p>
                  </a:txBody>
                  <a:tcPr anchor="ctr">
                    <a:solidFill>
                      <a:srgbClr val="FFF0EC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B040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减小一档</a:t>
                      </a:r>
                    </a:p>
                  </a:txBody>
                  <a:tcPr anchor="ctr">
                    <a:solidFill>
                      <a:srgbClr val="FFF0EC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B040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推迟，把完成时刻错开</a:t>
                      </a:r>
                    </a:p>
                  </a:txBody>
                  <a:tcPr anchor="ctr">
                    <a:solidFill>
                      <a:srgbClr val="FFF0EC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高于目标，超出死区</a:t>
                      </a:r>
                    </a:p>
                  </a:txBody>
                  <a:tcPr anchor="ctr">
                    <a:solidFill>
                      <a:srgbClr val="FFE4E0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队列等待</a:t>
                      </a:r>
                    </a:p>
                  </a:txBody>
                  <a:tcPr anchor="ctr">
                    <a:solidFill>
                      <a:srgbClr val="FFE4E0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B040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</a:t>
                      </a:r>
                    </a:p>
                  </a:txBody>
                  <a:tcPr anchor="ctr">
                    <a:solidFill>
                      <a:srgbClr val="FFE4E0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B040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拒绝。预算不再下降</a:t>
                      </a:r>
                    </a:p>
                  </a:txBody>
                  <a:tcPr anchor="ctr">
                    <a:solidFill>
                      <a:srgbClr val="FFE4E0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高于目标，超出死区</a:t>
                      </a:r>
                    </a:p>
                  </a:txBody>
                  <a:tcPr anchor="ctr">
                    <a:solidFill>
                      <a:srgbClr val="FFF6E6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 接纳</a:t>
                      </a:r>
                    </a:p>
                  </a:txBody>
                  <a:tcPr anchor="ctr">
                    <a:solidFill>
                      <a:srgbClr val="FFF6E6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8C6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</a:t>
                      </a:r>
                    </a:p>
                  </a:txBody>
                  <a:tcPr anchor="ctr">
                    <a:solidFill>
                      <a:srgbClr val="FFF6E6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 lIns="73152" rIns="54864" tIns="18288" bIns="18288"/>
                    <a:lstStyle/>
                    <a:p>
                      <a:pPr algn="l"/>
                      <a:r>
                        <a:rPr sz="1300" b="1">
                          <a:solidFill>
                            <a:srgbClr val="8C6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推迟到出现空槽</a:t>
                      </a:r>
                    </a:p>
                  </a:txBody>
                  <a:tcPr anchor="ctr">
                    <a:solidFill>
                      <a:srgbClr val="FFF6E6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6016752"/>
            <a:ext cx="116128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死区是目标附近的一段带宽，避免预算来回跳。观测用队头等待和最近窗口的高分位。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prefill 吞吐、有效带宽取该池最近窗口的实测值。台阶数按卡的显存和这个吞吐预先划定。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 SLO Engine：下一批预算与准入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