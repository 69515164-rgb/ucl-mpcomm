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3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16"/>
    <p:sldId id="263" r:id="rId9"/>
    <p:sldId id="260" r:id="rId6"/>
    <p:sldId id="261" r:id="rId7"/>
    <p:sldId id="262" r:id="rId8"/>
    <p:sldId id="266" r:id="rId17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notesMaster" Target="notesMasters/notesMaster1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heme" Target="theme/theme1.xml"/>
  <Relationship Id="rId15" Type="http://schemas.openxmlformats.org/officeDocument/2006/relationships/tableStyles" Target="tableStyles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微软雅黑"/>
                <a:ea typeface="微软雅黑"/>
                <a:cs typeface="微软雅黑"/>
              </a:rPr>
              <a:t>控制面插在 MindIE 与用户态传输库之间。传输库四入口（库≠链路）：① LLM-DataDist（+ HIXL Engine）底链 HCCS/RoCE/UBoE/URMA；② HCCL（950 注 CCU 硬件，非 wrap）；③ 本机 Block Manager + runtime D2H｜Host DMA·PCIe（禁 HIXL D2H，TBD+责任方）；④ AscendStoreConnector + MemCache + MemFabric（device_urma；可注 SfaRemoteD2H）。调度箭头仅为信号输入。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微软雅黑"/>
                <a:ea typeface="微软雅黑"/>
                <a:cs typeface="微软雅黑"/>
              </a:rPr>
              <a:t>登记 API 最小字段：flow_id, backend, priority, stage, quota。backend 四键：LLM_DD_HIXL | HCCL | BLOCK_RT_D2H | STORE_MEMFABRIC。priority/stage 覆盖本机 LOCAL_D2H 与池化 POOL_OFFLOAD。开销：per-window 决策，μs 预算与 pacing 尾差上限为设计假设，待 POC 校准。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微软雅黑"/>
                <a:ea typeface="微软雅黑"/>
                <a:cs typeface="微软雅黑"/>
              </a:rPr>
              <a:t>MindIE: PD_HANDOFF_START/END callback；backlog poll。路径计数四入口：cp_llm_dd_bytes_completed / cp_hccl_op_* / cp_block_rt_d2h_bytes_done / cp_store_memfabric_bytes_done；本机禁 HIXL D2H；无官方计数器时软件代理并标精度风险。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四类适配器（2×2）：① LLM-DataDist（+ HIXL Engine）wrap pull/push_cache|blocks·transfer_cache_async；② HCCL 原语（CCU=硬件注，非 wrap API）；③ Block Manager + runtime D2H（TBD+责任方；Host DMA·PCIe；禁 HIXL D2H）；④ AscendStoreConnector + MemCache + MemFabric（device_urma；可注 SfaRemoteD2HConnector）。每盒含 wrap / pacing / HW QoS / 旁路。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标清：Prefill/KV 路径 950PR → Decode/目标 950DT；卸数可与 KV 并行，配额上 KV 默认更高优先。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旁路检测：全量 wrap + register_rate vs actual_send 对账；wrap 失败不等于旁路，两者都 degrade+告警。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TBD 均含 owner/截止/软件回退。本机 Block Manager+runtime D2H 入口 TBD+责任方；池化 AscendStoreConnector/MemCache/MemFabric；HIXL wrap 仅 PD（LLM-DataDist）。禁 HIXL D2H 包装契约。TSE OOS 保持。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客户面四门禁：① MindIE/业务无感 ② 不强制改对外API（四入口：LLM-DataDist/HCCL/Block Manager+runtime D2H/StoreConnector·MemCache·MemFabric）③ 包装层可灰度 ④ degrade≠业务错误。本机禁 HIXL D2H；全部 Pass 才可宣称客户面无感/可灰度。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POC：950PR→950DT；PD=LLM-DataDist；本机 runtime D2H 与池化 MemFabric 分计吞吐；± HCCL。禁 HIXL D2H。Before/After 为假设区间。接受：告警、配额证据（分计）、可复跑、acquire 不成尾源。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接口契约分表：上表调度/登记/PD钩子/cp_adapter_llm_dd；下表 HCCL / 本机 cp_adapter_block_rt（禁 HIXL D2H）/ 池化 cp_adapter_store_mf / counters / bypass_degrade。失败码 TIMEOUT·GATE_DENY·DELAY_FAIL·THROTTLE_TIMEOUT·DEGRADE_ENTER；CP 失败码不回业务客户端。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POC：950PR→950DT PD KV + offload ± HCCL。Before/After 目标为假设区间。接受：告警、配额证据、可复跑。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系统架构框图 · 统一控制面位置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控制面插在 MindIE 与用户态传输库之间：不替换库、不进驱动；库≠链路；调度箭头仅为信号输入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11338560" cy="658368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5875">
            <a:solidFill>
              <a:srgbClr val="D5DA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20700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123444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2618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集群调度 / PD 调度策略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123444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2618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信号输入（优先级/阶段提示）· 不替换调度器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810512"/>
            <a:ext cx="201168" cy="201168"/>
          </a:xfrm>
          <a:prstGeom prst="downArrow">
            <a:avLst/>
          </a:prstGeom>
          <a:solidFill>
            <a:srgbClr val="98B8E1"/>
          </a:solidFill>
          <a:ln w="12700">
            <a:solidFill>
              <a:srgbClr val="98B8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084832"/>
            <a:ext cx="11338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98B8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1762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MindIE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1945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推理引擎 · PD KV Cache · 背景卸数发起方 · 发送路径包装层挂载点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2724912"/>
            <a:ext cx="201168" cy="201168"/>
          </a:xfrm>
          <a:prstGeom prst="downArrow">
            <a:avLst/>
          </a:prstGeom>
          <a:solidFill>
            <a:srgbClr val="3C53A3"/>
          </a:solidFill>
          <a:ln w="12700">
            <a:solidFill>
              <a:srgbClr val="3C5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99232"/>
            <a:ext cx="11338560" cy="1417320"/>
          </a:xfrm>
          <a:prstGeom prst="roundRect">
            <a:avLst>
              <a:gd name="adj" fmla="val 5161"/>
            </a:avLst>
          </a:prstGeom>
          <a:solidFill>
            <a:srgbClr val="E8EEF8"/>
          </a:solidFill>
          <a:ln w="22225">
            <a:solidFill>
              <a:srgbClr val="3C53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0906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【统一控制面】  登记 · 观测 · 策略 · 控速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边界：止于注入 pacing · 不替换传输库 · 不进入驱动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204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3C53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Flow 登记表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29000" y="35204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98B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8B8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观测采集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5204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8BC7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C7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策略调度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06840" y="35204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505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控速执行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89320" y="4480560"/>
            <a:ext cx="201168" cy="201168"/>
          </a:xfrm>
          <a:prstGeom prst="downArrow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681728"/>
            <a:ext cx="11338560" cy="960120"/>
          </a:xfrm>
          <a:prstGeom prst="roundRect">
            <a:avLst>
              <a:gd name="adj" fmla="val 9412"/>
            </a:avLst>
          </a:prstGeom>
          <a:solidFill>
            <a:srgbClr val="E8F5F1"/>
          </a:solidFill>
          <a:ln w="15875">
            <a:solidFill>
              <a:srgbClr val="2F7D6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38912" y="482803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000" dirty="0" b="1">
                <a:solidFill>
                  <a:srgbClr val="2F7D6D"/>
                </a:solidFill>
                <a:latin typeface="微软雅黑"/>
                <a:ea typeface="微软雅黑"/>
                <a:cs typeface="微软雅黑"/>
              </a:rPr>
              <a:t>传输库</a:t>
            </a:r>
            <a:endParaRPr lang="zh-CN" sz="1000"/>
          </a:p>
          <a:p>
            <a:pPr algn="ctr"/>
            <a:r>
              <a:rPr lang="zh-CN" altLang="en-US" sz="1000" dirty="0" b="1">
                <a:solidFill>
                  <a:srgbClr val="2F7D6D"/>
                </a:solidFill>
                <a:latin typeface="微软雅黑"/>
                <a:ea typeface="微软雅黑"/>
                <a:cs typeface="微软雅黑"/>
              </a:rPr>
              <a:t>(用户态)</a:t>
            </a:r>
            <a:endParaRPr lang="zh-CN" sz="1000"/>
          </a:p>
        </p:txBody>
      </p:sp>
      <p:sp>
        <p:nvSpPr>
          <p:cNvPr id="35" name="Shape 33"/>
          <p:cNvSpPr/>
          <p:nvPr/>
        </p:nvSpPr>
        <p:spPr>
          <a:xfrm>
            <a:off x="1600200" y="4828032"/>
            <a:ext cx="2377440" cy="713232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F7D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36776" y="486460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PD KV: LLM-DataDist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（+ HIXL Engine）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HCCS / RoCE / UBoE / URMA</a:t>
            </a:r>
          </a:p>
        </p:txBody>
      </p:sp>
      <p:sp>
        <p:nvSpPr>
          <p:cNvPr id="37" name="Shape 35"/>
          <p:cNvSpPr/>
          <p:nvPr/>
        </p:nvSpPr>
        <p:spPr>
          <a:xfrm>
            <a:off x="4069080" y="4828032"/>
            <a:ext cx="2377440" cy="713232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F7D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05656" y="486460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集合: HCCL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950 注 CCU（硬件）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非 wrap API</a:t>
            </a:r>
          </a:p>
        </p:txBody>
      </p:sp>
      <p:sp>
        <p:nvSpPr>
          <p:cNvPr id="39" name="Shape 37"/>
          <p:cNvSpPr/>
          <p:nvPr/>
        </p:nvSpPr>
        <p:spPr>
          <a:xfrm>
            <a:off x="6537960" y="4828032"/>
            <a:ext cx="2377440" cy="713232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F7D6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486460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本机: Block Manager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+ runtime D2H（TBD+责任方）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Host DMA·PCIe — 禁 HIXL D2H</a:t>
            </a:r>
          </a:p>
        </p:txBody>
      </p:sp>
      <p:sp>
        <p:nvSpPr>
          <p:cNvPr id="43" name="Shape 41"/>
          <p:cNvSpPr/>
          <p:nvPr/>
        </p:nvSpPr>
        <p:spPr>
          <a:xfrm>
            <a:off x="9006840" y="4828032"/>
            <a:ext cx="2377440" cy="713232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F7D6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43416" y="486460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池化: AscendStoreConnector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+ MemCache + MemFabric</a:t>
            </a:r>
          </a:p>
          <a:p>
            <a:pPr algn="ctr">
              <a:spcAft>
                <a:spcPts val="0"/>
              </a:spcAft>
            </a:pPr>
            <a:r>
              <a:rPr lang="zh-CN" altLang="en-US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device_urma；可注 SfaRemoteD2H</a:t>
            </a:r>
          </a:p>
        </p:txBody>
      </p:sp>
      <p:sp>
        <p:nvSpPr>
          <p:cNvPr id="41" name="Shape 39"/>
          <p:cNvSpPr/>
          <p:nvPr/>
        </p:nvSpPr>
        <p:spPr>
          <a:xfrm>
            <a:off x="411480" y="5742432"/>
            <a:ext cx="11338560" cy="384048"/>
          </a:xfrm>
          <a:prstGeom prst="roundRect">
            <a:avLst>
              <a:gd name="adj" fmla="val 16667"/>
            </a:avLst>
          </a:prstGeom>
          <a:solidFill>
            <a:srgbClr val="EEF2F8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7972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zh-CN" altLang="en-US" sz="1100" dirty="0" b="1">
                <a:solidFill>
                  <a:srgbClr val="50556B"/>
                </a:solidFill>
                <a:latin typeface="微软雅黑"/>
                <a:ea typeface="微软雅黑"/>
                <a:cs typeface="微软雅黑"/>
              </a:rPr>
              <a:t>驱动层（控制面不进入）  ·  UB2.0  ·  RoCE  ·  PCIe  ·  Host DMA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控制面内部设计 · 登记 API · 开销预算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四模块流水线；最小登记字段；决策粒度与 μs 预算显式化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97280"/>
            <a:ext cx="2834640" cy="91440"/>
          </a:xfrm>
          <a:prstGeom prst="rect">
            <a:avLst/>
          </a:prstGeom>
          <a:solidFill>
            <a:srgbClr val="3C53A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280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Flow 登记表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lang="zh-CN" altLang="en-US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LLM_DD_HIXL / HCCL /</a:t>
            </a:r>
            <a:endParaRPr lang="zh-CN" sz="1000"/>
          </a:p>
          <a:p>
            <a:pPr/>
            <a:r>
              <a:rPr lang="zh-CN" altLang="en-US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BLOCK_RT_D2H /</a:t>
            </a:r>
            <a:endParaRPr lang="zh-CN" sz="1000"/>
          </a:p>
          <a:p>
            <a:pPr/>
            <a:r>
              <a:rPr lang="zh-CN" altLang="en-US" sz="10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STORE_MEMFABRIC</a:t>
            </a:r>
            <a:endParaRPr lang="zh-CN" sz="100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97280"/>
            <a:ext cx="2834640" cy="91440"/>
          </a:xfrm>
          <a:prstGeom prst="rect">
            <a:avLst/>
          </a:prstGeom>
          <a:solidFill>
            <a:srgbClr val="98B8E1"/>
          </a:solidFill>
          <a:ln/>
        </p:spPr>
      </p:sp>
      <p:sp>
        <p:nvSpPr>
          <p:cNvPr id="16" name="Text 14"/>
          <p:cNvSpPr/>
          <p:nvPr/>
        </p:nvSpPr>
        <p:spPr>
          <a:xfrm>
            <a:off x="3447288" y="1280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B8E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观测采集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47288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阶段事件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路径计数器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callback / poll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0972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097280"/>
            <a:ext cx="2834640" cy="91440"/>
          </a:xfrm>
          <a:prstGeom prst="rect">
            <a:avLst/>
          </a:prstGeom>
          <a:solidFill>
            <a:srgbClr val="8BC7BB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1280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7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策略调度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flow 裁决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窗口配额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阶段门闩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81160" y="10972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1097280"/>
            <a:ext cx="2834640" cy="91440"/>
          </a:xfrm>
          <a:prstGeom prst="rect">
            <a:avLst/>
          </a:prstGeom>
          <a:solidFill>
            <a:srgbClr val="50556B"/>
          </a:solidFill>
          <a:ln/>
        </p:spPr>
      </p:sp>
      <p:sp>
        <p:nvSpPr>
          <p:cNvPr id="24" name="Text 22"/>
          <p:cNvSpPr/>
          <p:nvPr/>
        </p:nvSpPr>
        <p:spPr>
          <a:xfrm>
            <a:off x="9390888" y="1280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控速执行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90888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lang="zh-CN" altLang="en-US" sz="11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四类库适配器</a:t>
            </a:r>
            <a:endParaRPr lang="zh-CN" sz="1100"/>
          </a:p>
          <a:p>
            <a:pPr/>
            <a:r>
              <a:rPr lang="zh-CN" altLang="en-US" sz="11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限速/节流</a:t>
            </a:r>
            <a:endParaRPr lang="zh-CN" sz="1100"/>
          </a:p>
          <a:p>
            <a:pPr/>
            <a:r>
              <a:rPr lang="zh-CN" altLang="en-US" sz="110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延迟注入</a:t>
            </a:r>
            <a:endParaRPr lang="zh-CN" sz="1100"/>
          </a:p>
        </p:txBody>
      </p:sp>
      <p:sp>
        <p:nvSpPr>
          <p:cNvPr id="26" name="Text 24"/>
          <p:cNvSpPr/>
          <p:nvPr/>
        </p:nvSpPr>
        <p:spPr>
          <a:xfrm>
            <a:off x="411480" y="2651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最小登记 API / 适配器字段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44368"/>
          <a:ext cx="7589520" cy="233172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01752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类型/取值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flow_id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uint64 / UUID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发送包装层分配；全路径关联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LLM_DD_HIXL | HCCL |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BLOCK_RT_D2H | STORE_MEMFABRIC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四类库适配器路由键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KV_TAIL &gt; HCCL_CRIT &gt;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LOCAL_D2H &gt; POOL_OFFLOAD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默认争用序；四路径可配置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PD_HANDOFF | COLLECTIVE |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LOCAL_D2H | POOL_OFFLOAD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与 MindIE 阶段事件对齐；本机/池化分 stage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quota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window_bytes / outstanding / delay_ms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策略输出；适配器执行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8138160" y="265176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5875">
            <a:solidFill>
              <a:srgbClr val="C45C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138160" y="2651760"/>
            <a:ext cx="3657600" cy="9144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30" name="Text 27"/>
          <p:cNvSpPr/>
          <p:nvPr/>
        </p:nvSpPr>
        <p:spPr>
          <a:xfrm>
            <a:off x="827532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控制面开销预算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275320" y="32004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决策粒度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 per-window（10–50 ms）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 per-packet 裁决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μs 预算（假设）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登记路径 ≤ 5 μs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观测读 ≤ 10 μs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策略裁决 ≤ 20 μs / 窗口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尾时延约束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pacing 引入的 P99 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 ≤ +2%（假设，待 POC）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命名观测 · MindIE 阶段事件与路径计数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具名采集点按路径落地；MindIE 钩子与独立旁路计数均为 TBD（见 slide 9），未闭环前不宣称已具备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MindIE 阶段事件（所需钩子 · 未交付前标 TBD）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169164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2560320"/>
                <a:gridCol w="292608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事件/指标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提供方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交付方式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PD_HANDOFF_START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MindIE（TBD）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PD 调度钩子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callback（优先）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未就绪→见回退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打开 KV 高优先窗口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PD_HANDOFF_END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MindIE（TBD）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PD 调度钩子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callback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未就绪→见回退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关闭窗口 / 让出配额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mindie_pd_kv_backlog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MindIE（TBD）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队列深度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poll 10–50ms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（无 callback 时默认）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策略输入：积压压力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mindie_offload_pending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MindIE（TBD）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本机/池化卸数提交队列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poll / callback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延迟卸数门闩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本机 D2H 与池化分计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11480" y="32004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路径计数器 / 软件代理（≥1 / 路径 · 四入口）</a:t>
            </a:r>
            <a:endParaRPr lang="zh-CN" sz="130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01568"/>
          <a:ext cx="11430000" cy="269748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00400"/>
                <a:gridCol w="2743200"/>
              </a:tblGrid>
              <a:tr h="5394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具名计数/采集点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来源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精度风险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PD KV: LLM-DataDist（+ HIXL Engine）</a:t>
                      </a:r>
                      <a:endParaRPr lang="zh-CN" sz="1000"/>
                    </a:p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(fabric: HCCS/RoCE/UBoE/URMA)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cp_llm_dd_bytes_completed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(+ fabric bytes if exposed)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LLM-DataDist / HIXL wrap 完成回调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官方 QP 计数若暴露则叠加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代理：仅已 wrap 路径可见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直连库流量看不到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集合: HCCL</a:t>
                      </a:r>
                      <a:endParaRPr lang="zh-CN" sz="1000"/>
                    </a:p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(950 注 CCU 硬件，非 wrap)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cp_hccl_op_submitted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cp_hccl_op_completed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HCCL 提交包装层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CCU 队列深度若暴露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无官方 CCU 计数时仅软件代理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旁路需独立计数器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本机 KV→Host DDR:</a:t>
                      </a:r>
                      <a:endParaRPr lang="zh-CN" sz="1000"/>
                    </a:p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Block Manager + runtime D2H</a:t>
                      </a:r>
                      <a:endParaRPr lang="zh-CN" sz="1000"/>
                    </a:p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(Host DMA·PCIe；禁 HIXL D2H)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cp_block_rt_d2h_bytes_done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Block Manager / runtime D2H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提交包装完成（+ PCIe BW 可选）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软件代理；内核旁路不可见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入口 TBD+责任方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池化/远端: AscendStoreConnector</a:t>
                      </a:r>
                      <a:endParaRPr lang="zh-CN" sz="1000"/>
                    </a:p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+ MemCache + MemFabric</a:t>
                      </a:r>
                      <a:endParaRPr lang="zh-CN" sz="1000"/>
                    </a:p>
                    <a:p>
                      <a:r>
                        <a:rPr lang="zh-CN" altLang="en-US" sz="1000" dirty="0" b="1">
                          <a:latin typeface="微软雅黑"/>
                          <a:ea typeface="微软雅黑"/>
                          <a:cs typeface="微软雅黑"/>
                        </a:rPr>
                        <a:t>(device_urma；可注 SfaRemoteD2H)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cp_store_memfabric_bytes_done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AscendStoreConnector / MemCache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put·get；MemFabric 完成回调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与本机 D2H 分计数</a:t>
                      </a:r>
                      <a:endParaRPr lang="zh-CN" sz="1000"/>
                    </a:p>
                    <a:p>
                      <a:r>
                        <a:rPr lang="zh-CN" altLang="en-US" sz="1000" dirty="0">
                          <a:latin typeface="微软雅黑"/>
                          <a:ea typeface="微软雅黑"/>
                          <a:cs typeface="微软雅黑"/>
                        </a:rPr>
                        <a:t>旁路/直连池化不可见则 degrade</a:t>
                      </a:r>
                      <a:endParaRPr lang="zh-CN" sz="100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11</a:t>
            </a:r>
            <a:endParaRPr lang="zh-CN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4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四类适配器 · 具体钩子与 950 能力名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每类写清：wrap 调用点 · 用户态 pacing 契约 · 950 HW QoS（可选）· 旁路/失败；库≠链路；CCU/底链仅注解</a:t>
            </a:r>
            <a:endParaRPr lang="zh-CN" sz="1100" dirty="0"/>
          </a:p>
        </p:txBody>
      </p:sp>
      <p:sp>
        <p:nvSpPr>
          <p:cNvPr id="10" name="Card0Bg"/>
          <p:cNvSpPr/>
          <p:nvPr/>
        </p:nvSpPr>
        <p:spPr>
          <a:xfrm>
            <a:off x="320040" y="1051560"/>
            <a:ext cx="5705856" cy="2542032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3C53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Card0Hdr"/>
          <p:cNvSpPr/>
          <p:nvPr/>
        </p:nvSpPr>
        <p:spPr>
          <a:xfrm>
            <a:off x="320040" y="1051560"/>
            <a:ext cx="5705856" cy="329184"/>
          </a:xfrm>
          <a:prstGeom prst="rect">
            <a:avLst/>
          </a:prstGeom>
          <a:solidFill>
            <a:srgbClr val="3C53A3"/>
          </a:solidFill>
          <a:ln/>
        </p:spPr>
      </p:sp>
      <p:sp>
        <p:nvSpPr>
          <p:cNvPr id="12" name="Card0Title"/>
          <p:cNvSpPr/>
          <p:nvPr/>
        </p:nvSpPr>
        <p:spPr>
          <a:xfrm>
            <a:off x="429768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zh-CN" sz="1100" dirty="0" b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PD KV · LLM-DataDist（+ HIXL Engine）</a:t>
            </a:r>
            <a:endParaRPr lang="zh-CN" sz="1100" dirty="0"/>
          </a:p>
        </p:txBody>
      </p:sp>
      <p:sp>
        <p:nvSpPr>
          <p:cNvPr id="13" name="Card0L"/>
          <p:cNvSpPr/>
          <p:nvPr/>
        </p:nvSpPr>
        <p:spPr>
          <a:xfrm>
            <a:off x="429768" y="1435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Wrap 调用点</a:t>
            </a:r>
            <a:endParaRPr lang="zh-CN" sz="1000" dirty="0"/>
          </a:p>
        </p:txBody>
      </p:sp>
      <p:sp>
        <p:nvSpPr>
          <p:cNvPr id="14" name="Card0B"/>
          <p:cNvSpPr/>
          <p:nvPr/>
        </p:nvSpPr>
        <p:spPr>
          <a:xfrm>
            <a:off x="429768" y="16367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pull/push_cache|blocks · transfer_cache_async；MindIE PD 路径内、注入前（库发送包装层）</a:t>
            </a:r>
            <a:endParaRPr lang="zh-CN" sz="1000" dirty="0"/>
          </a:p>
        </p:txBody>
      </p:sp>
      <p:sp>
        <p:nvSpPr>
          <p:cNvPr id="15" name="Card0L"/>
          <p:cNvSpPr/>
          <p:nvPr/>
        </p:nvSpPr>
        <p:spPr>
          <a:xfrm>
            <a:off x="429768" y="1984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用户态 pacing</a:t>
            </a:r>
            <a:endParaRPr lang="zh-CN" sz="1000" dirty="0"/>
          </a:p>
        </p:txBody>
      </p:sp>
      <p:sp>
        <p:nvSpPr>
          <p:cNvPr id="16" name="Card0B"/>
          <p:cNvSpPr/>
          <p:nvPr/>
        </p:nvSpPr>
        <p:spPr>
          <a:xfrm>
            <a:off x="429768" y="21854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cp_adapter_llm_dd.acquire(flow_id, window_bytes, outstanding_cap)→grant；完成回调 release</a:t>
            </a:r>
            <a:endParaRPr lang="zh-CN" sz="1000" dirty="0"/>
          </a:p>
        </p:txBody>
      </p:sp>
      <p:sp>
        <p:nvSpPr>
          <p:cNvPr id="17" name="Card0L"/>
          <p:cNvSpPr/>
          <p:nvPr/>
        </p:nvSpPr>
        <p:spPr>
          <a:xfrm>
            <a:off x="429768" y="25328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950 HW QoS</a:t>
            </a:r>
            <a:endParaRPr lang="zh-CN" sz="1000" dirty="0"/>
          </a:p>
        </p:txBody>
      </p:sp>
      <p:sp>
        <p:nvSpPr>
          <p:cNvPr id="18" name="Card0B"/>
          <p:cNvSpPr/>
          <p:nvPr/>
        </p:nvSpPr>
        <p:spPr>
          <a:xfrm>
            <a:off x="429768" y="27340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底链 HCCS/RoCE/UBoE/URMA 的 QP/queue 优先·SQ 限深（若暴露）；否则软件窗口配额 shim</a:t>
            </a:r>
            <a:endParaRPr lang="zh-CN" sz="1000" dirty="0"/>
          </a:p>
        </p:txBody>
      </p:sp>
      <p:sp>
        <p:nvSpPr>
          <p:cNvPr id="19" name="Card0L"/>
          <p:cNvSpPr/>
          <p:nvPr/>
        </p:nvSpPr>
        <p:spPr>
          <a:xfrm>
            <a:off x="429768" y="3081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旁路/失败</a:t>
            </a:r>
            <a:endParaRPr lang="zh-CN" sz="1000" dirty="0"/>
          </a:p>
        </p:txBody>
      </p:sp>
      <p:sp>
        <p:nvSpPr>
          <p:cNvPr id="20" name="Card0B"/>
          <p:cNvSpPr/>
          <p:nvPr/>
        </p:nvSpPr>
        <p:spPr>
          <a:xfrm>
            <a:off x="429768" y="32826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未登记直连库发送/注入 → degrade+告警（非 wrap 失败）</a:t>
            </a:r>
            <a:endParaRPr lang="zh-CN" sz="1000" dirty="0"/>
          </a:p>
        </p:txBody>
      </p:sp>
      <p:sp>
        <p:nvSpPr>
          <p:cNvPr id="21" name="Card1Bg"/>
          <p:cNvSpPr/>
          <p:nvPr/>
        </p:nvSpPr>
        <p:spPr>
          <a:xfrm>
            <a:off x="6153912" y="1051560"/>
            <a:ext cx="5705856" cy="2542032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8BC7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Card1Hdr"/>
          <p:cNvSpPr/>
          <p:nvPr/>
        </p:nvSpPr>
        <p:spPr>
          <a:xfrm>
            <a:off x="6153912" y="1051560"/>
            <a:ext cx="5705856" cy="329184"/>
          </a:xfrm>
          <a:prstGeom prst="rect">
            <a:avLst/>
          </a:prstGeom>
          <a:solidFill>
            <a:srgbClr val="8BC7BB"/>
          </a:solidFill>
          <a:ln/>
        </p:spPr>
      </p:sp>
      <p:sp>
        <p:nvSpPr>
          <p:cNvPr id="23" name="Card1Title"/>
          <p:cNvSpPr/>
          <p:nvPr/>
        </p:nvSpPr>
        <p:spPr>
          <a:xfrm>
            <a:off x="62636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zh-CN" sz="1100" dirty="0" b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集合 · HCCL（CCU=硬件注，非 wrap）</a:t>
            </a:r>
            <a:endParaRPr lang="zh-CN" sz="1100" dirty="0"/>
          </a:p>
        </p:txBody>
      </p:sp>
      <p:sp>
        <p:nvSpPr>
          <p:cNvPr id="24" name="Card1L"/>
          <p:cNvSpPr/>
          <p:nvPr/>
        </p:nvSpPr>
        <p:spPr>
          <a:xfrm>
            <a:off x="6263640" y="1435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8BC7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Wrap 调用点</a:t>
            </a:r>
            <a:endParaRPr lang="zh-CN" sz="1000" dirty="0"/>
          </a:p>
        </p:txBody>
      </p:sp>
      <p:sp>
        <p:nvSpPr>
          <p:cNvPr id="25" name="Card1B"/>
          <p:cNvSpPr/>
          <p:nvPr/>
        </p:nvSpPr>
        <p:spPr>
          <a:xfrm>
            <a:off x="6263640" y="16367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HCCL 原语（AllReduce/AllGather/ReduceScatter/AlltoAll…）提交前；不 wrap CCU API</a:t>
            </a:r>
            <a:endParaRPr lang="zh-CN" sz="1000" dirty="0"/>
          </a:p>
        </p:txBody>
      </p:sp>
      <p:sp>
        <p:nvSpPr>
          <p:cNvPr id="26" name="Card1L"/>
          <p:cNvSpPr/>
          <p:nvPr/>
        </p:nvSpPr>
        <p:spPr>
          <a:xfrm>
            <a:off x="6263640" y="1984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8BC7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用户态 pacing</a:t>
            </a:r>
            <a:endParaRPr lang="zh-CN" sz="1000" dirty="0"/>
          </a:p>
        </p:txBody>
      </p:sp>
      <p:sp>
        <p:nvSpPr>
          <p:cNvPr id="27" name="Card1B"/>
          <p:cNvSpPr/>
          <p:nvPr/>
        </p:nvSpPr>
        <p:spPr>
          <a:xfrm>
            <a:off x="6263640" y="21854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cp_adapter_hccl.gate(flow_id, stage, concurrency_quota)；关键阶段门闩</a:t>
            </a:r>
            <a:endParaRPr lang="zh-CN" sz="1000" dirty="0"/>
          </a:p>
        </p:txBody>
      </p:sp>
      <p:sp>
        <p:nvSpPr>
          <p:cNvPr id="28" name="Card1L"/>
          <p:cNvSpPr/>
          <p:nvPr/>
        </p:nvSpPr>
        <p:spPr>
          <a:xfrm>
            <a:off x="6263640" y="25328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8BC7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950 HW QoS</a:t>
            </a:r>
            <a:endParaRPr lang="zh-CN" sz="1000" dirty="0"/>
          </a:p>
        </p:txBody>
      </p:sp>
      <p:sp>
        <p:nvSpPr>
          <p:cNvPr id="29" name="Card1B"/>
          <p:cNvSpPr/>
          <p:nvPr/>
        </p:nvSpPr>
        <p:spPr>
          <a:xfrm>
            <a:off x="6263640" y="27340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CCU 队列优先/并发上限（若暴露，硬件注）；否则软件并发配额 + 阶段门闩 shim</a:t>
            </a:r>
            <a:endParaRPr lang="zh-CN" sz="1000" dirty="0"/>
          </a:p>
        </p:txBody>
      </p:sp>
      <p:sp>
        <p:nvSpPr>
          <p:cNvPr id="30" name="Card1L"/>
          <p:cNvSpPr/>
          <p:nvPr/>
        </p:nvSpPr>
        <p:spPr>
          <a:xfrm>
            <a:off x="6263640" y="3081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8BC7B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旁路/失败</a:t>
            </a:r>
            <a:endParaRPr lang="zh-CN" sz="1000" dirty="0"/>
          </a:p>
        </p:txBody>
      </p:sp>
      <p:sp>
        <p:nvSpPr>
          <p:cNvPr id="31" name="Card1B"/>
          <p:cNvSpPr/>
          <p:nvPr/>
        </p:nvSpPr>
        <p:spPr>
          <a:xfrm>
            <a:off x="6263640" y="32826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集合通信绕过登记 → 争用未知、收紧其他 flow、告警</a:t>
            </a:r>
            <a:endParaRPr lang="zh-CN" sz="1000" dirty="0"/>
          </a:p>
        </p:txBody>
      </p:sp>
      <p:sp>
        <p:nvSpPr>
          <p:cNvPr id="32" name="Card2Bg"/>
          <p:cNvSpPr/>
          <p:nvPr/>
        </p:nvSpPr>
        <p:spPr>
          <a:xfrm>
            <a:off x="320040" y="3721608"/>
            <a:ext cx="5705856" cy="2542032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C45C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Card2Hdr"/>
          <p:cNvSpPr/>
          <p:nvPr/>
        </p:nvSpPr>
        <p:spPr>
          <a:xfrm>
            <a:off x="320040" y="3721608"/>
            <a:ext cx="5705856" cy="329184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34" name="Card2Title"/>
          <p:cNvSpPr/>
          <p:nvPr/>
        </p:nvSpPr>
        <p:spPr>
          <a:xfrm>
            <a:off x="429768" y="3767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zh-CN" sz="1100" dirty="0" b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本机 · Block Manager + runtime D2H</a:t>
            </a:r>
            <a:endParaRPr lang="zh-CN" sz="1100" dirty="0"/>
          </a:p>
        </p:txBody>
      </p:sp>
      <p:sp>
        <p:nvSpPr>
          <p:cNvPr id="35" name="Card2L"/>
          <p:cNvSpPr/>
          <p:nvPr/>
        </p:nvSpPr>
        <p:spPr>
          <a:xfrm>
            <a:off x="429768" y="41056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C45C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Wrap 调用点</a:t>
            </a:r>
            <a:endParaRPr lang="zh-CN" sz="1000" dirty="0"/>
          </a:p>
        </p:txBody>
      </p:sp>
      <p:sp>
        <p:nvSpPr>
          <p:cNvPr id="36" name="Card2B"/>
          <p:cNvSpPr/>
          <p:nvPr/>
        </p:nvSpPr>
        <p:spPr>
          <a:xfrm>
            <a:off x="429768" y="43068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Block Manager + runtime D2H 提交前（TBD+责任方）；Host DMA·PCIe；禁 HIXL D2H</a:t>
            </a:r>
            <a:endParaRPr lang="zh-CN" sz="1000" dirty="0"/>
          </a:p>
        </p:txBody>
      </p:sp>
      <p:sp>
        <p:nvSpPr>
          <p:cNvPr id="37" name="Card2L"/>
          <p:cNvSpPr/>
          <p:nvPr/>
        </p:nvSpPr>
        <p:spPr>
          <a:xfrm>
            <a:off x="429768" y="4654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C45C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用户态 pacing</a:t>
            </a:r>
            <a:endParaRPr lang="zh-CN" sz="1000" dirty="0"/>
          </a:p>
        </p:txBody>
      </p:sp>
      <p:sp>
        <p:nvSpPr>
          <p:cNvPr id="38" name="Card2B"/>
          <p:cNvSpPr/>
          <p:nvPr/>
        </p:nvSpPr>
        <p:spPr>
          <a:xfrm>
            <a:off x="429768" y="48554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cp_adapter_block_rt.delay_or_share(flow_id, delay_ms, bw_share, batch_bytes)</a:t>
            </a:r>
            <a:endParaRPr lang="zh-CN" sz="1000" dirty="0"/>
          </a:p>
        </p:txBody>
      </p:sp>
      <p:sp>
        <p:nvSpPr>
          <p:cNvPr id="39" name="Card2L"/>
          <p:cNvSpPr/>
          <p:nvPr/>
        </p:nvSpPr>
        <p:spPr>
          <a:xfrm>
            <a:off x="429768" y="52029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C45C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950 HW QoS</a:t>
            </a:r>
            <a:endParaRPr lang="zh-CN" sz="1000" dirty="0"/>
          </a:p>
        </p:txBody>
      </p:sp>
      <p:sp>
        <p:nvSpPr>
          <p:cNvPr id="40" name="Card2B"/>
          <p:cNvSpPr/>
          <p:nvPr/>
        </p:nvSpPr>
        <p:spPr>
          <a:xfrm>
            <a:off x="429768" y="54041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PCIe/DDR 带宽份额或 DMA 队列优先（若暴露）；否则延迟卸数 + 批量节流 shim</a:t>
            </a:r>
            <a:endParaRPr lang="zh-CN" sz="1000" dirty="0"/>
          </a:p>
        </p:txBody>
      </p:sp>
      <p:sp>
        <p:nvSpPr>
          <p:cNvPr id="41" name="Card2L"/>
          <p:cNvSpPr/>
          <p:nvPr/>
        </p:nvSpPr>
        <p:spPr>
          <a:xfrm>
            <a:off x="429768" y="57515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C45C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旁路/失败</a:t>
            </a:r>
            <a:endParaRPr lang="zh-CN" sz="1000" dirty="0"/>
          </a:p>
        </p:txBody>
      </p:sp>
      <p:sp>
        <p:nvSpPr>
          <p:cNvPr id="42" name="Card2B"/>
          <p:cNvSpPr/>
          <p:nvPr/>
        </p:nvSpPr>
        <p:spPr>
          <a:xfrm>
            <a:off x="429768" y="59527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本机卸数直发 → 保守延迟+告警，保护 KV 尾时延</a:t>
            </a:r>
            <a:endParaRPr lang="zh-CN" sz="1000" dirty="0"/>
          </a:p>
        </p:txBody>
      </p:sp>
      <p:sp>
        <p:nvSpPr>
          <p:cNvPr id="43" name="Card3Bg"/>
          <p:cNvSpPr/>
          <p:nvPr/>
        </p:nvSpPr>
        <p:spPr>
          <a:xfrm>
            <a:off x="6153912" y="3721608"/>
            <a:ext cx="5705856" cy="2542032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5055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Card3Hdr"/>
          <p:cNvSpPr/>
          <p:nvPr/>
        </p:nvSpPr>
        <p:spPr>
          <a:xfrm>
            <a:off x="6153912" y="3721608"/>
            <a:ext cx="5705856" cy="329184"/>
          </a:xfrm>
          <a:prstGeom prst="rect">
            <a:avLst/>
          </a:prstGeom>
          <a:solidFill>
            <a:srgbClr val="50556B"/>
          </a:solidFill>
          <a:ln/>
        </p:spPr>
      </p:sp>
      <p:sp>
        <p:nvSpPr>
          <p:cNvPr id="45" name="Card3Title"/>
          <p:cNvSpPr/>
          <p:nvPr/>
        </p:nvSpPr>
        <p:spPr>
          <a:xfrm>
            <a:off x="6263640" y="3767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buNone/>
            </a:pPr>
            <a:r>
              <a:rPr lang="zh-CN" sz="1100" dirty="0" b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池化 · AscendStoreConnector+MemCache+MemFabric</a:t>
            </a:r>
            <a:endParaRPr lang="zh-CN" sz="1100" dirty="0"/>
          </a:p>
        </p:txBody>
      </p:sp>
      <p:sp>
        <p:nvSpPr>
          <p:cNvPr id="46" name="Card3L"/>
          <p:cNvSpPr/>
          <p:nvPr/>
        </p:nvSpPr>
        <p:spPr>
          <a:xfrm>
            <a:off x="6263640" y="41056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Wrap 调用点</a:t>
            </a:r>
            <a:endParaRPr lang="zh-CN" sz="1000" dirty="0"/>
          </a:p>
        </p:txBody>
      </p:sp>
      <p:sp>
        <p:nvSpPr>
          <p:cNvPr id="47" name="Card3B"/>
          <p:cNvSpPr/>
          <p:nvPr/>
        </p:nvSpPr>
        <p:spPr>
          <a:xfrm>
            <a:off x="6263640" y="43068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AscendStoreConnector / MemCache put·get / MemFabric；device_urma；可注 SfaRemoteD2HConnector</a:t>
            </a:r>
            <a:endParaRPr lang="zh-CN" sz="1000" dirty="0"/>
          </a:p>
        </p:txBody>
      </p:sp>
      <p:sp>
        <p:nvSpPr>
          <p:cNvPr id="48" name="Card3L"/>
          <p:cNvSpPr/>
          <p:nvPr/>
        </p:nvSpPr>
        <p:spPr>
          <a:xfrm>
            <a:off x="6263640" y="4654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用户态 pacing</a:t>
            </a:r>
            <a:endParaRPr lang="zh-CN" sz="1000" dirty="0"/>
          </a:p>
        </p:txBody>
      </p:sp>
      <p:sp>
        <p:nvSpPr>
          <p:cNvPr id="49" name="Card3B"/>
          <p:cNvSpPr/>
          <p:nvPr/>
        </p:nvSpPr>
        <p:spPr>
          <a:xfrm>
            <a:off x="6263640" y="48554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cp_adapter_store_mf.acquire_or_throttle(flow_id, window_bytes, outstanding_cap)</a:t>
            </a:r>
            <a:endParaRPr lang="zh-CN" sz="1000" dirty="0"/>
          </a:p>
        </p:txBody>
      </p:sp>
      <p:sp>
        <p:nvSpPr>
          <p:cNvPr id="50" name="Card3L"/>
          <p:cNvSpPr/>
          <p:nvPr/>
        </p:nvSpPr>
        <p:spPr>
          <a:xfrm>
            <a:off x="6263640" y="52029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950 HW QoS</a:t>
            </a:r>
            <a:endParaRPr lang="zh-CN" sz="1000" dirty="0"/>
          </a:p>
        </p:txBody>
      </p:sp>
      <p:sp>
        <p:nvSpPr>
          <p:cNvPr id="51" name="Card3B"/>
          <p:cNvSpPr/>
          <p:nvPr/>
        </p:nvSpPr>
        <p:spPr>
          <a:xfrm>
            <a:off x="6263640" y="54041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MemFabric 协议 QoS（若暴露）；否则软件窗口/节流 shim；与本机 D2H 分盒</a:t>
            </a:r>
            <a:endParaRPr lang="zh-CN" sz="1000" dirty="0"/>
          </a:p>
        </p:txBody>
      </p:sp>
      <p:sp>
        <p:nvSpPr>
          <p:cNvPr id="52" name="Card3L"/>
          <p:cNvSpPr/>
          <p:nvPr/>
        </p:nvSpPr>
        <p:spPr>
          <a:xfrm>
            <a:off x="6263640" y="57515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 b="1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旁路/失败</a:t>
            </a:r>
            <a:endParaRPr lang="zh-CN" sz="1000" dirty="0"/>
          </a:p>
        </p:txBody>
      </p:sp>
      <p:sp>
        <p:nvSpPr>
          <p:cNvPr id="53" name="Card3B"/>
          <p:cNvSpPr/>
          <p:nvPr/>
        </p:nvSpPr>
        <p:spPr>
          <a:xfrm>
            <a:off x="6263640" y="59527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l">
              <a:buNone/>
            </a:pP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池化直连 → degrade+告警；失败码与本机 D2H 分路径</a:t>
            </a:r>
            <a:endParaRPr lang="zh-CN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组件交互时序 · 关键路径（950PR → 950DT）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 via LLM-DataDist；本机卸数 via runtime D2H / 可选池化泳道 — 无 HIXL D2H 演员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MindIE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1097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097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包装/适配器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097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LLM-DataDist(+HIXL)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92640" y="1097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runtime D2H / 池化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1773936"/>
            <a:ext cx="365760" cy="365760"/>
          </a:xfrm>
          <a:prstGeom prst="ellipse">
            <a:avLst/>
          </a:prstGeom>
          <a:solidFill>
            <a:srgbClr val="3C53A3"/>
          </a:solidFill>
          <a:ln w="12700">
            <a:solidFill>
              <a:srgbClr val="3C5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810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1664208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1719072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发起 PD KV + 背景卸数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950PR→950DT（本机/可选池）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2487168"/>
            <a:ext cx="365760" cy="365760"/>
          </a:xfrm>
          <a:prstGeom prst="ellipse">
            <a:avLst/>
          </a:prstGeom>
          <a:solidFill>
            <a:srgbClr val="3C53A3"/>
          </a:solidFill>
          <a:ln w="12700">
            <a:solidFill>
              <a:srgbClr val="3C53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523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2377440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2432304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登记 PD + 本机卸数 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可选另登记池化 · stage=PD_HANDOFF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" y="3200400"/>
            <a:ext cx="365760" cy="365760"/>
          </a:xfrm>
          <a:prstGeom prst="ellipse">
            <a:avLst/>
          </a:prstGeom>
          <a:solidFill>
            <a:srgbClr val="3C53A3"/>
          </a:solidFill>
          <a:ln w="12700">
            <a:solidFill>
              <a:srgbClr val="3C5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369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090672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145536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读计数 / 阶段信号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PD_HANDOFF_START · backlog poll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" y="3913632"/>
            <a:ext cx="365760" cy="365760"/>
          </a:xfrm>
          <a:prstGeom prst="ellipse">
            <a:avLst/>
          </a:prstGeom>
          <a:solidFill>
            <a:srgbClr val="3C53A3"/>
          </a:solidFill>
          <a:ln w="12700">
            <a:solidFill>
              <a:srgbClr val="3C5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9502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0" y="3803904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858768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下窗口配额（优先 KV）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per-window 10–50ms 裁决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84048" y="4626864"/>
            <a:ext cx="365760" cy="365760"/>
          </a:xfrm>
          <a:prstGeom prst="ellipse">
            <a:avLst/>
          </a:prstGeom>
          <a:solidFill>
            <a:srgbClr val="3C53A3"/>
          </a:solidFill>
          <a:ln w="12700">
            <a:solidFill>
              <a:srgbClr val="3C53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6634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32120" y="4517136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41848" y="457200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包装层限速；延迟卸数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acquire/gate/delay_or_share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4048" y="5340096"/>
            <a:ext cx="365760" cy="365760"/>
          </a:xfrm>
          <a:prstGeom prst="ellipse">
            <a:avLst/>
          </a:prstGeom>
          <a:solidFill>
            <a:srgbClr val="3C53A3"/>
          </a:solidFill>
          <a:ln w="12700">
            <a:solidFill>
              <a:srgbClr val="3C53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53766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63840" y="5230368"/>
            <a:ext cx="3886200" cy="621792"/>
          </a:xfrm>
          <a:prstGeom prst="roundRect">
            <a:avLst>
              <a:gd name="adj" fmla="val 11765"/>
            </a:avLst>
          </a:prstGeom>
          <a:solidFill>
            <a:srgbClr val="EEF2F8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73568" y="5285232"/>
            <a:ext cx="3666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LLM-DataDist 注入；本机 runtime D2H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可选池化 MemFabric · bytes_completed++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旁路检测 · 失效恢复时序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用户态 reconcile 只能自检已挂 wrap；完全静默旁路须独立计数器（TBD）— 此前不宣称「可检出静默旁路」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9050">
            <a:solidFill>
              <a:srgbClr val="C45C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" y="1097280"/>
            <a:ext cx="5394960" cy="36576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1152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用户态能力边界（非静默旁路检测）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6459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用户态 reconcile 范围（窄）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 b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启动符号/钩子自检 + 已挂 wrap 路径的完整性；只能证明「包装层在岗」与「已 wrap 流量对账」，不能单独证明无完全绕过流量。</a:t>
            </a:r>
            <a:endParaRPr lang="en-US" sz="1200" dirty="0"/>
          </a:p>
          <a:p>
            <a:pPr indent="0" marL="0">
              <a:buNone/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wrap 失败 ≠ 旁路</a:t>
            </a:r>
            <a:endParaRPr lang="en-US" sz="1200" dirty="0"/>
          </a:p>
          <a:p>
            <a:pPr indent="0" marL="0">
              <a:buNone/>
            </a:pPr>
            <a:r>
              <a:rPr lang="en-US" sz="1100" b="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wrap 安装/调用失败 → 立即 degrade + 告警 + 阻断或保守限速；不得静默直通。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对账（仅已 wrap 路径）</a:t>
            </a:r>
            <a:endParaRPr lang="en-US" sz="1200" dirty="0"/>
          </a:p>
          <a:p>
            <a:pPr indent="0" marL="0"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register_rate vs wrap 侧 actual_send；backend 指纹须匹配四键 LLM_DD_HIXL|HCCL|BLOCK_RT_D2H|STORE_MEMFABRIC。mismatch → 已登记路径异常。完全旁路对此不可见。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静默旁路 = 独立计数器（TBD）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 b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须 ≥1 路独立源（NIC/QP/PCIe BW，哪怕粗粒度）；未就绪前禁止宣称「可检出静默旁路」；仅能告警 wrap 缺口 + 收紧已知 flow。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585216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9050">
            <a:solidFill>
              <a:srgbClr val="3C53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5852160" cy="365760"/>
          </a:xfrm>
          <a:prstGeom prst="rect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80760" y="11521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时序：触发 → degrade → 告警 → 恢复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384048" cy="384048"/>
          </a:xfrm>
          <a:prstGeom prst="ellipse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26480" y="17373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645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wrap 缺口 / 已 wrap 对账 mismatch / wrap 安装失败（≠静默旁路已检出）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384048" cy="384048"/>
          </a:xfrm>
          <a:prstGeom prst="ellipse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26480" y="25603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468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Degrade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2761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进入保守软件 pacing；未知 flow 低优先；可选阻断新发送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384048" cy="384048"/>
          </a:xfrm>
          <a:prstGeom prst="ellipse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0" y="3383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291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3584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必报：backend∈{LLM_DD_HIXL,HCCL,BLOCK_RT_D2H,STORE_MEMFABRIC}、指纹、Δ；禁止写成「静默旁路已检出」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160520"/>
            <a:ext cx="384048" cy="384048"/>
          </a:xfrm>
          <a:prstGeom prst="ellipse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26480" y="42062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4407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补挂 wrap；核对启动 reconcile；独立计数器就绪前仅收紧已知 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4983480"/>
            <a:ext cx="384048" cy="384048"/>
          </a:xfrm>
          <a:prstGeom prst="ellipse">
            <a:avLst/>
          </a:prstGeom>
          <a:solidFill>
            <a:srgbClr val="2F7D6D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26480" y="50292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4937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75120" y="5230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55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重登记成功 + N 窗对账一致 → 退出 degrade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争用时序 · PD + HCCL + 本机 D2H（池化另计）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默认优先：PD(LLM-DataDist) &gt; HCCL(CCU硬件注) &gt; 本机 runtime D2H；池化 vs 本机分盒；禁 HIXL D2H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 PD · LLM-DataDist(+HIXL Engine)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09728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8BC7BB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P1  HCCL 关键（CCU=硬件注）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109728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C45C26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P2  本机 runtime D2H｜池化另计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169164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196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169164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819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flow 同时登记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69164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8196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+ HCCL_CRIT + LOCAL_D2H（+可选 POOL）写入 Flow 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237744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054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554480" y="237744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25054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观测：阶段叠加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237744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5054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PD_HANDOFF_START 与 HCCL 关键相位同时为真；本机 D2H pending↑（池化另计）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06324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912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54480" y="306324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31912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策略裁决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306324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1912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KV 获主窗口配额；HCCL 获临界门闩；本机 D2H delay↑；池化可 throttle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374904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8770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554480" y="374904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3877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适配器执行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374904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8770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LLM-DataDist acquire；HCCL gate；Block Manager+runtime D2H delay_or_share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" y="443484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5628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554480" y="443484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1640" y="4562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HCCL 临界结束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92040" y="443484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5628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释放 CCU 并发；若 KV backlog 仍高，本机 D2H 继续延迟（禁 HIXL D2H）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11480" y="512064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3C53A3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52486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554480" y="512064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91640" y="5248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 handoff 结束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892040" y="512064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52486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PD_HANDOFF_END → 提高本机 D2H 份额；池化按独立配额；恢复稳态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11</a:t>
            </a:r>
            <a:endParaRPr lang="zh-CN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4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客户面/部署影响自检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铁面判官四门禁；全部 Pass 才可宣称客户面无感 / 可灰度交付</a:t>
            </a:r>
            <a:endParaRPr lang="zh-CN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11430000" cy="713232"/>
          </a:xfrm>
          <a:prstGeom prst="roundRect">
            <a:avLst>
              <a:gd name="adj" fmla="val 11429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>
                <a:solidFill>
                  <a:srgbClr val="2C3E7A"/>
                </a:solidFill>
                <a:latin typeface="微软雅黑"/>
                <a:ea typeface="微软雅黑"/>
                <a:cs typeface="微软雅黑"/>
              </a:rPr>
              <a:t>自检范围：MindIE 业务 API；四入口（LLM-DataDist / HCCL / Block Manager+runtime D2H / AscendStoreConnector·MemCache·MemFabric）；包装灰度/shim off；CP 失败码隔离</a:t>
            </a:r>
          </a:p>
          <a:p>
            <a:pPr indent="0" marL="0">
              <a:buNone/>
            </a:pPr>
            <a:r>
              <a:rPr lang="zh-CN" sz="1000" dirty="0">
                <a:solidFill>
                  <a:srgbClr val="2C3E7A"/>
                </a:solidFill>
                <a:latin typeface="微软雅黑"/>
                <a:ea typeface="微软雅黑"/>
                <a:cs typeface="微软雅黑"/>
              </a:rPr>
              <a:t>判定原则：库入口≠底链；本机禁 HIXL D2H；degrade/告警走运维通道；禁止 CP_* 失败码返回业务客户端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11430000" cy="2468880"/>
        </p:xfrm>
        <a:graphic>
          <a:graphicData uri="http://schemas.openxmlformats.org/drawingml/2006/table">
            <a:tbl>
              <a:tblPr firstRow="1" bandRow="0"/>
              <a:tblGrid>
                <a:gridCol w="2400000"/>
                <a:gridCol w="5600000"/>
                <a:gridCol w="343000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门禁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Pass 标准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否决信号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 MindIE/业务无感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默认无新业务API；登记藏发送包装层（四类库入口均经包装）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对外业务API新增或MindIE契约变更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 不强制改对外API/配置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LLM-DataDist / HCCL / 本机 runtime D2H / StoreConnector·MemCache·MemFabric 与客户配置保持；控制面仅可选开关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强制改库API或客户配置面；或把 HIXL D2H 写成 offload 入口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 包装层可灰度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按节点/进程 LD_PRELOAD或静态链；可一键 shim off 回退（四适配器均可关）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不可回退或全量强制上线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④ degrade≠业务错误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告警走运维通道；timeout-degrade/保守pacing仍可完成请求；禁止CP_*失败码回业务客户端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CP失败码泄漏到业务客户端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526280"/>
            <a:ext cx="11430000" cy="17830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2F7D6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65760" y="4526280"/>
            <a:ext cx="11430000" cy="347472"/>
          </a:xfrm>
          <a:prstGeom prst="rect">
            <a:avLst/>
          </a:prstGeom>
          <a:solidFill>
            <a:srgbClr val="2F7D6D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02920" y="45720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300" dirty="0" b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交付门槛（四门禁须同时 Pass）</a:t>
            </a:r>
            <a:endParaRPr lang="zh-CN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9834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MindIE/业务无感：</a:t>
            </a: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默认无新业务API；登记藏发送包装层</a:t>
            </a:r>
          </a:p>
          <a:p>
            <a:pPr indent="0" marL="0">
              <a:buNone/>
            </a:pPr>
            <a:r>
              <a:rPr lang="zh-CN" sz="10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不强制改对外API/配置：</a:t>
            </a: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四入口（LLM-DataDist / HCCL / Block Manager+runtime D2H / StoreConnector·MemCache·MemFabric）与客户配置保持；控制面可选开关</a:t>
            </a:r>
          </a:p>
          <a:p>
            <a:pPr indent="0" marL="0">
              <a:buNone/>
            </a:pPr>
            <a:r>
              <a:rPr lang="zh-CN" sz="10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包装层可灰度：</a:t>
            </a: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按节点/进程 LD_PRELOAD或静态链；可一键 shim off 回退</a:t>
            </a:r>
          </a:p>
          <a:p>
            <a:pPr indent="0" marL="0">
              <a:buNone/>
            </a:pPr>
            <a:r>
              <a:rPr lang="zh-CN" sz="10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degrade≠业务错误：</a:t>
            </a:r>
            <a:r>
              <a:rPr lang="zh-CN" sz="10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告警走运维；timeout-degrade/保守pacing仍可完成请求；禁CP_*回业务端；本机禁 HIXL D2H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可落地性 · 差异点 · TSE 边界 · TBD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0">
                <a:solidFill>
                  <a:srgbClr val="3C53A3"/>
                </a:solidFill>
                <a:latin typeface="微软雅黑"/>
                <a:ea typeface="微软雅黑"/>
                <a:cs typeface="微软雅黑"/>
              </a:rPr>
              <a:t>软件 pacing 默认可立项；硬件 QoS 为增强；TBD 每项含 owner / 截止 / 软件回退；HIXL wrap 仅 PD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024128"/>
            <a:ext cx="5760720" cy="14173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3C53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3C53A3"/>
                </a:solidFill>
                <a:latin typeface="微软雅黑"/>
                <a:ea typeface="微软雅黑"/>
                <a:cs typeface="微软雅黑"/>
              </a:rPr>
              <a:t>vs 纯 lib 限速 / 仅调度器节流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353312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Ascend 难抄点：</a:t>
            </a:r>
            <a:r>
              <a:rPr sz="1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统一登记跨 LLM-DataDist(+HIXL)·HCCL(+CCU硬件注)·本机 Block Manager+runtime D2H·池化 AscendStoreConnector/MemCache/MemFabric；PD 钩子 TBD；旁路需独立计数；禁 HIXL D2H</a:t>
            </a:r>
            <a:endParaRPr lang="en-US" sz="1100" dirty="0"/>
          </a:p>
          <a:p>
            <a:r>
              <a:rPr sz="1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诚实边界：</a:t>
            </a:r>
            <a:r>
              <a:rPr sz="1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近期用户态包装+软件窗口；reconcile≠静默旁路检测；中长期硬件 QoS（QP/CCU/PCIe）；本机 vs 池化分盒</a:t>
            </a:r>
          </a:p>
        </p:txBody>
      </p:sp>
      <p:sp>
        <p:nvSpPr>
          <p:cNvPr id="13" name="Shape 11"/>
          <p:cNvSpPr/>
          <p:nvPr/>
        </p:nvSpPr>
        <p:spPr>
          <a:xfrm>
            <a:off x="6263640" y="1024128"/>
            <a:ext cx="5577840" cy="1417320"/>
          </a:xfrm>
          <a:prstGeom prst="roundRect">
            <a:avLst>
              <a:gd name="adj" fmla="val 3404"/>
            </a:avLst>
          </a:prstGeom>
          <a:solidFill>
            <a:srgbClr val="FDF0E9"/>
          </a:solidFill>
          <a:ln w="15875">
            <a:solidFill>
              <a:srgbClr val="C45C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10789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C45C26"/>
                </a:solidFill>
                <a:latin typeface="微软雅黑"/>
                <a:ea typeface="微软雅黑"/>
                <a:cs typeface="微软雅黑"/>
              </a:rPr>
              <a:t>与 TSE 边界（OUT OF SCOPE）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389888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本设计止于注入 pacing（登记→观测→配额→适配器限速）。Token SLO→QP/ld·st 由 TSE/上层另定；控制面不承诺 Token 级时延合同。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TBD 登记（含本机 D2H 入口 / 池化契约 / PD 钩子；未闭环禁止过度宣称）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16352"/>
          <a:ext cx="11521440" cy="356616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1280160"/>
                <a:gridCol w="4937760"/>
              </a:tblGrid>
              <a:tr h="396240"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 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Owner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截止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软件回退路径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 QoS 是否对用户态可见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驱动/平台组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T+6w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software_window_pacing（默认）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LLM-DataDist(+HIXL Engine) PD 包装契约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（底链注 HCCS/RoCE/UBoE/URMA；HIXL wrap 仅 PD）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 通信组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（或 HIXL 组）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T+4w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cp_adapter_llm_dd shim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 LD_PRELOAD/静态链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本机 Block Manager+runtime D2H 入口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（无统一 MindIE Offload 类名；禁 HIXL D2H）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 LLM 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Manager 组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T+4w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TBD+责任方；先 poll ACL/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runtime D2H；禁 HIXL D2H 充入口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池化 AscendStoreConnector 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MemCache / MemFabric 包装契约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Motor / vLLM-Ascend 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T+4w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cp_adapter_store_mf；可注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SfaRemoteD2H transfer_backend=memfabric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HCCL+CCU 可观测计数/门闩</a:t>
                      </a: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（CCU=硬件注，非 wrap API）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组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T+6w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cp_hccl_op_* 软件代理 + 并发配额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控制窗 10–50ms 实测校准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控制面 POC 组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T+3w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可配置 window_ms；先取 20ms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独立旁路计数器</a:t>
                      </a: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（NIC/QP/PCIe BW）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驱动/平台组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 控制面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T+8w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未就绪：禁止宣称「可检出静默旁路」；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wrap 自检+已 wrap 对账+degrade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 PD_HANDOFF_*/</a:t>
                      </a: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backlog 钩子交付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T+4w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callback：仅 poll 队列深度；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再不可用 → blind window（无阶段门闩）</a:t>
                      </a:r>
                    </a:p>
                  </a:txBody>
                  <a:tcPr marL="91440" marR="91440" marT="45720" marB="45720" anchor="ctr">
                    <a:lnL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11</a:t>
            </a:r>
            <a:endParaRPr lang="zh-CN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24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组件接口契约总表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100" dirty="0">
                <a:solidFill>
                  <a:srgbClr val="3C5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调用方/被调方/同步异步/失败码写清；库入口≠底链；本机 D2H 与池化分契约；失败不冒成业务错误</a:t>
            </a:r>
            <a:endParaRPr lang="zh-CN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接口契约（1–5）· 调度信号 / 登记 / 阶段钩子 / PD（LLM-DataDist）适配器</a:t>
            </a:r>
            <a:endParaRPr lang="zh-CN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2011680"/>
        </p:xfrm>
        <a:graphic>
          <a:graphicData uri="http://schemas.openxmlformats.org/drawingml/2006/table">
            <a:tbl>
              <a:tblPr firstRow="1" bandRow="0"/>
              <a:tblGrid>
                <a:gridCol w="2100000"/>
                <a:gridCol w="1450000"/>
                <a:gridCol w="1750000"/>
                <a:gridCol w="1550000"/>
                <a:gridCol w="2450000"/>
                <a:gridCol w="2130000"/>
              </a:tblGrid>
              <a:tr h="317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调用方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被调方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同步/异步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失败码·行为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schedule_hint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集群/PD调度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异步信号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可丢弃/忽略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不替换调度器·业务无感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register_flow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MindIE发送包装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控制面Flow表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同步≤5μs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REGISTER_FAIL→degrade+告警+拦发/保守限速·禁静默直通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藏包装层·不改MindIE对外业务API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PD_HANDOFF_*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MindIE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异步callback(TBD)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钩子缺失→poll/blind window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未交付不阻塞现网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backlog_poll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MindIE队列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异步poll 10–50ms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poll失败→blind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只读·不改配置面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cp_adapter_llm_dd.acquire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包装/控制面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LLM-DataDist（+HIXL Engine）包装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 try_acquire+有界队列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TIMEOUT→timeout-degrade(低优先放行+告警)·禁无限阻塞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不改 pull/push_cache|blocks 对外语义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11480" y="32461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sz="1200" dirty="0" b="1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接口契约（6–10）· HCCL / 本机 runtime D2H / 池化 MemFabric / 观测 / 旁路</a:t>
            </a:r>
            <a:endParaRPr lang="zh-CN" sz="12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20440"/>
          <a:ext cx="11430000" cy="2788920"/>
        </p:xfrm>
        <a:graphic>
          <a:graphicData uri="http://schemas.openxmlformats.org/drawingml/2006/table">
            <a:tbl>
              <a:tblPr firstRow="1" bandRow="0"/>
              <a:tblGrid>
                <a:gridCol w="2100000"/>
                <a:gridCol w="1450000"/>
                <a:gridCol w="1750000"/>
                <a:gridCol w="1550000"/>
                <a:gridCol w="2450000"/>
                <a:gridCol w="2130000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调用方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被调方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同步/异步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失败码·行为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 b="1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cp_adapter_hccl.gate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包装/控制面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HCCL包装（CCU硬件注）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同步gate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GATE_DENY→排队/延后+告警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不改HCCL API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cp_adapter_block_rt.delay_or_share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包装/控制面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Block Manager+runtime D2H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DELAY_FAIL→保守延迟+告警·禁HIXL D2H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不冒成业务错误；入口TBD+责任方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cp_adapter_store_mf.acquire_or_throttle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包装/控制面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AscendStoreConnector/MemCache/MemFabric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 try+有界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THROTTLE_TIMEOUT→timeout-degrade+告警·与本机D2H分码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不改 put/get / MemFabric 对外语义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counters/release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包装层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控制面观测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异步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计数缺失→精度风险告警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非业务路径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bypass_degrade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控制面内部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控制面状态机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DEGRADE_ENTER必告警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sz="100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CP失败码不抛给业务客户端</a:t>
                      </a:r>
                    </a:p>
                  </a:txBody>
                  <a:tcPr marL="45720" marR="45720" marT="22860" marB="2286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9264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6492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 /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355080"/>
            <a:ext cx="164592" cy="54864"/>
          </a:xfrm>
          <a:prstGeom prst="rect">
            <a:avLst/>
          </a:prstGeom>
          <a:solidFill>
            <a:srgbClr val="3C53A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6446520"/>
            <a:ext cx="164592" cy="54864"/>
          </a:xfrm>
          <a:prstGeom prst="rect">
            <a:avLst/>
          </a:prstGeom>
          <a:solidFill>
            <a:srgbClr val="98B8E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6537960"/>
            <a:ext cx="164592" cy="54864"/>
          </a:xfrm>
          <a:prstGeom prst="rect">
            <a:avLst/>
          </a:prstGeom>
          <a:solidFill>
            <a:srgbClr val="8BC7B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POC / Benchmark · 可复现争用验收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3C53A3"/>
                </a:solidFill>
                <a:latin typeface="微软雅黑"/>
                <a:ea typeface="微软雅黑"/>
                <a:cs typeface="微软雅黑"/>
              </a:rPr>
              <a:t>场景：950PR→950DT「PD(LLM-DataDist) + 本机D2H/池化 ± HCCL」；Before/After 假设·可证伪；禁 HIXL D2H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11430000" cy="640080"/>
          </a:xfrm>
          <a:prstGeom prst="roundRect">
            <a:avLst>
              <a:gd name="adj" fmla="val 11429"/>
            </a:avLst>
          </a:prstGeom>
          <a:solidFill>
            <a:srgbClr val="E8EEF8"/>
          </a:solidFill>
          <a:ln w="15875">
            <a:solidFill>
              <a:srgbClr val="3C53A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2C3E7A"/>
                </a:solidFill>
                <a:latin typeface="微软雅黑"/>
                <a:ea typeface="微软雅黑"/>
                <a:cs typeface="微软雅黑"/>
              </a:rPr>
              <a:t>复现：固定模型/并行度 · 同步 PD handoff(LLM-DataDist) + 本机 runtime D2H 与/或 池化 MemFabric · 可选 HCCL 临界 · ≥20 次取 P99</a:t>
            </a:r>
            <a:endParaRPr lang="en-US" sz="1200" dirty="0"/>
          </a:p>
          <a:p>
            <a:r>
              <a:rPr sz="1100" b="0">
                <a:solidFill>
                  <a:srgbClr val="2C3E7A"/>
                </a:solidFill>
                <a:latin typeface="微软雅黑"/>
                <a:ea typeface="微软雅黑"/>
                <a:cs typeface="微软雅黑"/>
              </a:rPr>
              <a:t>KV acquire 语义（假设）：try_acquire + 有界队列；超时 → timeout-degrade；禁止无限阻塞；本机 vs 池化分计吞吐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11430000" cy="260604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3657600"/>
                <a:gridCol w="2286000"/>
              </a:tblGrid>
              <a:tr h="434340"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Before（争用基线）</a:t>
                      </a:r>
                    </a:p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无控制面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After（软件 pacing）</a:t>
                      </a:r>
                    </a:p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假设·可证伪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3A3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P99 / TTFT·TPOT 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（PD=LLM-DataDist）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纯基线 B0；争用基线 Bc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= B0 × (1+ infl)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infl=(Bc-B0)/B0（须测实·禁预设）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须同时：After ≤ B0+2%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且相对 Bc 降幅 ≥50%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（假设·未达即 FAIL）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主验收：削减 PD handoff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争用引起的 KV P99 膨胀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本机 D2H 吞吐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Manager+runtime D2H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handoff 窗内抢占 KV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吞吐偏高（假设）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窗内吞吐 ≤ Before×60%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窗后 ≥ Before×90%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（假设·可 FAIL）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本机延迟卸数证据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禁 HIXL D2H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池化/MemFabric 吞吐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StoreConnector·MemCache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池化路径与 PD 争带宽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吞吐偏高（假设）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窗内 ≤ Before×60%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窗后 ≥ Before×90%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分计·可 FAIL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与本机 D2H 分计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device_urma 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控制面自身 P99 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裁决附加 P99 ≤ +20μs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且不吃掉 KV 收益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（假设·可 FAIL）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开销不吃掉收益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临界相位抖动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KV/本机·池化互扰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临界完成时间发散（假设）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 后临界 P99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≤ 无扰基线 +10%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（假设·可 FAIL）</a:t>
                      </a: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indent="0" marL="0">
                        <a:buNone/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四路径场景可选开关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4617720"/>
            <a:ext cx="1143000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2F7D6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65760" y="4617720"/>
            <a:ext cx="11430000" cy="347472"/>
          </a:xfrm>
          <a:prstGeom prst="rect">
            <a:avLst/>
          </a:prstGeom>
          <a:solidFill>
            <a:srgbClr val="2F7D6D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接受标准（必须同时满足）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① 告警可触发：</a:t>
            </a:r>
            <a:r>
              <a:rPr sz="1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人为 wrap 缺口或已 wrap 对账 mismatch 时，degrade+告警必现（含四 backend 指纹）；不把此当成「静默旁路已检出」</a:t>
            </a:r>
            <a:endParaRPr lang="en-US" sz="1200" dirty="0"/>
          </a:p>
          <a:p>
            <a:r>
              <a:rPr sz="1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② 配额有证据：</a:t>
            </a:r>
            <a:r>
              <a:rPr sz="1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window grant、delay_ms、outstanding 可见；本机 D2H 与池化/MemFabric 分计，与 After 曲线对应</a:t>
            </a:r>
          </a:p>
          <a:p>
            <a:r>
              <a:rPr sz="1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③ 场景可复跑：</a:t>
            </a:r>
            <a:r>
              <a:rPr sz="1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同一脚本一键重跑；PD=LLM-DataDist；Before/After 对照表可再生；假设未达即 FAIL；禁 HIXL D2H 卸数口径</a:t>
            </a:r>
          </a:p>
          <a:p>
            <a:r>
              <a:rPr sz="1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④ acquire 不成尾源：</a:t>
            </a:r>
            <a:r>
              <a:rPr sz="1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KV 路径 try_acquire+有界队列；超时 timeout-degrade，禁止阻塞式 acquire 拖高 P99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Ascend 950 统一控制面设计提案</dc:title>
  <dc:subject>控制面架构与可落地性评审 v2</dc:subject>
  <dc:creator>will wu</dc:creator>
  <cp:lastModifiedBy>will wu</cp:lastModifiedBy>
  <cp:revision>1</cp:revision>
  <dcterms:created xsi:type="dcterms:W3CDTF">2026-10-11T12:37:50Z</dcterms:created>
  <dcterms:modified xsi:type="dcterms:W3CDTF">2026-10-11T12:37:50Z</dcterms:modified>
</cp:coreProperties>
</file>