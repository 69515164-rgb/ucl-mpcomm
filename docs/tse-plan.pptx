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66" r:id="rId12"/>
    <p:sldId id="270" r:id="rId16"/>
  </p:sldIdLst>
  <p:sldSz cx="24384030" cy="13716000"/>
  <p:notesSz cx="13716000" cy="2438403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slide" Target="slides/slide11.xml"/><Relationship Id="rId16" Type="http://schemas.openxmlformats.org/officeDocument/2006/relationships/slide" Target="slides/slide15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1580" y="1474927"/>
            <a:ext cx="21961145" cy="3621024"/>
          </a:xfrm>
          <a:prstGeom prst="rect">
            <a:avLst/>
          </a:prstGeom>
          <a:solidFill>
            <a:srgbClr val="415977"/>
          </a:solidFill>
          <a:ln/>
        </p:spPr>
      </p:sp>
      <p:sp>
        <p:nvSpPr>
          <p:cNvPr id="3" name="Shape 1"/>
          <p:cNvSpPr/>
          <p:nvPr/>
        </p:nvSpPr>
        <p:spPr>
          <a:xfrm>
            <a:off x="1211580" y="5412334"/>
            <a:ext cx="21961145" cy="684611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" name="Text 2"/>
          <p:cNvSpPr/>
          <p:nvPr/>
        </p:nvSpPr>
        <p:spPr>
          <a:xfrm>
            <a:off x="1211580" y="396850"/>
            <a:ext cx="10959998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整体架构与目标</a:t>
            </a:r>
            <a:endParaRPr/>
          </a:p>
        </p:txBody>
      </p:sp>
      <p:sp>
        <p:nvSpPr>
          <p:cNvPr id="5" name="Shape 3"/>
          <p:cNvSpPr/>
          <p:nvPr/>
        </p:nvSpPr>
        <p:spPr>
          <a:xfrm>
            <a:off x="1753819" y="1972361"/>
            <a:ext cx="3750869" cy="1162202"/>
          </a:xfrm>
          <a:prstGeom prst="rect">
            <a:avLst/>
          </a:prstGeom>
          <a:solidFill>
            <a:srgbClr val="304359"/>
          </a:solidFill>
          <a:ln/>
        </p:spPr>
      </p:sp>
      <p:sp>
        <p:nvSpPr>
          <p:cNvPr id="6" name="Shape 4"/>
          <p:cNvSpPr/>
          <p:nvPr/>
        </p:nvSpPr>
        <p:spPr>
          <a:xfrm>
            <a:off x="1753819" y="3430829"/>
            <a:ext cx="3750869" cy="1162202"/>
          </a:xfrm>
          <a:prstGeom prst="rect">
            <a:avLst/>
          </a:prstGeom>
          <a:solidFill>
            <a:srgbClr val="F1CF9D"/>
          </a:solidFill>
          <a:ln/>
        </p:spPr>
      </p:sp>
      <p:sp>
        <p:nvSpPr>
          <p:cNvPr id="7" name="Text 5"/>
          <p:cNvSpPr/>
          <p:nvPr/>
        </p:nvSpPr>
        <p:spPr>
          <a:xfrm>
            <a:off x="2107692" y="2322576"/>
            <a:ext cx="3042209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CF9D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调度</a:t>
            </a:r>
            <a:endParaRPr/>
          </a:p>
        </p:txBody>
      </p:sp>
      <p:sp>
        <p:nvSpPr>
          <p:cNvPr id="8" name="Text 6"/>
          <p:cNvSpPr/>
          <p:nvPr/>
        </p:nvSpPr>
        <p:spPr>
          <a:xfrm>
            <a:off x="2107692" y="3746297"/>
            <a:ext cx="3042209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304359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TSE</a:t>
            </a:r>
            <a:endParaRPr/>
          </a:p>
        </p:txBody>
      </p:sp>
      <p:sp>
        <p:nvSpPr>
          <p:cNvPr id="9" name="Text 7"/>
          <p:cNvSpPr/>
          <p:nvPr/>
        </p:nvSpPr>
        <p:spPr>
          <a:xfrm>
            <a:off x="1843430" y="6393485"/>
            <a:ext cx="3571646" cy="4883810"/>
          </a:xfrm>
          <a:prstGeom prst="rect">
            <a:avLst/>
          </a:prstGeom>
          <a:noFill/>
          <a:ln/>
        </p:spPr>
        <p:txBody>
          <a:bodyPr wrap="square" lIns="0" tIns="45720" rIns="0" bIns="45720" rtlCol="0" anchor="t"/>
          <a:lstStyle/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TSE 坐落调度层</a:t>
            </a:r>
            <a:endParaRPr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上收下层观测；准入时同步下发</a:t>
            </a:r>
            <a:endParaRPr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通信合同至 QP / ld·st</a:t>
            </a:r>
            <a:endParaRPr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vs 阿里 TPN：公开材料缺硬</a:t>
            </a:r>
            <a:endParaRPr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Token SLO 兜底证据</a:t>
            </a:r>
            <a:endParaRPr/>
          </a:p>
        </p:txBody>
      </p:sp>
      <p:sp>
        <p:nvSpPr>
          <p:cNvPr id="10" name="Shape 8"/>
          <p:cNvSpPr/>
          <p:nvPr/>
        </p:nvSpPr>
        <p:spPr>
          <a:xfrm>
            <a:off x="6051499" y="1972361"/>
            <a:ext cx="3750869" cy="1162202"/>
          </a:xfrm>
          <a:prstGeom prst="rect">
            <a:avLst/>
          </a:prstGeom>
          <a:solidFill>
            <a:srgbClr val="304359"/>
          </a:solidFill>
          <a:ln/>
        </p:spPr>
      </p:sp>
      <p:sp>
        <p:nvSpPr>
          <p:cNvPr id="11" name="Shape 9"/>
          <p:cNvSpPr/>
          <p:nvPr/>
        </p:nvSpPr>
        <p:spPr>
          <a:xfrm>
            <a:off x="6051499" y="3430829"/>
            <a:ext cx="3750869" cy="1162202"/>
          </a:xfrm>
          <a:prstGeom prst="rect">
            <a:avLst/>
          </a:prstGeom>
          <a:solidFill>
            <a:srgbClr val="F1CF9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5372" y="2322576"/>
            <a:ext cx="3042209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CF9D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推理框架</a:t>
            </a:r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5372" y="3746297"/>
            <a:ext cx="3042209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304359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MindIE</a:t>
            </a:r>
            <a:endParaRPr/>
          </a:p>
        </p:txBody>
      </p:sp>
      <p:sp>
        <p:nvSpPr>
          <p:cNvPr id="14" name="Text 12"/>
          <p:cNvSpPr/>
          <p:nvPr/>
        </p:nvSpPr>
        <p:spPr>
          <a:xfrm>
            <a:off x="6143854" y="6393485"/>
            <a:ext cx="3571646" cy="4883810"/>
          </a:xfrm>
          <a:prstGeom prst="rect">
            <a:avLst/>
          </a:prstGeom>
          <a:noFill/>
          <a:ln/>
        </p:spPr>
        <p:txBody>
          <a:bodyPr wrap="square" lIns="0" tIns="45720" rIns="0" bIns="45720" rtlCol="0" anchor="t"/>
          <a:lstStyle/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04359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MindIE / vLLM-Ascend</a:t>
            </a:r>
            <a:endParaRPr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推理占用与 SLO 观测上送调度</a:t>
            </a:r>
            <a:endParaRPr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支撑包络准入与动态 BS</a:t>
            </a:r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339121" y="1972361"/>
            <a:ext cx="3750869" cy="1162202"/>
          </a:xfrm>
          <a:prstGeom prst="rect">
            <a:avLst/>
          </a:prstGeom>
          <a:solidFill>
            <a:srgbClr val="30435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39121" y="3430829"/>
            <a:ext cx="3750869" cy="1162202"/>
          </a:xfrm>
          <a:prstGeom prst="rect">
            <a:avLst/>
          </a:prstGeom>
          <a:solidFill>
            <a:srgbClr val="F1CF9D"/>
          </a:solidFill>
          <a:ln/>
        </p:spPr>
      </p:sp>
      <p:sp>
        <p:nvSpPr>
          <p:cNvPr id="17" name="Text 15"/>
          <p:cNvSpPr/>
          <p:nvPr/>
        </p:nvSpPr>
        <p:spPr>
          <a:xfrm>
            <a:off x="10692994" y="2322576"/>
            <a:ext cx="3042209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CF9D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通信库</a:t>
            </a:r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692994" y="3746297"/>
            <a:ext cx="3042209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304359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HCCL</a:t>
            </a:r>
            <a:endParaRPr/>
          </a:p>
        </p:txBody>
      </p:sp>
      <p:sp>
        <p:nvSpPr>
          <p:cNvPr id="19" name="Text 17"/>
          <p:cNvSpPr/>
          <p:nvPr/>
        </p:nvSpPr>
        <p:spPr>
          <a:xfrm>
            <a:off x="10412273" y="6393485"/>
            <a:ext cx="3571646" cy="4883810"/>
          </a:xfrm>
          <a:prstGeom prst="rect">
            <a:avLst/>
          </a:prstGeom>
          <a:noFill/>
          <a:ln/>
        </p:spPr>
        <p:txBody>
          <a:bodyPr wrap="square" lIns="0" tIns="45720" rIns="0" bIns="45720" rtlCol="0" anchor="t"/>
          <a:lstStyle/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HCCL 通信库</a:t>
            </a:r>
            <a:endParaRPr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承接吞吐 / CCT 合同</a:t>
            </a:r>
            <a:endParaRPr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将 Token SLO 转为可执行</a:t>
            </a:r>
            <a:endParaRPr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通信约束</a:t>
            </a:r>
            <a:endParaRPr/>
          </a:p>
        </p:txBody>
      </p:sp>
      <p:sp>
        <p:nvSpPr>
          <p:cNvPr id="20" name="Shape 18"/>
          <p:cNvSpPr/>
          <p:nvPr/>
        </p:nvSpPr>
        <p:spPr>
          <a:xfrm>
            <a:off x="14614855" y="1972361"/>
            <a:ext cx="3750869" cy="1162202"/>
          </a:xfrm>
          <a:prstGeom prst="rect">
            <a:avLst/>
          </a:prstGeom>
          <a:solidFill>
            <a:srgbClr val="304359"/>
          </a:solidFill>
          <a:ln/>
        </p:spPr>
      </p:sp>
      <p:sp>
        <p:nvSpPr>
          <p:cNvPr id="21" name="Shape 19"/>
          <p:cNvSpPr/>
          <p:nvPr/>
        </p:nvSpPr>
        <p:spPr>
          <a:xfrm>
            <a:off x="14614855" y="3430829"/>
            <a:ext cx="3750869" cy="1162202"/>
          </a:xfrm>
          <a:prstGeom prst="rect">
            <a:avLst/>
          </a:prstGeom>
          <a:solidFill>
            <a:srgbClr val="F1CF9D"/>
          </a:solidFill>
          <a:ln/>
        </p:spPr>
      </p:sp>
      <p:sp>
        <p:nvSpPr>
          <p:cNvPr id="22" name="Text 20"/>
          <p:cNvSpPr/>
          <p:nvPr/>
        </p:nvSpPr>
        <p:spPr>
          <a:xfrm>
            <a:off x="14968728" y="2322576"/>
            <a:ext cx="3042209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CF9D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物理网络</a:t>
            </a:r>
            <a:endParaRPr/>
          </a:p>
        </p:txBody>
      </p:sp>
      <p:sp>
        <p:nvSpPr>
          <p:cNvPr id="23" name="Text 21"/>
          <p:cNvSpPr/>
          <p:nvPr/>
        </p:nvSpPr>
        <p:spPr>
          <a:xfrm>
            <a:off x="14968728" y="3746297"/>
            <a:ext cx="3042209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304359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RoCE</a:t>
            </a:r>
            <a:endParaRPr/>
          </a:p>
        </p:txBody>
      </p:sp>
      <p:sp>
        <p:nvSpPr>
          <p:cNvPr id="24" name="Text 22"/>
          <p:cNvSpPr/>
          <p:nvPr/>
        </p:nvSpPr>
        <p:spPr>
          <a:xfrm>
            <a:off x="14734642" y="6393485"/>
            <a:ext cx="3571646" cy="4883810"/>
          </a:xfrm>
          <a:prstGeom prst="rect">
            <a:avLst/>
          </a:prstGeom>
          <a:noFill/>
          <a:ln/>
        </p:spPr>
        <p:txBody>
          <a:bodyPr wrap="square" lIns="0" tIns="45720" rIns="0" bIns="45720" rtlCol="0" anchor="t"/>
          <a:lstStyle/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RoCE / 机内互联</a:t>
            </a:r>
            <a:endParaRPr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网络路径执行可调度合同</a:t>
            </a:r>
            <a:endParaRPr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算网协同：网络为 Token</a:t>
            </a:r>
            <a:endParaRPr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SLO 硬兜底</a:t>
            </a:r>
            <a:endParaRPr/>
          </a:p>
        </p:txBody>
      </p:sp>
      <p:sp>
        <p:nvSpPr>
          <p:cNvPr id="25" name="Shape 23"/>
          <p:cNvSpPr/>
          <p:nvPr/>
        </p:nvSpPr>
        <p:spPr>
          <a:xfrm>
            <a:off x="18902477" y="1972361"/>
            <a:ext cx="3750869" cy="1162202"/>
          </a:xfrm>
          <a:prstGeom prst="rect">
            <a:avLst/>
          </a:prstGeom>
          <a:solidFill>
            <a:srgbClr val="304359"/>
          </a:solidFill>
          <a:ln/>
        </p:spPr>
      </p:sp>
      <p:sp>
        <p:nvSpPr>
          <p:cNvPr id="26" name="Shape 24"/>
          <p:cNvSpPr/>
          <p:nvPr/>
        </p:nvSpPr>
        <p:spPr>
          <a:xfrm>
            <a:off x="18902477" y="3430829"/>
            <a:ext cx="3750869" cy="1162202"/>
          </a:xfrm>
          <a:prstGeom prst="rect">
            <a:avLst/>
          </a:prstGeom>
          <a:solidFill>
            <a:srgbClr val="F1CF9D"/>
          </a:solidFill>
          <a:ln/>
        </p:spPr>
      </p:sp>
      <p:sp>
        <p:nvSpPr>
          <p:cNvPr id="27" name="Text 25"/>
          <p:cNvSpPr/>
          <p:nvPr/>
        </p:nvSpPr>
        <p:spPr>
          <a:xfrm>
            <a:off x="19256350" y="2322576"/>
            <a:ext cx="3042209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CF9D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目标</a:t>
            </a:r>
            <a:endParaRPr/>
          </a:p>
        </p:txBody>
      </p:sp>
      <p:sp>
        <p:nvSpPr>
          <p:cNvPr id="28" name="Text 26"/>
          <p:cNvSpPr/>
          <p:nvPr/>
        </p:nvSpPr>
        <p:spPr>
          <a:xfrm>
            <a:off x="19256350" y="3746297"/>
            <a:ext cx="3042209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硬兜底</a:t>
            </a:r>
            <a:endParaRPr/>
          </a:p>
        </p:txBody>
      </p:sp>
      <p:sp>
        <p:nvSpPr>
          <p:cNvPr id="29" name="Text 27"/>
          <p:cNvSpPr/>
          <p:nvPr/>
        </p:nvSpPr>
        <p:spPr>
          <a:xfrm>
            <a:off x="18985687" y="6393485"/>
            <a:ext cx="3571646" cy="4883810"/>
          </a:xfrm>
          <a:prstGeom prst="rect">
            <a:avLst/>
          </a:prstGeom>
          <a:noFill/>
          <a:ln/>
        </p:spPr>
        <p:txBody>
          <a:bodyPr wrap="square" lIns="0" tIns="45720" rIns="0" bIns="45720" rtlCol="0" anchor="t"/>
          <a:lstStyle/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硬兜底 = 保守包络准入</a:t>
            </a:r>
            <a:endParaRPr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+ 同步下发通信合同</a:t>
            </a:r>
            <a:endParaRPr/>
          </a:p>
          <a:p>
            <a:pPr algn="ctr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BS 仅在合同余量内抬 TPS</a:t>
            </a:r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772607" y="6014923"/>
            <a:ext cx="0" cy="5640934"/>
          </a:xfrm>
          <a:prstGeom prst="line">
            <a:avLst/>
          </a:prstGeom>
          <a:noFill/>
          <a:ln w="25400">
            <a:solidFill>
              <a:srgbClr val="E9EC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81260" y="6014923"/>
            <a:ext cx="0" cy="5640934"/>
          </a:xfrm>
          <a:prstGeom prst="line">
            <a:avLst/>
          </a:prstGeom>
          <a:noFill/>
          <a:ln w="25400">
            <a:solidFill>
              <a:srgbClr val="E9EC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388084" y="6014923"/>
            <a:ext cx="0" cy="5640934"/>
          </a:xfrm>
          <a:prstGeom prst="line">
            <a:avLst/>
          </a:prstGeom>
          <a:noFill/>
          <a:ln w="25400">
            <a:solidFill>
              <a:srgbClr val="E9EC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695822" y="6014923"/>
            <a:ext cx="0" cy="5640934"/>
          </a:xfrm>
          <a:prstGeom prst="line">
            <a:avLst/>
          </a:prstGeom>
          <a:noFill/>
          <a:ln w="25400">
            <a:solidFill>
              <a:srgbClr val="E9EC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30952" y="3569818"/>
            <a:ext cx="883310" cy="883310"/>
          </a:xfrm>
          <a:prstGeom prst="ellipse">
            <a:avLst/>
          </a:prstGeom>
          <a:solidFill>
            <a:srgbClr val="304359"/>
          </a:solidFill>
          <a:ln/>
        </p:spPr>
      </p:sp>
      <p:sp>
        <p:nvSpPr>
          <p:cNvPr id="35" name="Shape 33"/>
          <p:cNvSpPr/>
          <p:nvPr/>
        </p:nvSpPr>
        <p:spPr>
          <a:xfrm>
            <a:off x="5632704" y="3859682"/>
            <a:ext cx="303581" cy="303581"/>
          </a:xfrm>
          <a:prstGeom prst="chevron">
            <a:avLst/>
          </a:prstGeom>
          <a:solidFill>
            <a:srgbClr val="F1CF9D"/>
          </a:solidFill>
          <a:ln/>
        </p:spPr>
      </p:sp>
      <p:sp>
        <p:nvSpPr>
          <p:cNvPr id="36" name="Shape 34"/>
          <p:cNvSpPr/>
          <p:nvPr/>
        </p:nvSpPr>
        <p:spPr>
          <a:xfrm>
            <a:off x="9642348" y="3569818"/>
            <a:ext cx="883310" cy="883310"/>
          </a:xfrm>
          <a:prstGeom prst="ellipse">
            <a:avLst/>
          </a:prstGeom>
          <a:solidFill>
            <a:srgbClr val="304359"/>
          </a:solidFill>
          <a:ln/>
        </p:spPr>
      </p:sp>
      <p:sp>
        <p:nvSpPr>
          <p:cNvPr id="37" name="Shape 35"/>
          <p:cNvSpPr/>
          <p:nvPr/>
        </p:nvSpPr>
        <p:spPr>
          <a:xfrm>
            <a:off x="9944100" y="3859682"/>
            <a:ext cx="303581" cy="303581"/>
          </a:xfrm>
          <a:prstGeom prst="chevron">
            <a:avLst/>
          </a:prstGeom>
          <a:solidFill>
            <a:srgbClr val="F1CF9D"/>
          </a:solidFill>
          <a:ln/>
        </p:spPr>
      </p:sp>
      <p:sp>
        <p:nvSpPr>
          <p:cNvPr id="38" name="Shape 36"/>
          <p:cNvSpPr/>
          <p:nvPr/>
        </p:nvSpPr>
        <p:spPr>
          <a:xfrm>
            <a:off x="13907110" y="3569818"/>
            <a:ext cx="883310" cy="883310"/>
          </a:xfrm>
          <a:prstGeom prst="ellipse">
            <a:avLst/>
          </a:prstGeom>
          <a:solidFill>
            <a:srgbClr val="304359"/>
          </a:solidFill>
          <a:ln/>
        </p:spPr>
      </p:sp>
      <p:sp>
        <p:nvSpPr>
          <p:cNvPr id="39" name="Shape 37"/>
          <p:cNvSpPr/>
          <p:nvPr/>
        </p:nvSpPr>
        <p:spPr>
          <a:xfrm>
            <a:off x="14208862" y="3859682"/>
            <a:ext cx="303581" cy="303581"/>
          </a:xfrm>
          <a:prstGeom prst="chevron">
            <a:avLst/>
          </a:prstGeom>
          <a:solidFill>
            <a:srgbClr val="F1CF9D"/>
          </a:solidFill>
          <a:ln/>
        </p:spPr>
      </p:sp>
      <p:sp>
        <p:nvSpPr>
          <p:cNvPr id="40" name="Shape 38"/>
          <p:cNvSpPr/>
          <p:nvPr/>
        </p:nvSpPr>
        <p:spPr>
          <a:xfrm>
            <a:off x="18199303" y="3569818"/>
            <a:ext cx="883310" cy="883310"/>
          </a:xfrm>
          <a:prstGeom prst="ellipse">
            <a:avLst/>
          </a:prstGeom>
          <a:solidFill>
            <a:srgbClr val="304359"/>
          </a:solidFill>
          <a:ln/>
        </p:spPr>
      </p:sp>
      <p:sp>
        <p:nvSpPr>
          <p:cNvPr id="41" name="Shape 39"/>
          <p:cNvSpPr/>
          <p:nvPr/>
        </p:nvSpPr>
        <p:spPr>
          <a:xfrm>
            <a:off x="18501055" y="3859682"/>
            <a:ext cx="303581" cy="303581"/>
          </a:xfrm>
          <a:prstGeom prst="chevron">
            <a:avLst/>
          </a:prstGeom>
          <a:solidFill>
            <a:srgbClr val="F1CF9D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1580" y="396850"/>
            <a:ext cx="10959998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关键技术与收益</a:t>
            </a:r>
            <a:endParaRPr/>
          </a:p>
        </p:txBody>
      </p:sp>
      <p:sp>
        <p:nvSpPr>
          <p:cNvPr id="3" name="Shape 1"/>
          <p:cNvSpPr/>
          <p:nvPr/>
        </p:nvSpPr>
        <p:spPr>
          <a:xfrm>
            <a:off x="1214323" y="1474927"/>
            <a:ext cx="10774375" cy="343814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" name="Shape 2"/>
          <p:cNvSpPr/>
          <p:nvPr/>
        </p:nvSpPr>
        <p:spPr>
          <a:xfrm>
            <a:off x="1219810" y="1474927"/>
            <a:ext cx="1961388" cy="3438144"/>
          </a:xfrm>
          <a:prstGeom prst="rect">
            <a:avLst/>
          </a:prstGeom>
          <a:solidFill>
            <a:srgbClr val="415977"/>
          </a:solidFill>
          <a:ln/>
        </p:spPr>
      </p:sp>
      <p:sp>
        <p:nvSpPr>
          <p:cNvPr id="5" name="Shape 3"/>
          <p:cNvSpPr/>
          <p:nvPr/>
        </p:nvSpPr>
        <p:spPr>
          <a:xfrm>
            <a:off x="1252728" y="1474927"/>
            <a:ext cx="0" cy="3438144"/>
          </a:xfrm>
          <a:prstGeom prst="line">
            <a:avLst/>
          </a:prstGeom>
          <a:noFill/>
          <a:ln w="127000">
            <a:solidFill>
              <a:srgbClr val="F1CF9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32894" y="2919679"/>
            <a:ext cx="335219" cy="558698"/>
          </a:xfrm>
          <a:prstGeom prst="lightningBolt">
            <a:avLst/>
          </a:prstGeom>
          <a:ln w="19050">
            <a:solidFill>
              <a:srgbClr val="F1CF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55187" y="1940357"/>
            <a:ext cx="8048549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1  新请求 SLO 准入</a:t>
            </a:r>
            <a:endParaRPr/>
          </a:p>
        </p:txBody>
      </p:sp>
      <p:sp>
        <p:nvSpPr>
          <p:cNvPr id="8" name="Text 6"/>
          <p:cNvSpPr/>
          <p:nvPr/>
        </p:nvSpPr>
        <p:spPr>
          <a:xfrm>
            <a:off x="3555187" y="2632558"/>
            <a:ext cx="8048549" cy="201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综合在途与排队占用评估新请求 Token SLO；不满足则排队阻塞，避免击穿硬兜底。</a:t>
            </a:r>
            <a:endParaRPr/>
          </a:p>
        </p:txBody>
      </p:sp>
      <p:sp>
        <p:nvSpPr>
          <p:cNvPr id="9" name="Shape 7"/>
          <p:cNvSpPr/>
          <p:nvPr/>
        </p:nvSpPr>
        <p:spPr>
          <a:xfrm>
            <a:off x="12395606" y="1474927"/>
            <a:ext cx="10774375" cy="343814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21203107" y="1474927"/>
            <a:ext cx="1961388" cy="3438144"/>
          </a:xfrm>
          <a:prstGeom prst="rect">
            <a:avLst/>
          </a:prstGeom>
          <a:solidFill>
            <a:srgbClr val="415977"/>
          </a:solidFill>
          <a:ln/>
        </p:spPr>
      </p:sp>
      <p:sp>
        <p:nvSpPr>
          <p:cNvPr id="11" name="Shape 9"/>
          <p:cNvSpPr/>
          <p:nvPr/>
        </p:nvSpPr>
        <p:spPr>
          <a:xfrm>
            <a:off x="23106888" y="1474927"/>
            <a:ext cx="0" cy="3438144"/>
          </a:xfrm>
          <a:prstGeom prst="line">
            <a:avLst/>
          </a:prstGeom>
          <a:noFill/>
          <a:ln w="127000">
            <a:solidFill>
              <a:srgbClr val="F1CF9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9148" y="2953201"/>
            <a:ext cx="167610" cy="167610"/>
          </a:xfrm>
          <a:prstGeom prst="ellipse">
            <a:avLst/>
          </a:prstGeom>
          <a:solidFill>
            <a:srgbClr val="F1CF9D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17323" y="2986723"/>
            <a:ext cx="145262" cy="145262"/>
          </a:xfrm>
          <a:prstGeom prst="ellipse">
            <a:avLst/>
          </a:prstGeom>
          <a:solidFill>
            <a:srgbClr val="F1CF9D"/>
          </a:solidFill>
          <a:ln/>
        </p:spPr>
      </p:sp>
      <p:sp>
        <p:nvSpPr>
          <p:cNvPr id="14" name="Shape 12"/>
          <p:cNvSpPr/>
          <p:nvPr/>
        </p:nvSpPr>
        <p:spPr>
          <a:xfrm>
            <a:off x="21870930" y="3076115"/>
            <a:ext cx="346393" cy="402263"/>
          </a:xfrm>
          <a:prstGeom prst="blockArc">
            <a:avLst/>
          </a:prstGeom>
          <a:solidFill>
            <a:srgbClr val="F1CF9D"/>
          </a:solidFill>
          <a:ln/>
        </p:spPr>
      </p:sp>
      <p:sp>
        <p:nvSpPr>
          <p:cNvPr id="15" name="Shape 13"/>
          <p:cNvSpPr/>
          <p:nvPr/>
        </p:nvSpPr>
        <p:spPr>
          <a:xfrm>
            <a:off x="22139105" y="3109637"/>
            <a:ext cx="324045" cy="368741"/>
          </a:xfrm>
          <a:prstGeom prst="blockArc">
            <a:avLst/>
          </a:prstGeom>
          <a:solidFill>
            <a:srgbClr val="F1CF9D"/>
          </a:solidFill>
          <a:ln/>
        </p:spPr>
      </p:sp>
      <p:sp>
        <p:nvSpPr>
          <p:cNvPr id="16" name="Text 14"/>
          <p:cNvSpPr/>
          <p:nvPr/>
        </p:nvSpPr>
        <p:spPr>
          <a:xfrm>
            <a:off x="12779654" y="1940357"/>
            <a:ext cx="8048549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2  SLO 内动态 BS</a:t>
            </a:r>
            <a:endParaRPr/>
          </a:p>
        </p:txBody>
      </p:sp>
      <p:sp>
        <p:nvSpPr>
          <p:cNvPr id="17" name="Text 15"/>
          <p:cNvSpPr/>
          <p:nvPr/>
        </p:nvSpPr>
        <p:spPr>
          <a:xfrm>
            <a:off x="12779654" y="2632558"/>
            <a:ext cx="8048549" cy="201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在已签发通信合同的余量内动态调节 Batch Size，尽量拉高 TPS，且不突破 SLO。</a:t>
            </a:r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214323" y="5149901"/>
            <a:ext cx="10774375" cy="343814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9" name="Shape 17"/>
          <p:cNvSpPr/>
          <p:nvPr/>
        </p:nvSpPr>
        <p:spPr>
          <a:xfrm>
            <a:off x="1219810" y="5148072"/>
            <a:ext cx="1961388" cy="3438144"/>
          </a:xfrm>
          <a:prstGeom prst="rect">
            <a:avLst/>
          </a:prstGeom>
          <a:solidFill>
            <a:srgbClr val="415977"/>
          </a:solidFill>
          <a:ln/>
        </p:spPr>
      </p:sp>
      <p:sp>
        <p:nvSpPr>
          <p:cNvPr id="20" name="Shape 18"/>
          <p:cNvSpPr/>
          <p:nvPr/>
        </p:nvSpPr>
        <p:spPr>
          <a:xfrm>
            <a:off x="1252728" y="5149901"/>
            <a:ext cx="0" cy="3438144"/>
          </a:xfrm>
          <a:prstGeom prst="line">
            <a:avLst/>
          </a:prstGeom>
          <a:noFill/>
          <a:ln w="127000">
            <a:solidFill>
              <a:srgbClr val="F1CF9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1154" y="6650523"/>
            <a:ext cx="558698" cy="446959"/>
          </a:xfrm>
          <a:prstGeom prst="roundRect">
            <a:avLst>
              <a:gd name="adj" fmla="val 10229"/>
            </a:avLst>
          </a:prstGeom>
          <a:ln w="19050">
            <a:solidFill>
              <a:srgbClr val="F1CF9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04959" y="6790197"/>
            <a:ext cx="391089" cy="0"/>
          </a:xfrm>
          <a:prstGeom prst="line">
            <a:avLst/>
          </a:prstGeom>
          <a:noFill/>
          <a:ln w="19050">
            <a:solidFill>
              <a:srgbClr val="F1CF9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4959" y="6929872"/>
            <a:ext cx="391089" cy="0"/>
          </a:xfrm>
          <a:prstGeom prst="line">
            <a:avLst/>
          </a:prstGeom>
          <a:noFill/>
          <a:ln w="19050">
            <a:solidFill>
              <a:srgbClr val="F1CF9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439" y="6751088"/>
            <a:ext cx="78218" cy="78218"/>
          </a:xfrm>
          <a:prstGeom prst="ellipse">
            <a:avLst/>
          </a:prstGeom>
          <a:solidFill>
            <a:srgbClr val="F1CF9D"/>
          </a:solidFill>
          <a:ln/>
        </p:spPr>
      </p:sp>
      <p:sp>
        <p:nvSpPr>
          <p:cNvPr id="25" name="Shape 23"/>
          <p:cNvSpPr/>
          <p:nvPr/>
        </p:nvSpPr>
        <p:spPr>
          <a:xfrm>
            <a:off x="2088764" y="6890763"/>
            <a:ext cx="78218" cy="78218"/>
          </a:xfrm>
          <a:prstGeom prst="ellipse">
            <a:avLst/>
          </a:prstGeom>
          <a:solidFill>
            <a:srgbClr val="F1CF9D"/>
          </a:solidFill>
          <a:ln/>
        </p:spPr>
      </p:sp>
      <p:sp>
        <p:nvSpPr>
          <p:cNvPr id="26" name="Text 24"/>
          <p:cNvSpPr/>
          <p:nvPr/>
        </p:nvSpPr>
        <p:spPr>
          <a:xfrm>
            <a:off x="3555187" y="5439766"/>
            <a:ext cx="8048549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3  SLO→通信转译</a:t>
            </a:r>
            <a:endParaRPr/>
          </a:p>
        </p:txBody>
      </p:sp>
      <p:sp>
        <p:nvSpPr>
          <p:cNvPr id="27" name="Text 25"/>
          <p:cNvSpPr/>
          <p:nvPr/>
        </p:nvSpPr>
        <p:spPr>
          <a:xfrm>
            <a:off x="3555187" y="6132881"/>
            <a:ext cx="8048549" cy="201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按可隐藏性转译：a) 点到点吞吐；b) M2N CCT。准入时下发至 QP / ld·st。</a:t>
            </a:r>
            <a:endParaRPr/>
          </a:p>
        </p:txBody>
      </p:sp>
      <p:sp>
        <p:nvSpPr>
          <p:cNvPr id="28" name="Shape 26"/>
          <p:cNvSpPr/>
          <p:nvPr/>
        </p:nvSpPr>
        <p:spPr>
          <a:xfrm>
            <a:off x="12395606" y="5149901"/>
            <a:ext cx="10774375" cy="343814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Shape 27"/>
          <p:cNvSpPr/>
          <p:nvPr/>
        </p:nvSpPr>
        <p:spPr>
          <a:xfrm>
            <a:off x="21203107" y="5148072"/>
            <a:ext cx="1961388" cy="3438144"/>
          </a:xfrm>
          <a:prstGeom prst="rect">
            <a:avLst/>
          </a:prstGeom>
          <a:solidFill>
            <a:srgbClr val="415977"/>
          </a:solidFill>
          <a:ln/>
        </p:spPr>
      </p:sp>
      <p:sp>
        <p:nvSpPr>
          <p:cNvPr id="30" name="Shape 28"/>
          <p:cNvSpPr/>
          <p:nvPr/>
        </p:nvSpPr>
        <p:spPr>
          <a:xfrm>
            <a:off x="23106888" y="5149901"/>
            <a:ext cx="0" cy="3438144"/>
          </a:xfrm>
          <a:prstGeom prst="line">
            <a:avLst/>
          </a:prstGeom>
          <a:noFill/>
          <a:ln w="127000">
            <a:solidFill>
              <a:srgbClr val="F1CF9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904452" y="6650523"/>
            <a:ext cx="558698" cy="446959"/>
          </a:xfrm>
          <a:prstGeom prst="roundRect">
            <a:avLst>
              <a:gd name="adj" fmla="val 10229"/>
            </a:avLst>
          </a:prstGeom>
          <a:ln w="19050">
            <a:solidFill>
              <a:srgbClr val="F1CF9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988257" y="6734327"/>
            <a:ext cx="55870" cy="55870"/>
          </a:xfrm>
          <a:prstGeom prst="ellipse">
            <a:avLst/>
          </a:prstGeom>
          <a:solidFill>
            <a:srgbClr val="F1CF9D"/>
          </a:solidFill>
          <a:ln/>
        </p:spPr>
      </p:sp>
      <p:sp>
        <p:nvSpPr>
          <p:cNvPr id="33" name="Shape 31"/>
          <p:cNvSpPr/>
          <p:nvPr/>
        </p:nvSpPr>
        <p:spPr>
          <a:xfrm>
            <a:off x="22099996" y="6762262"/>
            <a:ext cx="279349" cy="0"/>
          </a:xfrm>
          <a:prstGeom prst="line">
            <a:avLst/>
          </a:prstGeom>
          <a:noFill/>
          <a:ln w="19050">
            <a:solidFill>
              <a:srgbClr val="F1CF9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988257" y="6846067"/>
            <a:ext cx="55870" cy="55870"/>
          </a:xfrm>
          <a:prstGeom prst="ellipse">
            <a:avLst/>
          </a:prstGeom>
          <a:solidFill>
            <a:srgbClr val="F1CF9D"/>
          </a:solidFill>
          <a:ln/>
        </p:spPr>
      </p:sp>
      <p:sp>
        <p:nvSpPr>
          <p:cNvPr id="35" name="Shape 33"/>
          <p:cNvSpPr/>
          <p:nvPr/>
        </p:nvSpPr>
        <p:spPr>
          <a:xfrm>
            <a:off x="22099996" y="6874002"/>
            <a:ext cx="279349" cy="0"/>
          </a:xfrm>
          <a:prstGeom prst="line">
            <a:avLst/>
          </a:prstGeom>
          <a:noFill/>
          <a:ln w="19050">
            <a:solidFill>
              <a:srgbClr val="F1CF9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988257" y="6957807"/>
            <a:ext cx="55870" cy="55870"/>
          </a:xfrm>
          <a:prstGeom prst="ellipse">
            <a:avLst/>
          </a:prstGeom>
          <a:solidFill>
            <a:srgbClr val="F1CF9D"/>
          </a:solidFill>
          <a:ln/>
        </p:spPr>
      </p:sp>
      <p:sp>
        <p:nvSpPr>
          <p:cNvPr id="37" name="Shape 35"/>
          <p:cNvSpPr/>
          <p:nvPr/>
        </p:nvSpPr>
        <p:spPr>
          <a:xfrm>
            <a:off x="22099996" y="6985742"/>
            <a:ext cx="279349" cy="0"/>
          </a:xfrm>
          <a:prstGeom prst="line">
            <a:avLst/>
          </a:prstGeom>
          <a:noFill/>
          <a:ln w="19050">
            <a:solidFill>
              <a:srgbClr val="F1CF9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779654" y="5439766"/>
            <a:ext cx="8048549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收益 · 硬兜底</a:t>
            </a:r>
            <a:endParaRPr/>
          </a:p>
        </p:txBody>
      </p:sp>
      <p:sp>
        <p:nvSpPr>
          <p:cNvPr id="39" name="Text 37"/>
          <p:cNvSpPr/>
          <p:nvPr/>
        </p:nvSpPr>
        <p:spPr>
          <a:xfrm>
            <a:off x="12779654" y="6132881"/>
            <a:ext cx="8048549" cy="201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相对阿里 TPN：公开材料缺硬 Token SLO 兜底证据；TSE 以合同化路径提供硬兜底。</a:t>
            </a:r>
            <a:endParaRPr/>
          </a:p>
        </p:txBody>
      </p:sp>
      <p:sp>
        <p:nvSpPr>
          <p:cNvPr id="40" name="Shape 38"/>
          <p:cNvSpPr/>
          <p:nvPr/>
        </p:nvSpPr>
        <p:spPr>
          <a:xfrm>
            <a:off x="1214323" y="8836762"/>
            <a:ext cx="10774375" cy="343814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1" name="Shape 39"/>
          <p:cNvSpPr/>
          <p:nvPr/>
        </p:nvSpPr>
        <p:spPr>
          <a:xfrm>
            <a:off x="1219810" y="8834933"/>
            <a:ext cx="1961388" cy="3438144"/>
          </a:xfrm>
          <a:prstGeom prst="rect">
            <a:avLst/>
          </a:prstGeom>
          <a:solidFill>
            <a:srgbClr val="415977"/>
          </a:solidFill>
          <a:ln/>
        </p:spPr>
      </p:sp>
      <p:sp>
        <p:nvSpPr>
          <p:cNvPr id="42" name="Shape 40"/>
          <p:cNvSpPr/>
          <p:nvPr/>
        </p:nvSpPr>
        <p:spPr>
          <a:xfrm>
            <a:off x="1252728" y="8836762"/>
            <a:ext cx="0" cy="3438144"/>
          </a:xfrm>
          <a:prstGeom prst="line">
            <a:avLst/>
          </a:prstGeom>
          <a:noFill/>
          <a:ln w="127000">
            <a:solidFill>
              <a:srgbClr val="F1CF9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21154" y="10281514"/>
            <a:ext cx="558698" cy="558698"/>
          </a:xfrm>
          <a:prstGeom prst="gear6">
            <a:avLst/>
          </a:prstGeom>
          <a:ln w="19050">
            <a:solidFill>
              <a:srgbClr val="F1CF9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55187" y="9163202"/>
            <a:ext cx="8048549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收益 · 有效吞吐</a:t>
            </a:r>
            <a:endParaRPr/>
          </a:p>
        </p:txBody>
      </p:sp>
      <p:sp>
        <p:nvSpPr>
          <p:cNvPr id="45" name="Text 43"/>
          <p:cNvSpPr/>
          <p:nvPr/>
        </p:nvSpPr>
        <p:spPr>
          <a:xfrm>
            <a:off x="3555187" y="9855403"/>
            <a:ext cx="8048549" cy="201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硬地板之上抬升有效吞吐：拒绝无效过载，让可兑现请求吃满合同余量。</a:t>
            </a:r>
            <a:endParaRPr/>
          </a:p>
        </p:txBody>
      </p:sp>
      <p:sp>
        <p:nvSpPr>
          <p:cNvPr id="46" name="Shape 44"/>
          <p:cNvSpPr/>
          <p:nvPr/>
        </p:nvSpPr>
        <p:spPr>
          <a:xfrm>
            <a:off x="12395606" y="8836762"/>
            <a:ext cx="10774375" cy="343814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Shape 45"/>
          <p:cNvSpPr/>
          <p:nvPr/>
        </p:nvSpPr>
        <p:spPr>
          <a:xfrm>
            <a:off x="21203107" y="8834933"/>
            <a:ext cx="1961388" cy="3438144"/>
          </a:xfrm>
          <a:prstGeom prst="rect">
            <a:avLst/>
          </a:prstGeom>
          <a:solidFill>
            <a:srgbClr val="415977"/>
          </a:solidFill>
          <a:ln/>
        </p:spPr>
      </p:sp>
      <p:sp>
        <p:nvSpPr>
          <p:cNvPr id="48" name="Shape 46"/>
          <p:cNvSpPr/>
          <p:nvPr/>
        </p:nvSpPr>
        <p:spPr>
          <a:xfrm>
            <a:off x="23106888" y="8836762"/>
            <a:ext cx="0" cy="3438144"/>
          </a:xfrm>
          <a:prstGeom prst="line">
            <a:avLst/>
          </a:prstGeom>
          <a:noFill/>
          <a:ln w="127000">
            <a:solidFill>
              <a:srgbClr val="F1CF9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1904452" y="10437949"/>
            <a:ext cx="558698" cy="279349"/>
          </a:xfrm>
          <a:prstGeom prst="rect">
            <a:avLst/>
          </a:prstGeom>
          <a:ln w="19050">
            <a:solidFill>
              <a:srgbClr val="F1CF9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2083235" y="10348557"/>
            <a:ext cx="201131" cy="100566"/>
          </a:xfrm>
          <a:prstGeom prst="rect">
            <a:avLst/>
          </a:prstGeom>
          <a:ln w="19050">
            <a:solidFill>
              <a:srgbClr val="F1CF9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904452" y="10560863"/>
            <a:ext cx="558698" cy="0"/>
          </a:xfrm>
          <a:prstGeom prst="line">
            <a:avLst/>
          </a:prstGeom>
          <a:noFill/>
          <a:ln w="19050">
            <a:solidFill>
              <a:srgbClr val="F1CF9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779654" y="9163202"/>
            <a:ext cx="8048549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收益 · 可调度合同</a:t>
            </a:r>
            <a:endParaRPr/>
          </a:p>
        </p:txBody>
      </p:sp>
      <p:sp>
        <p:nvSpPr>
          <p:cNvPr id="53" name="Text 51"/>
          <p:cNvSpPr/>
          <p:nvPr/>
        </p:nvSpPr>
        <p:spPr>
          <a:xfrm>
            <a:off x="12779654" y="9855403"/>
            <a:ext cx="8048549" cy="201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304359"/>
                </a:solidFill>
                <a:latin typeface="Jost" pitchFamily="34" charset="0"/>
                <a:ea typeface="Noto Sans CJK SC" pitchFamily="34" charset="-122"/>
                <a:cs typeface="Jost" pitchFamily="34" charset="-120"/>
              </a:rPr>
              <a:t>网络路径上的吞吐 / CCT 合同可调度、可同步下发，算网一体闭环。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Strategy Report</dc:title>
  <dc:subject>PptxGenJS Presentation</dc:subject>
  <dc:creator>PptxGenJS</dc:creator>
  <cp:lastModifiedBy>PptxGenJS</cp:lastModifiedBy>
  <cp:revision>1</cp:revision>
  <dcterms:created xsi:type="dcterms:W3CDTF">2026-10-09T14:37:29Z</dcterms:created>
  <dcterms:modified xsi:type="dcterms:W3CDTF">2026-10-09T14:37:29Z</dcterms:modified>
</cp:coreProperties>
</file>