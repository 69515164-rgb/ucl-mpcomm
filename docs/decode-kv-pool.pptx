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384048"/>
            <a:ext cx="11314175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Decode 什么条件下用 SSD 池，什么时候必须用 DDR 池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1314175" cy="65836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877824"/>
            <a:ext cx="73152" cy="658368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877824"/>
            <a:ext cx="10948415" cy="65836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历史 KV 的数值不变，每步用新的 Q 重读一遍。池子只承接 HBM 放不下的缺页，从第二个 token 起计入 TPOT。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47104"/>
            <a:ext cx="11314175" cy="9144"/>
          </a:xfrm>
          <a:prstGeom prst="rect">
            <a:avLst/>
          </a:prstGeom>
          <a:solidFill>
            <a:srgbClr val="D6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6583680"/>
            <a:ext cx="7315200" cy="23774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8626E"/>
                </a:solidFill>
                <a:latin typeface="Microsoft YaHei"/>
                <a:ea typeface="Microsoft YaHei"/>
                <a:cs typeface="Microsoft YaHei"/>
              </a:rPr>
              <a:t>Decode KV 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90047" y="6583680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1  / 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682495"/>
            <a:ext cx="11314175" cy="1514855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1682495"/>
            <a:ext cx="73152" cy="1514855"/>
          </a:xfrm>
          <a:prstGeom prst="rect">
            <a:avLst/>
          </a:prstGeom>
          <a:solidFill>
            <a:srgbClr val="606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5"/>
            <a:ext cx="2148840" cy="1514855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606A76"/>
                </a:solidFill>
                <a:latin typeface="Microsoft YaHei"/>
                <a:ea typeface="Microsoft YaHei"/>
                <a:cs typeface="Microsoft YaHei"/>
              </a:rPr>
              <a:t>不进池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8626E"/>
                </a:solidFill>
                <a:latin typeface="Microsoft YaHei"/>
                <a:ea typeface="Microsoft YaHei"/>
                <a:cs typeface="Microsoft YaHei"/>
              </a:rPr>
              <a:t>HBM 装得下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7792" y="1938528"/>
            <a:ext cx="10972" cy="1002791"/>
          </a:xfrm>
          <a:prstGeom prst="rect">
            <a:avLst/>
          </a:prstGeom>
          <a:solidFill>
            <a:srgbClr val="D6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36392" y="1682495"/>
            <a:ext cx="8470391" cy="1514855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历史 KV 能整段留在 decode 侧 HBM。冷前缀若在第一个 token 之前装进 HBM，装载记在 TTFT。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06A76"/>
                </a:solidFill>
                <a:latin typeface="Microsoft YaHei"/>
                <a:ea typeface="Microsoft YaHei"/>
                <a:cs typeface="Microsoft YaHei"/>
              </a:rPr>
              <a:t>每步只读 HBM，并把新 token 的 KV 写回 HBM。这一步不访问池子。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307079"/>
            <a:ext cx="11314175" cy="1514855"/>
          </a:xfrm>
          <a:prstGeom prst="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3307079"/>
            <a:ext cx="73152" cy="1514855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307079"/>
            <a:ext cx="2148840" cy="1514855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可以用 SSD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8626E"/>
                </a:solidFill>
                <a:latin typeface="Microsoft YaHei"/>
                <a:ea typeface="Microsoft YaHei"/>
                <a:cs typeface="Microsoft YaHei"/>
              </a:rPr>
              <a:t>大页把接口喂满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07792" y="3563112"/>
            <a:ext cx="10972" cy="1002791"/>
          </a:xfrm>
          <a:prstGeom prst="rect">
            <a:avLst/>
          </a:prstGeom>
          <a:solidFill>
            <a:srgbClr val="D6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6392" y="3307079"/>
            <a:ext cx="8470391" cy="1514855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缺页在 TPOT 上，同一层连续存放并按层大读，接口被喂满。合同看平均 TPOT，或没有 TPOT 合同。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平均传输时间由接口带宽决定，与 DDR 相同。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4931663"/>
            <a:ext cx="11314175" cy="1514855"/>
          </a:xfrm>
          <a:prstGeom prst="rect">
            <a:avLst/>
          </a:prstGeom>
          <a:solidFill>
            <a:srgbClr val="F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4931663"/>
            <a:ext cx="73152" cy="1514855"/>
          </a:xfrm>
          <a:prstGeom prst="rect">
            <a:avLst/>
          </a:prstGeom>
          <a:solidFill>
            <a:srgbClr val="8C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31663"/>
            <a:ext cx="2148840" cy="1514855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8C2A24"/>
                </a:solidFill>
                <a:latin typeface="Microsoft YaHei"/>
                <a:ea typeface="Microsoft YaHei"/>
                <a:cs typeface="Microsoft YaHei"/>
              </a:rPr>
              <a:t>必须用 DDR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58626E"/>
                </a:solidFill>
                <a:latin typeface="Microsoft YaHei"/>
                <a:ea typeface="Microsoft YaHei"/>
                <a:cs typeface="Microsoft YaHei"/>
              </a:rPr>
              <a:t>喂不满，或要保 p99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07792" y="5187696"/>
            <a:ext cx="10972" cy="1002791"/>
          </a:xfrm>
          <a:prstGeom prst="rect">
            <a:avLst/>
          </a:prstGeom>
          <a:solidFill>
            <a:srgbClr val="D6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36392" y="4931663"/>
            <a:ext cx="8470391" cy="1514855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缺页在 TPOT 上，而且是小页随机读，或合同写 p99，或单次 IO 的时延已经大于剩余预算。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8C2A24"/>
                </a:solidFill>
                <a:latin typeface="Microsoft YaHei"/>
                <a:ea typeface="Microsoft YaHei"/>
                <a:cs typeface="Microsoft YaHei"/>
              </a:rPr>
              <a:t>这时 SSD 喂不满接口，或长尾直接进每一个 token。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计时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384048"/>
            <a:ext cx="11314175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只有缺页的重读进入 TPOT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1314175" cy="65836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877824"/>
            <a:ext cx="73152" cy="658368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877824"/>
            <a:ext cx="10948415" cy="65836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交接和第一个 token 的取数记在 TTFT。第二个 token 起，不在 HBM 里的历史 KV 每步重读，才计入 TPOT。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47104"/>
            <a:ext cx="11314175" cy="9144"/>
          </a:xfrm>
          <a:prstGeom prst="rect">
            <a:avLst/>
          </a:prstGeom>
          <a:solidFill>
            <a:srgbClr val="D6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6583680"/>
            <a:ext cx="7315200" cy="23774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8626E"/>
                </a:solidFill>
                <a:latin typeface="Microsoft YaHei"/>
                <a:ea typeface="Microsoft YaHei"/>
                <a:cs typeface="Microsoft YaHei"/>
              </a:rPr>
              <a:t>Decode KV 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90047" y="6583680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2  / 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682495"/>
            <a:ext cx="11314175" cy="112242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1682495"/>
            <a:ext cx="73152" cy="1122426"/>
          </a:xfrm>
          <a:prstGeom prst="rect">
            <a:avLst/>
          </a:prstGeom>
          <a:solidFill>
            <a:srgbClr val="606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2033397"/>
            <a:ext cx="420624" cy="420624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033397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682495"/>
            <a:ext cx="2468880" cy="112242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交接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8626E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1682495"/>
            <a:ext cx="7748015" cy="112242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Prefill 把 prompt 的历史 KV 交给 decode。这些 K、V 的数值到这里已经定稿。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2896362"/>
            <a:ext cx="11314175" cy="112242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2896362"/>
            <a:ext cx="73152" cy="1122426"/>
          </a:xfrm>
          <a:prstGeom prst="rect">
            <a:avLst/>
          </a:prstGeom>
          <a:solidFill>
            <a:srgbClr val="606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3247263"/>
            <a:ext cx="420624" cy="420624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247263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2896362"/>
            <a:ext cx="2468880" cy="112242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第一个 token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8626E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2896362"/>
            <a:ext cx="7748015" cy="112242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读 HBM 里的历史 KV，算出这个 token，把增量 KV 写回 HBM。这时若还要从池里取缺页，仍记在 TTFT。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4110228"/>
            <a:ext cx="11314175" cy="112242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" y="4110228"/>
            <a:ext cx="73152" cy="1122426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" y="4461129"/>
            <a:ext cx="420624" cy="420624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461129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110228"/>
            <a:ext cx="2468880" cy="112242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后续每个 token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4110228"/>
            <a:ext cx="7748015" cy="112242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用新的 Q 重读全部历史 KV。留在 HBM 的读 HBM，不在的读池。被驱逐的页下一步还要再读。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5324094"/>
            <a:ext cx="11314175" cy="112242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" y="5324094"/>
            <a:ext cx="73152" cy="1122426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944" y="5674995"/>
            <a:ext cx="420624" cy="420624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5674995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5324094"/>
            <a:ext cx="2468880" cy="112242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逐层重叠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2191" y="5324094"/>
            <a:ext cx="7748015" cy="112242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下一层的取数可以盖在当前层计算下面。不超过计算，池子只占带宽；超出的部分加进这一步。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判据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384048"/>
            <a:ext cx="11314175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接口带宽相同，差别只在单次 IO 有多大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1314175" cy="65836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877824"/>
            <a:ext cx="73152" cy="658368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877824"/>
            <a:ext cx="10948415" cy="65836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长上下文只提供字节数。单次 IO 够大，SSD 与 DDR 的平均时间相同；读变成小页，就必须改用 DDR。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47104"/>
            <a:ext cx="11314175" cy="9144"/>
          </a:xfrm>
          <a:prstGeom prst="rect">
            <a:avLst/>
          </a:prstGeom>
          <a:solidFill>
            <a:srgbClr val="D6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6583680"/>
            <a:ext cx="7315200" cy="23774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8626E"/>
                </a:solidFill>
                <a:latin typeface="Microsoft YaHei"/>
                <a:ea typeface="Microsoft YaHei"/>
                <a:cs typeface="Microsoft YaHei"/>
              </a:rPr>
              <a:t>Decode KV 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90047" y="6583680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3  / 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682495"/>
            <a:ext cx="5623560" cy="4764024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10512"/>
            <a:ext cx="5257800" cy="32918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每步访问多少字节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12848"/>
            <a:ext cx="5184648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212848"/>
            <a:ext cx="4965192" cy="365759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每 token KV = 2 × 层数 × KV 头数 × 头维 × 字节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51760"/>
            <a:ext cx="5184648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651760"/>
            <a:ext cx="4965192" cy="365759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单步读取 = 缓存长度 × 每 token KV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90672"/>
            <a:ext cx="5184648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090672"/>
            <a:ext cx="4965192" cy="365759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单步写入 = 每 token KV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29584"/>
            <a:ext cx="5184648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29584"/>
            <a:ext cx="4965192" cy="365759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本步池读取 = 不在 HBM 中的历史 KV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968496"/>
            <a:ext cx="5184648" cy="365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968496"/>
            <a:ext cx="4965192" cy="365759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单次读取时间 = IO 字节 / 接口带宽 + 介质时延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62272"/>
            <a:ext cx="5184648" cy="1929383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8626E"/>
                </a:solidFill>
                <a:latin typeface="Microsoft YaHei"/>
                <a:ea typeface="Microsoft YaHei"/>
                <a:cs typeface="Microsoft YaHei"/>
              </a:rPr>
              <a:t>70B、GQA、BF16：80 层、8 个 KV 头、头维 128。每 token 320KB。缓存 32768 时单步读取 10GB，每层 128MB。历史内容与上一步相同，只多一个 token。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1682495"/>
            <a:ext cx="5562599" cy="2318004"/>
          </a:xfrm>
          <a:prstGeom prst="rect">
            <a:avLst/>
          </a:prstGeom>
          <a:solidFill>
            <a:srgbClr val="EC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1682495"/>
            <a:ext cx="73152" cy="2318004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1792224"/>
            <a:ext cx="5196839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按层大读，可以用 SSD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2176272"/>
            <a:ext cx="5196839" cy="169621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写按一个 token 的小页追加，读按层收成一次区间读。已在 HBM 的部分从区间去掉，长度不超过逐层缓冲，再拆成数 MB 条带。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50GB/s、时延差 100 微秒时，大约 5MB 以上时延就可忽略。一层 128MB 的大读里，时延只占百分之几。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0488" y="4128515"/>
            <a:ext cx="5562599" cy="2318004"/>
          </a:xfrm>
          <a:prstGeom prst="rect">
            <a:avLst/>
          </a:prstGeom>
          <a:solidFill>
            <a:srgbClr val="FA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4128515"/>
            <a:ext cx="73152" cy="2318004"/>
          </a:xfrm>
          <a:prstGeom prst="rect">
            <a:avLst/>
          </a:prstGeom>
          <a:solidFill>
            <a:srgbClr val="8C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4238244"/>
            <a:ext cx="5196839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8C2A24"/>
                </a:solidFill>
                <a:latin typeface="Microsoft YaHei"/>
                <a:ea typeface="Microsoft YaHei"/>
                <a:cs typeface="Microsoft YaHei"/>
              </a:rPr>
              <a:t>小页或 p99，必须用 DDR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4622292"/>
            <a:ext cx="5196839" cy="169621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每层每个 token 约 4KB。32K 上下文一步约 260 万次读，要喂满 50GB/s 需要约每秒 1200 万次。SSD 的随机 IOPS 先到顶。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8C2A24"/>
                </a:solidFill>
                <a:latin typeface="Microsoft YaHei"/>
                <a:ea typeface="Microsoft YaHei"/>
                <a:cs typeface="Microsoft YaHei"/>
              </a:rPr>
              <a:t>合同若写 p99，垃圾回收的停顿也不随大流量摊薄。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46304"/>
            <a:ext cx="10972800" cy="256032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总表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384048"/>
            <a:ext cx="11314175" cy="42062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先看缺页在不在 TPOT 上，再看这次读能不能喂满接口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877824"/>
            <a:ext cx="11314175" cy="65836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877824"/>
            <a:ext cx="73152" cy="658368"/>
          </a:xfrm>
          <a:prstGeom prst="rect">
            <a:avLst/>
          </a:prstGeom>
          <a:solidFill>
            <a:srgbClr val="0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877824"/>
            <a:ext cx="10948415" cy="65836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61B22"/>
                </a:solidFill>
                <a:latin typeface="Microsoft YaHei"/>
                <a:ea typeface="Microsoft YaHei"/>
                <a:cs typeface="Microsoft YaHei"/>
              </a:rPr>
              <a:t>HBM 装得下就不进池。装不下时，大页连续读且合同看平均，可以用 SSD；小页随机读或要保 p99，必须用 DDR。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6547104"/>
            <a:ext cx="11314175" cy="9144"/>
          </a:xfrm>
          <a:prstGeom prst="rect">
            <a:avLst/>
          </a:prstGeom>
          <a:solidFill>
            <a:srgbClr val="D6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6583680"/>
            <a:ext cx="7315200" cy="23774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8626E"/>
                </a:solidFill>
                <a:latin typeface="Microsoft YaHei"/>
                <a:ea typeface="Microsoft YaHei"/>
                <a:cs typeface="Microsoft YaHei"/>
              </a:rPr>
              <a:t>Decode KV 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90047" y="6583680"/>
            <a:ext cx="1463040" cy="23774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4A8A"/>
                </a:solidFill>
                <a:latin typeface="Microsoft YaHei"/>
                <a:ea typeface="Microsoft YaHei"/>
                <a:cs typeface="Microsoft YaHei"/>
              </a:rPr>
              <a:t>4  /  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8912" y="1682495"/>
          <a:ext cx="11314175" cy="4764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737360"/>
                <a:gridCol w="3953255"/>
              </a:tblGrid>
              <a:tr h="595503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anchor="ctr">
                    <a:solidFill>
                      <a:srgbClr val="0E4A8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anchor="ctr">
                    <a:solidFill>
                      <a:srgbClr val="0E4A8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</a:t>
                      </a:r>
                    </a:p>
                  </a:txBody>
                  <a:tcPr anchor="ctr">
                    <a:solidFill>
                      <a:srgbClr val="0E4A8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</a:tr>
              <a:tr h="595503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1B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 KV 能整段留在 decode 侧 HBM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606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不进池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862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每步只读 HBM，池子不在 TPOT 上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</a:tr>
              <a:tr h="595503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1B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冷前缀在第一个 token 之前装入 HBM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4A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SSD 可以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862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只搬一次，时间记在 TTFT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</a:tr>
              <a:tr h="595503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1B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长上下文按层连续大读，合同看平均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4A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SSD 可以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862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接口被喂满，平均时间与 DDR 相同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</a:tr>
              <a:tr h="595503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1B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离线吞吐，没有 TPOT 合同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4A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SSD 可以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862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时延和垃圾回收长尾不进预算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</a:tr>
              <a:tr h="595503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1B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小页随机读，上下文变长则 IO 次数上升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8C2A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 DDR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862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SSD 喂不满同一条接口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</a:tr>
              <a:tr h="595503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1B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合同写的是 p99 TPOT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8C2A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 DDR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862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垃圾回收的停顿不随大流量摊薄</a:t>
                      </a:r>
                    </a:p>
                  </a:txBody>
                  <a:tcPr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</a:tr>
              <a:tr h="595503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61B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单次 IO 太小，时延差大于剩余预算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8C2A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 DDR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862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介质时延直接加进每一个 token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  <a:tcMar>
                      <a:left mar="100000"/>
                      <a:right mar="100000"/>
                      <a:top mar="60000"/>
                      <a:bottom mar="60000"/>
                    </a:tcMa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 KV 池：何时 SSD，何时必须 DDR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