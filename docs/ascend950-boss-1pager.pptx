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微软雅黑"/>
                <a:ea typeface="微软雅黑"/>
                <a:cs typeface="微软雅黑"/>
              </a:rPr>
              <a:t>本页为业务假设情景，不是现场测实收益。铁面不按此签「已验证」。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价值数字来源：/workspace/poc-b0bc/typical-unit-value-scenario.md（内部价值情景；假设：不忙100ms / 忙无控制面125ms / 忙有控制面102ms；客户线110ms；忙时窗占比35%；部署12×950PR+24×950DT）。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架构来源：已过组评审的昇腾四框设计（控制面夹在 MindIE 与四类传输之间）。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用语：正文禁黑话（卸数、池化、±HCCL、B0/Bc 裸符号）；英文库名仅括号对照。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ME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803" cy="685800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330200" dist="38100" dir="108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 rot="16200000">
            <a:off x="-661111" y="3298241"/>
            <a:ext cx="1805026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 rot="16200000">
            <a:off x="-96926" y="6158484"/>
            <a:ext cx="675742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630" y="830275"/>
            <a:ext cx="246888" cy="249628"/>
          </a:xfrm>
          <a:prstGeom prst="roundRect">
            <a:avLst>
              <a:gd name="adj" fmla="val 33986"/>
            </a:avLst>
          </a:prstGeom>
          <a:solidFill>
            <a:srgbClr val="072BF2"/>
          </a:solidFill>
          <a:ln/>
          <a:effectLst>
            <a:outerShdw sx="100000" sy="100000" kx="0" ky="0" algn="bl" rotWithShape="0" blurRad="508000" dist="304800" dir="27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2272" y="891234"/>
            <a:ext cx="121083" cy="121069"/>
          </a:xfrm>
          <a:prstGeom prst="blockArc">
            <a:avLst>
              <a:gd name="adj1" fmla="val 10800000"/>
              <a:gd name="adj2" fmla="val 21600000"/>
              <a:gd name="adj3" fmla="val 14025"/>
            </a:avLst>
          </a:prstGeom>
          <a:solidFill>
            <a:srgbClr val="EEEEEE"/>
          </a:solidFill>
          <a:ln/>
        </p:spPr>
      </p:sp>
      <p:sp>
        <p:nvSpPr>
          <p:cNvPr id="4" name="Shape 2"/>
          <p:cNvSpPr/>
          <p:nvPr/>
        </p:nvSpPr>
        <p:spPr>
          <a:xfrm>
            <a:off x="978781" y="897875"/>
            <a:ext cx="121083" cy="121069"/>
          </a:xfrm>
          <a:prstGeom prst="blockArc">
            <a:avLst>
              <a:gd name="adj1" fmla="val 0"/>
              <a:gd name="adj2" fmla="val 10800000"/>
              <a:gd name="adj3" fmla="val 14025"/>
            </a:avLst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19322" y="918117"/>
            <a:ext cx="66957" cy="66946"/>
          </a:xfrm>
          <a:prstGeom prst="blockArc">
            <a:avLst>
              <a:gd name="adj1" fmla="val 10800000"/>
              <a:gd name="adj2" fmla="val 21600000"/>
              <a:gd name="adj3" fmla="val 25600"/>
            </a:avLst>
          </a:prstGeom>
          <a:solidFill>
            <a:srgbClr val="EEEEEE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4" y="925103"/>
            <a:ext cx="66957" cy="66946"/>
          </a:xfrm>
          <a:prstGeom prst="blockArc">
            <a:avLst>
              <a:gd name="adj1" fmla="val 0"/>
              <a:gd name="adj2" fmla="val 10800000"/>
              <a:gd name="adj3" fmla="val 25600"/>
            </a:avLst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78673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42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16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11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4148" y="801014"/>
            <a:ext cx="4114800" cy="308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2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业务假设 · 非测实</a:t>
            </a:r>
            <a:endParaRPr lang="zh-CN" sz="1200"/>
          </a:p>
        </p:txBody>
      </p:sp>
      <p:sp>
        <p:nvSpPr>
          <p:cNvPr id="12" name="Text 10"/>
          <p:cNvSpPr txBox="1"/>
          <p:nvPr/>
        </p:nvSpPr>
        <p:spPr>
          <a:xfrm>
            <a:off x="922630" y="1207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昇腾950统一控制面</a:t>
            </a:r>
            <a:r>
              <a:rPr lang="zh-CN" sz="22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一页规划</a:t>
            </a:r>
            <a:r>
              <a:rPr lang="zh-CN" sz="22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（价值与架构）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922630" y="5257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 lIns="45720" tIns="36576" rIns="45720" bIns="36576"/>
          <a:lstStyle/>
          <a:p>
            <a:pPr>
              <a:lnSpc>
                <a:spcPts val="1350"/>
              </a:lnSpc>
            </a:pPr>
            <a:r>
              <a:rPr lang="zh-CN" sz="10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备注（业务假设，非测实）：不忙 100 ms、忙且无控制面 125 ms 是典型单元忙闲量级外推（非现场测）；有控制面 102 ms 是按过线目标的假设；客户线 110 ms；一天 35% 请求在忙是忙时窗占比假设。按「越忙尾延迟大致按比例变差」推出高峰能跑多满，再算少买多少卡。测实三个数一到，同方法重算。价值情景来自内部典型单元价值评估；架构来自已过组评审的昇腾四框设计。</a:t>
            </a:r>
            <a:endParaRPr lang="zh-CN" sz="1000"/>
          </a:p>
        </p:txBody>
      </p:sp>
      <p:sp>
        <p:nvSpPr>
          <p:cNvPr id="14" name="Text 12"/>
          <p:cNvSpPr txBox="1"/>
          <p:nvPr/>
        </p:nvSpPr>
        <p:spPr>
          <a:xfrm>
            <a:off x="922630" y="18105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zh-CN" sz="2200"/>
          </a:p>
        </p:txBody>
      </p:sp>
      <p:sp>
        <p:nvSpPr>
          <p:cNvPr id="15" name="Text 13"/>
          <p:cNvSpPr txBox="1"/>
          <p:nvPr/>
        </p:nvSpPr>
        <p:spPr>
          <a:xfrm>
            <a:off x="1745590" y="187452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值不值</a:t>
            </a:r>
            <a:endParaRPr lang="zh-CN" sz="1600"/>
          </a:p>
        </p:txBody>
      </p:sp>
      <p:sp>
        <p:nvSpPr>
          <p:cNvPr id="16" name="Text 14"/>
          <p:cNvSpPr txBox="1"/>
          <p:nvPr/>
        </p:nvSpPr>
        <p:spPr>
          <a:xfrm>
            <a:off x="922630" y="228600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忙时：首字尾延迟从破客户线（125 ms）回到过线（102 ms）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高峰大约少用六成机器；按一整天大约少用两成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部署按 12 张 950PR + 24 张 950DT</a:t>
            </a:r>
            <a:endParaRPr lang="zh-CN" sz="1000"/>
          </a:p>
        </p:txBody>
      </p:sp>
      <p:sp>
        <p:nvSpPr>
          <p:cNvPr id="17" name="Text 15"/>
          <p:cNvSpPr txBox="1"/>
          <p:nvPr/>
        </p:nvSpPr>
        <p:spPr>
          <a:xfrm>
            <a:off x="4480560" y="18105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zh-CN" sz="2200"/>
          </a:p>
        </p:txBody>
      </p:sp>
      <p:sp>
        <p:nvSpPr>
          <p:cNvPr id="18" name="Text 16"/>
          <p:cNvSpPr txBox="1"/>
          <p:nvPr/>
        </p:nvSpPr>
        <p:spPr>
          <a:xfrm>
            <a:off x="5303520" y="187452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控制面插在哪</a:t>
            </a:r>
            <a:endParaRPr lang="zh-CN" sz="1600"/>
          </a:p>
        </p:txBody>
      </p:sp>
      <p:sp>
        <p:nvSpPr>
          <p:cNvPr id="19" name="Text 17"/>
          <p:cNvSpPr txBox="1"/>
          <p:nvPr/>
        </p:nvSpPr>
        <p:spPr>
          <a:xfrm>
            <a:off x="4480560" y="228600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夹在推理引擎（MindIE）和四类传输之间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（1）提示词侧算完后把 KV 送给吐字侧（LLM-DataDist + HIXL Engine）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（2）吐字侧多卡同步、对齐数据（HCCL）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（3）KV 临时搬到本机内存（Block Manager + 运行时拷主机；不要写成 HIXL）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（4）多机共用大内存取存 KV（AscendStoreConnector + MemCache + MemFabric）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忙时优先保证 KV 传递；搬本机内存 / 走共享内存先按一按；失败要拦发或保守限速，禁止静默直通</a:t>
            </a:r>
            <a:endParaRPr lang="zh-CN" sz="1000"/>
          </a:p>
        </p:txBody>
      </p:sp>
      <p:sp>
        <p:nvSpPr>
          <p:cNvPr id="20" name="Text 18"/>
          <p:cNvSpPr txBox="1"/>
          <p:nvPr/>
        </p:nvSpPr>
        <p:spPr>
          <a:xfrm>
            <a:off x="8037576" y="18105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zh-CN" sz="2200"/>
          </a:p>
        </p:txBody>
      </p:sp>
      <p:sp>
        <p:nvSpPr>
          <p:cNvPr id="21" name="Text 19"/>
          <p:cNvSpPr txBox="1"/>
          <p:nvPr/>
        </p:nvSpPr>
        <p:spPr>
          <a:xfrm>
            <a:off x="8860536" y="187452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和业界差在哪</a:t>
            </a:r>
            <a:endParaRPr lang="zh-CN" sz="1600"/>
          </a:p>
        </p:txBody>
      </p:sp>
      <p:sp>
        <p:nvSpPr>
          <p:cNvPr id="22" name="Text 20"/>
          <p:cNvSpPr txBox="1"/>
          <p:nvPr/>
        </p:nvSpPr>
        <p:spPr>
          <a:xfrm>
            <a:off x="8037576" y="228600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不只「软限速」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多出来的抓手：按路径区分让路、注册后可观测、忙时拦发/保守限速、四类传输统一编排</a:t>
            </a:r>
            <a:endParaRPr lang="zh-CN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t" wrap="square"/>
          <a:lstStyle>
            <a:lvl1pPr>
              <a:defRPr sz="900">
                <a:solidFill>
                  <a:srgbClr val="A6A6A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/>
            <a:r>
              <a:rPr lang="zh-CN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Business</dc:title>
  <dc:subject>PptxGenJS Presentation</dc:subject>
  <dc:creator>Executive</dc:creator>
  <cp:lastModifiedBy>Executive</cp:lastModifiedBy>
  <cp:revision>1</cp:revision>
  <dcterms:created xsi:type="dcterms:W3CDTF">2026-10-12T10:54:40Z</dcterms:created>
  <dcterms:modified xsi:type="dcterms:W3CDTF">2026-10-12T10:54:40Z</dcterms:modified>
</cp:coreProperties>
</file>