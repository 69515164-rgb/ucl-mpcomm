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GLM-5.3 config：78 层，隐藏 6144，MoE 中间维 2048，256 个路由专家，1 个共享，top-8，前 3 层稠密，中间维 12288。MLA：kv_lora 512 + rope 64 = 576，64 头。DSA index_topk 2048。indexer 在 21 层计算，其余层复用下标。主干回推 743.3B，激活 39.23B。官方口径 744B-A40B。10T：E=3526，总参数 1.000114e+13。专家 FP8 字节等于参数个数。每卡路由专家 77.99 GB，共享 2.83 GB，稠密 0.68 GB，注意力 1.63 GB。扣掉 6 GB 预留后，每卡 KV 余量 342.87 GB，128 卡 43.89 TB。词表 154880 和 MTP 留在参数回推里，时延页的显存扣减沿用原先的 GLM 页，不另扣这两项。后面几页是 N+2 @ 2TB @ 480 GB/s 内存池。FP4 峰值是 15 P。GLM-5.3 发布精度是 FP8，GEMM 取一半，7.50 P。注意力和专家用同一个峰值。H2D 1.6 Tb/s = 200 GB/s 峰值，80% 后 160 GB/s，只在 prefill。DDR5 的 1.6 TB/s 和 1.3 TB 按一台 8 卡机器记，每卡 160 GB/s、162.5 GB。D2D 每卡 1.2 TB/s，80% 后 0.96 TB/s，专家通信走这里。总线内存池每卡 480 GB/s，80% 后 384 GB/s，容量不设上限，专供 decode 换入。若把 480 GB/s 理解成 128 卡共享，短输入的两档全局批不变，更长上下文的批会下降。本页按每卡。机内 8 卡 fullmesh，P2P 800 Gb/s，80% 后 80 GB/s。参数面同样。注意力 TP=8，16 台机器做 DP=16。MoE EP=128 走 D2D。整卡专家加共享读完是 7.02 ms，短于 10 ms，所以 10 毫秒这一档也能把每卡 27.5 个专家读满。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单请求不跨副本。增加 Prefill 节点是多放几份 128 卡副本，单条 TTFT 不变。时间 = max(计算, 读权重) + 把 KV 送到 Decode。计算全部除以 128×7.50×10^15。indexer 点积：32 头 × 128 维 × 2 = 8192 FLOP/对，只有 21 层计算。稀疏 MLA：64 头 × 256 维，QK 和 AV 合计每条 65536 FLOP，78 层都做，每 token 只看 2048 条。S=7203656：indexer 9.2992s，稀疏 0.0786s，专家 0.3824s，投影 0.1961s，稠密 0.0102s，合计计算 9.9664s。读权重 7.22 ms，KV 搬运 33.56 ms。S² 9.30s，线性项 0.67s。4K 单条 TTFT 是 7.24 毫秒，停在读权重。1M 单条、无命中是 0.299 秒。该长度的 KV 约 343.6 GB，经 128×80 GB/s 的参数面送出。HBM 余量 43.89 TB，这一条放得下，H2D 不进这条 10 秒。冷启动单请求的机内 allreduce 记在下一页的批上。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全局批是 128 卡副本上的条数。注意力 TP=8、DP=16，MoE EP=128。KV 命中 90%。每条只把 10% 的 token 送进计算，这 10% 的 query 仍看全长上下文。时间 = 参数面读 KV + 注意力侧较长的一项 + 专家侧较长的一项。注意力侧在注意力计算、机内 allreduce、注意力权重之间取最大。专家侧在专家 GEMM 加稠密 MLP、读专家权重、EP 之间取最大。这一页专家侧取 D2D combine。机内 allreduce：每组 token 数 = 现算 token / 16，每 token 6144×2 字节，环上 2×7/8，78 层，除以 80 GB/s。4K 全局批 17286：现算 7.0803e+06，allreduce 9.278s，注意力 0.275s，专家 GEMM 0.376s，稠密 0.0100s，EP 0.425s，读权重 7.07 ms，读 KV 296.8 ms，合计 10.000s。再加一条是 10.000s。1M 全局批 67：allreduce 9.206s，注意力 1.588s（indexer 1.320s），专家侧 0.422s，EP 0.422s，合计 9.922s。HBM 余量 43.89 TB。4K 能放 224624 条，1M 能放 877 条，都高于这页的时间批。单条 1,048,576 token、90% 命中的 TTFT 是 0.1489 秒，其中 allreduce 0.1374 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与 Prefill 同一份切分：TP=8，DP=16，EP=128。一步 = 注意力侧最长的一笔 + 专家侧最长的一笔。BS=2272，命中率 0.9942，最忙卡 27.547 个，已经顶到每卡全部本地专家。读权重 80.821 GB / 11.52 TB/s = 7.016 ms。整卡读完是 7.016 ms。机内 allreduce：ceil(2272/16) = 142 条，每条 6144×2 字节，环上 2×7/8，78 层，除以 80 GB/s，得 2.977 ms。两项相加 9.993 ms，表上记 10.0 毫秒。2273 条是 10.014 ms。专家计算 0.372 ms，效率 0.324。每个命中专家只有约 5.18 个 token，16 行砖的效率是 32%。EP 0.136 ms。注意力计算 0.090 ms。注意力权重 0.142 ms。4K – 256K 的全局批都是 2272，KV 全在 HBM。512K 降到 1849，存量 5.1% 在总线内存池，池上稀疏读 2.96 ms，和读专家之后剩下的预算对齐。1M 降到 926，2M 降到 494，7.20×10^6 降到 144。换入走每卡 384 GB/s 的总线内存池，即 480 GB/s 的 80%，容量不设上限。H2D 只在 prefill。前 3 层稠密 MLP 的 GEMM 在这个批上远短于读专家，沿用原先的 GLM 解码式，不单列。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BS=17536，命中率 1.0000，每卡 27.547 个专家全醒。读权重 7.016 ms。allreduce ceil(17536/16)=1096 条，22.979 ms。两项相加 29.995 ms，表上记 30.0 毫秒。17537 条是 30.016 ms。专家计算 1.123 ms，效率 0.829。EP 1.052 ms。注意力计算 0.687 ms。显存余量 43.89 TB。溢出进卡的口是每卡总线内存池 384 GB/s，即 480 GB/s 的 80%，容量不设上限。D2D 上的专家通信是每卡 1.2 TB/s 取 80%，即 0.96 TB/s。64K 仍是 17536，存量 19.9% 在池上，稀疏读 19.47 ms，短于 allreduce 22.98 ms，所以批保持。128K 降到 9500，存量 26.1% 在池上，稀疏读 22.98 ms，已经绑住这一步。256K 降到 4889，1M 降到 1254，2M 降到 664，7.20×10^6 降到 191。4K、输出 512、命中 90%：Prefill 1728.6 请求/秒。10 毫秒 Decode 443.8 请求/秒，P:D 约 1:3.9。30 毫秒 Decode 1141.7 请求/秒，P:D 约 1:1.5。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存量 = S×47700 字节。一步真正读的是 21 层 indexer 的 132 字节/token，加上 78 层里最多 2048 条 latent，每条 576 字节。HBM 余量 43.89 TB。溢出进 GPU 的口是每卡总线内存池，有效 384 GB/s，容量不设上限。这个带宽是每卡 480 GB/s 取 80%。D2D 上的专家通信是每卡 1.2 TB/s 取 80%，即 0.96 TB/s。H2D 1.6 Tb/s 只在 prefill，decode 换入走内存池。S=4096 b10=2272 spill10=0.0% pool10=0.00 b30=17536 spill30=0.0% pool30=0.00 S=8192 b10=2272 spill10=0.0% pool10=0.00 b30=17536 spill30=0.0% pool30=0.00 S=32768 b10=2272 spill10=0.0% pool10=0.00 b30=17536 spill30=0.0% pool30=0.00 S=131072 b10=2272 spill10=0.0% pool10=0.00 b30=9500 spill30=26.1% pool30=22.98 S=262144 b10=2272 spill10=0.0% pool10=0.00 b30=4889 spill30=28.2% pool30=22.97 S=524288 b10=1849 spill10=5.1% pool10=2.96 b30=2485 spill30=29.4% pool30=22.96 S=1048576 b10=926 spill10=5.2% pool10=2.96 b30=1254 spill30=30.0% pool30=22.97 2M 的 10 毫秒批 494，30 毫秒批 664。单条冷 1M 的 TTFT 是 0.299 秒。单条 1M、90% 命中是 0.1489 秒。P:D 按 4K 进、512 出、90% 命中：Prefill 1728.6 请求/秒，10 毫秒 Decode 443.8 请求/秒（1:3.90），30 毫秒 Decode 1141.7 请求/秒（1:1.51）。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GLM-5.3 发布权重    ·    外推到 10T</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同一骨架，只加路由专家</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1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2TB @ 480 GB/s 内存池、一份 128 卡副本    ·    访存与通信取峰值的 80%    ·    权重 FP8，算力 7.50 P</a:t>
            </a:r>
          </a:p>
        </p:txBody>
      </p:sp>
      <p:sp>
        <p:nvSpPr>
          <p:cNvPr id="8" name="TextBox 7"/>
          <p:cNvSpPr txBox="1"/>
          <p:nvPr/>
        </p:nvSpPr>
        <p:spPr>
          <a:xfrm>
            <a:off x="384048" y="822960"/>
            <a:ext cx="11430000" cy="274320"/>
          </a:xfrm>
          <a:prstGeom prst="rect">
            <a:avLst/>
          </a:prstGeom>
          <a:noFill/>
        </p:spPr>
        <p:txBody>
          <a:bodyPr wrap="square" lIns="0" rIns="0" tIns="0" bIns="0" anchor="ctr"/>
          <a:lstStyle/>
          <a:p>
            <a:pPr algn="l">
              <a:spcBef>
                <a:spcPts val="0"/>
              </a:spcBef>
              <a:spcAft>
                <a:spcPts val="0"/>
              </a:spcAft>
            </a:pPr>
            <a:r>
              <a:rPr sz="1400" b="0">
                <a:solidFill>
                  <a:srgbClr val="1C242E"/>
                </a:solidFill>
                <a:latin typeface="Microsoft YaHei"/>
                <a:ea typeface="Microsoft YaHei"/>
                <a:cs typeface="Microsoft YaHei"/>
              </a:rPr>
              <a:t>最新发布权重是 GLM-5.3，架构与 GLM-5.2 相同。官方口径 744B / 40B。10T 冻结层数、宽度和 top-8，只加路由专家。</a:t>
            </a:r>
          </a:p>
        </p:txBody>
      </p:sp>
      <p:graphicFrame>
        <p:nvGraphicFramePr>
          <p:cNvPr id="9" name="Table 8"/>
          <p:cNvGraphicFramePr>
            <a:graphicFrameLocks noGrp="1"/>
          </p:cNvGraphicFramePr>
          <p:nvPr/>
        </p:nvGraphicFramePr>
        <p:xfrm>
          <a:off x="384048" y="1115568"/>
          <a:ext cx="11430000" cy="3566160"/>
        </p:xfrm>
        <a:graphic>
          <a:graphicData uri="http://schemas.openxmlformats.org/drawingml/2006/table">
            <a:tbl>
              <a:tblPr firstRow="1"/>
              <a:tblGrid>
                <a:gridCol w="2148840"/>
                <a:gridCol w="2606040"/>
                <a:gridCol w="2240280"/>
                <a:gridCol w="4434840"/>
              </a:tblGrid>
              <a:tr h="274320">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项目</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GLM-5.3 发布权重</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10T 外推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备注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回推总参数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7.433×10^11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1.000×10^13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不含 MTP。官方 744B，差额是 MTP 与舍入</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路由专家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256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3526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×13.8。增量只记在专家个数上</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 token 仍是 8 个路由专家 + 1 个共享</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激活比</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5.28%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专家表变大，单 token 激活不变</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FP8 专家表</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0.725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9.983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单专家全层 2.831 GB。发布精度是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层 / 隐藏 / 中间维</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 6144 / 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前 3 层稠密，后 75 层 MoE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MLA-256，DSA top-2048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层有 indexer，每 4 层共享一次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1.106×10^7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 3 × 6144 × 75，与专家总数无关</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47700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78×576 + 21×132，按 FP8 布局</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0" name="Rounded Rectangle 9"/>
          <p:cNvSpPr/>
          <p:nvPr/>
        </p:nvSpPr>
        <p:spPr>
          <a:xfrm>
            <a:off x="384048" y="4828032"/>
            <a:ext cx="11430000" cy="1444752"/>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4882896"/>
            <a:ext cx="11137392" cy="1335024"/>
          </a:xfrm>
          <a:prstGeom prst="rect">
            <a:avLst/>
          </a:prstGeom>
          <a:noFill/>
        </p:spPr>
        <p:txBody>
          <a:bodyPr wrap="square" lIns="0" rIns="0" tIns="0" bIns="0" anchor="ctr"/>
          <a:lstStyle/>
          <a:p>
            <a:pPr algn="l">
              <a:spcBef>
                <a:spcPts val="0"/>
              </a:spcBef>
              <a:spcAft>
                <a:spcPts val="0"/>
              </a:spcAft>
            </a:pPr>
            <a:r>
              <a:rPr sz="1300" b="0">
                <a:solidFill>
                  <a:srgbClr val="7A541C"/>
                </a:solidFill>
                <a:latin typeface="Microsoft YaHei"/>
                <a:ea typeface="Microsoft YaHei"/>
                <a:cs typeface="Microsoft YaHei"/>
              </a:rPr>
              <a:t>外推式：总参数 = 专家数 × 2.831×10^9 + 1.848×10^10。单个专家 = 3 × 6144 × 2048 × 75。</a:t>
            </a:r>
          </a:p>
          <a:p>
            <a:pPr algn="l">
              <a:spcBef>
                <a:spcPts val="0"/>
              </a:spcBef>
              <a:spcAft>
                <a:spcPts val="0"/>
              </a:spcAft>
            </a:pPr>
            <a:r>
              <a:rPr sz="1300" b="0">
                <a:solidFill>
                  <a:srgbClr val="7A541C"/>
                </a:solidFill>
                <a:latin typeface="Microsoft YaHei"/>
                <a:ea typeface="Microsoft YaHei"/>
                <a:cs typeface="Microsoft YaHei"/>
              </a:rPr>
              <a:t>N+2 @ 2TB @ 480 GB/s 内存池：发布权重是 FP8，GEMM 用 7.50 P，即 15 P FP4 的一半。HBM 432 GB，14.4 TB/s 取 80% 为 11.52 TB/s。H2D 每卡 1.6 Tb/s 取 80% 为 160 GB/s，只在 prefill。机内 DDR5 每机 1.6 TB/s、1.3 TB。</a:t>
            </a:r>
          </a:p>
          <a:p>
            <a:pPr algn="l">
              <a:spcBef>
                <a:spcPts val="0"/>
              </a:spcBef>
              <a:spcAft>
                <a:spcPts val="0"/>
              </a:spcAft>
            </a:pPr>
            <a:r>
              <a:rPr sz="1300" b="0">
                <a:solidFill>
                  <a:srgbClr val="7A541C"/>
                </a:solidFill>
                <a:latin typeface="Microsoft YaHei"/>
                <a:ea typeface="Microsoft YaHei"/>
                <a:cs typeface="Microsoft YaHei"/>
              </a:rPr>
              <a:t>D2D 每卡 1.2 TB/s 取 80% 为 0.96 TB/s，专家通信走这里。内存池每卡 480 GB/s 取 80% 为 384 GB/s，容量不设上限，供 decode 换入。8 卡 P2P 与参数面都是 800 Gb/s，取 80% 为 80 GB/s。超节点 128 卡，机内 8 卡 fullmesh。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秒对应的最大输入是 7.20×10^6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2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2TB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一条请求放在一个 128 卡副本上。计算 9.97 秒，读权重 7.22 毫秒，送 KV 33.56 毫秒。S² 占 9.30 秒，线性项占 0.67 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graphicFrame>
        <p:nvGraphicFramePr>
          <p:cNvPr id="11" name="Table 10"/>
          <p:cNvGraphicFramePr>
            <a:graphicFrameLocks noGrp="1"/>
          </p:cNvGraphicFramePr>
          <p:nvPr/>
        </p:nvGraphicFramePr>
        <p:xfrm>
          <a:off x="384048" y="1591056"/>
          <a:ext cx="11430000" cy="2157984"/>
        </p:xfrm>
        <a:graphic>
          <a:graphicData uri="http://schemas.openxmlformats.org/drawingml/2006/table">
            <a:tbl>
              <a:tblPr firstRow="1"/>
              <a:tblGrid>
                <a:gridCol w="1417320"/>
                <a:gridCol w="4937760"/>
                <a:gridCol w="507492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机内 TP=8</a:t>
                      </a:r>
                    </a:p>
                    <a:p>
                      <a:pPr algn="l">
                        <a:spcBef>
                          <a:spcPts val="0"/>
                        </a:spcBef>
                        <a:spcAft>
                          <a:spcPts val="0"/>
                        </a:spcAft>
                        <a:lnSpc>
                          <a:spcPct val="100000"/>
                        </a:lnSpc>
                      </a:pPr>
                      <a:r>
                        <a:rPr sz="1200" b="0">
                          <a:solidFill>
                            <a:srgbClr val="1C242E"/>
                          </a:solidFill>
                          <a:latin typeface="Microsoft YaHei"/>
                          <a:ea typeface="Microsoft YaHei"/>
                          <a:cs typeface="Microsoft YaHei"/>
                        </a:rPr>
                        <a:t>16 台机器做 DP=16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超节点 EP=128</a:t>
                      </a:r>
                    </a:p>
                    <a:p>
                      <a:pPr algn="l">
                        <a:spcBef>
                          <a:spcPts val="0"/>
                        </a:spcBef>
                        <a:spcAft>
                          <a:spcPts val="0"/>
                        </a:spcAft>
                        <a:lnSpc>
                          <a:spcPct val="100000"/>
                        </a:lnSpc>
                      </a:pPr>
                      <a:r>
                        <a:rPr sz="1200" b="0">
                          <a:solidFill>
                            <a:srgbClr val="1C242E"/>
                          </a:solidFill>
                          <a:latin typeface="Microsoft YaHei"/>
                          <a:ea typeface="Microsoft YaHei"/>
                          <a:cs typeface="Microsoft YaHei"/>
                        </a:rPr>
                        <a:t>一份模型铺满 128 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12064">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通信域</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卡 fullmesh</a:t>
                      </a:r>
                    </a:p>
                    <a:p>
                      <a:pPr algn="l">
                        <a:spcBef>
                          <a:spcPts val="0"/>
                        </a:spcBef>
                        <a:spcAft>
                          <a:spcPts val="0"/>
                        </a:spcAft>
                        <a:lnSpc>
                          <a:spcPct val="100000"/>
                        </a:lnSpc>
                      </a:pPr>
                      <a:r>
                        <a:rPr sz="1200" b="0">
                          <a:solidFill>
                            <a:srgbClr val="1C242E"/>
                          </a:solidFill>
                          <a:latin typeface="Microsoft YaHei"/>
                          <a:ea typeface="Microsoft YaHei"/>
                          <a:cs typeface="Microsoft YaHei"/>
                        </a:rPr>
                        <a:t>有效 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128 卡 D2D，有效 0.96 TB/s</a:t>
                      </a:r>
                    </a:p>
                    <a:p>
                      <a:pPr algn="l">
                        <a:spcBef>
                          <a:spcPts val="0"/>
                        </a:spcBef>
                        <a:spcAft>
                          <a:spcPts val="0"/>
                        </a:spcAft>
                        <a:lnSpc>
                          <a:spcPct val="100000"/>
                        </a:lnSpc>
                      </a:pPr>
                      <a:r>
                        <a:rPr sz="1200" b="0">
                          <a:solidFill>
                            <a:srgbClr val="1C242E"/>
                          </a:solidFill>
                          <a:latin typeface="Microsoft YaHei"/>
                          <a:ea typeface="Microsoft YaHei"/>
                          <a:cs typeface="Microsoft YaHei"/>
                        </a:rPr>
                        <a:t>KV 走参数面，有效 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每卡权重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 13.07 GB / 8</a:t>
                      </a:r>
                    </a:p>
                    <a:p>
                      <a:pPr algn="l">
                        <a:spcBef>
                          <a:spcPts val="0"/>
                        </a:spcBef>
                        <a:spcAft>
                          <a:spcPts val="0"/>
                        </a:spcAft>
                        <a:lnSpc>
                          <a:spcPct val="100000"/>
                        </a:lnSpc>
                      </a:pPr>
                      <a:r>
                        <a:rPr sz="1200" b="0">
                          <a:solidFill>
                            <a:srgbClr val="1C242E"/>
                          </a:solidFill>
                          <a:latin typeface="Microsoft YaHei"/>
                          <a:ea typeface="Microsoft YaHei"/>
                          <a:cs typeface="Microsoft YaHei"/>
                        </a:rPr>
                        <a:t>= 1.63 GB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路由专家 27.5 个，78.0 GB FP8</a:t>
                      </a:r>
                    </a:p>
                    <a:p>
                      <a:pPr algn="l">
                        <a:spcBef>
                          <a:spcPts val="0"/>
                        </a:spcBef>
                        <a:spcAft>
                          <a:spcPts val="0"/>
                        </a:spcAft>
                        <a:lnSpc>
                          <a:spcPct val="100000"/>
                        </a:lnSpc>
                      </a:pPr>
                      <a:r>
                        <a:rPr sz="1200" b="0">
                          <a:solidFill>
                            <a:srgbClr val="1C242E"/>
                          </a:solidFill>
                          <a:latin typeface="Microsoft YaHei"/>
                          <a:ea typeface="Microsoft YaHei"/>
                          <a:cs typeface="Microsoft YaHei"/>
                        </a:rPr>
                        <a:t>共享专家 2.83 GB，每卡一份</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本阶段角色</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S² 只来自 21 层 indexer</a:t>
                      </a:r>
                    </a:p>
                    <a:p>
                      <a:pPr algn="l">
                        <a:spcBef>
                          <a:spcPts val="0"/>
                        </a:spcBef>
                        <a:spcAft>
                          <a:spcPts val="0"/>
                        </a:spcAft>
                        <a:lnSpc>
                          <a:spcPct val="100000"/>
                        </a:lnSpc>
                      </a:pPr>
                      <a:r>
                        <a:rPr sz="1200" b="0">
                          <a:solidFill>
                            <a:srgbClr val="1C242E"/>
                          </a:solidFill>
                          <a:latin typeface="Microsoft YaHei"/>
                          <a:ea typeface="Microsoft YaHei"/>
                          <a:cs typeface="Microsoft YaHei"/>
                        </a:rPr>
                        <a:t>决定输入能写多长</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 GEMM 随 token 线性</a:t>
                      </a:r>
                    </a:p>
                    <a:p>
                      <a:pPr algn="l">
                        <a:spcBef>
                          <a:spcPts val="0"/>
                        </a:spcBef>
                        <a:spcAft>
                          <a:spcPts val="0"/>
                        </a:spcAft>
                        <a:lnSpc>
                          <a:spcPct val="100000"/>
                        </a:lnSpc>
                      </a:pPr>
                      <a:r>
                        <a:rPr sz="1200" b="0">
                          <a:solidFill>
                            <a:srgbClr val="1C242E"/>
                          </a:solidFill>
                          <a:latin typeface="Microsoft YaHei"/>
                          <a:ea typeface="Microsoft YaHei"/>
                          <a:cs typeface="Microsoft YaHei"/>
                        </a:rPr>
                        <a:t>到这个长度约占 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95344"/>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秒怎么落到这个输入长度</a:t>
            </a:r>
          </a:p>
        </p:txBody>
      </p:sp>
      <p:graphicFrame>
        <p:nvGraphicFramePr>
          <p:cNvPr id="13" name="Table 12"/>
          <p:cNvGraphicFramePr>
            <a:graphicFrameLocks noGrp="1"/>
          </p:cNvGraphicFramePr>
          <p:nvPr/>
        </p:nvGraphicFramePr>
        <p:xfrm>
          <a:off x="384048" y="4206240"/>
          <a:ext cx="11430000" cy="1828800"/>
        </p:xfrm>
        <a:graphic>
          <a:graphicData uri="http://schemas.openxmlformats.org/drawingml/2006/table">
            <a:tbl>
              <a:tblPr firstRow="1"/>
              <a:tblGrid>
                <a:gridCol w="1554480"/>
                <a:gridCol w="6903720"/>
                <a:gridCol w="297180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这一笔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S = 7.20×10^6 时</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indexer</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 × 8192 × S²，除以 128 × 7.50×10^15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9.30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稀疏 MLA</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层，每个 token 看 2048 条 latent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0.08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 GEMM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 个专家 × 2.831×10^9 × 2 × S，除以同一批卡的 FP8 算力</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投影 + 稠密</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注意力投影，加前 3 层稠密 MLP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读权重 + 送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每卡 83.13 GB / 11.52 TB/s；KV 343.6 GB / (128×80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7.22 毫秒 + 33.56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合计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计算和读权重取长的一项，再加送 KV。机内 allreduce 记在下一页</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    ·    KV 命中 90%</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4K 的 prefill 全局批是 17286，1M 是 67</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3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2TB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多条同时进同一份 128 卡副本。命中 90% 的 KV 走参数面，只现算 10%。注意力侧取 allreduce，再加 D2D 上的专家通信。</a:t>
            </a:r>
          </a:p>
        </p:txBody>
      </p:sp>
      <p:sp>
        <p:nvSpPr>
          <p:cNvPr id="10" name="TextBox 9"/>
          <p:cNvSpPr txBox="1"/>
          <p:nvPr/>
        </p:nvSpPr>
        <p:spPr>
          <a:xfrm>
            <a:off x="384048" y="1316736"/>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秒在两个端点上怎么加完</a:t>
            </a:r>
          </a:p>
        </p:txBody>
      </p:sp>
      <p:graphicFrame>
        <p:nvGraphicFramePr>
          <p:cNvPr id="11" name="Table 10"/>
          <p:cNvGraphicFramePr>
            <a:graphicFrameLocks noGrp="1"/>
          </p:cNvGraphicFramePr>
          <p:nvPr/>
        </p:nvGraphicFramePr>
        <p:xfrm>
          <a:off x="384048" y="1536192"/>
          <a:ext cx="11430000" cy="2157984"/>
        </p:xfrm>
        <a:graphic>
          <a:graphicData uri="http://schemas.openxmlformats.org/drawingml/2006/table">
            <a:tbl>
              <a:tblPr firstRow="1"/>
              <a:tblGrid>
                <a:gridCol w="1554480"/>
                <a:gridCol w="4709160"/>
                <a:gridCol w="2606040"/>
                <a:gridCol w="2560320"/>
              </a:tblGrid>
              <a:tr h="23774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4K，全局批 17286</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1M，全局批 67</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现算 token</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批 × 输入 × 0.1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7.03×10^6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 allreduce</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每组现算 token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9.28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9.21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indexer、2048 条稀疏 MLA、投影</a:t>
                      </a:r>
                    </a:p>
                    <a:p>
                      <a:pPr algn="l">
                        <a:spcBef>
                          <a:spcPts val="0"/>
                        </a:spcBef>
                        <a:spcAft>
                          <a:spcPts val="0"/>
                        </a:spcAft>
                        <a:lnSpc>
                          <a:spcPct val="100000"/>
                        </a:lnSpc>
                      </a:pPr>
                      <a:r>
                        <a:rPr sz="1200" b="0">
                          <a:solidFill>
                            <a:srgbClr val="1C242E"/>
                          </a:solidFill>
                          <a:latin typeface="Microsoft YaHei"/>
                          <a:ea typeface="Microsoft YaHei"/>
                          <a:cs typeface="Microsoft YaHei"/>
                        </a:rPr>
                        <a:t>除以 FP8 的 7.50 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BF16 combine</a:t>
                      </a:r>
                    </a:p>
                    <a:p>
                      <a:pPr algn="l">
                        <a:spcBef>
                          <a:spcPts val="0"/>
                        </a:spcBef>
                        <a:spcAft>
                          <a:spcPts val="0"/>
                        </a:spcAft>
                        <a:lnSpc>
                          <a:spcPct val="100000"/>
                        </a:lnSpc>
                      </a:pPr>
                      <a:r>
                        <a:rPr sz="1200" b="0">
                          <a:solidFill>
                            <a:srgbClr val="1C242E"/>
                          </a:solidFill>
                          <a:latin typeface="Microsoft YaHei"/>
                          <a:ea typeface="Microsoft YaHei"/>
                          <a:cs typeface="Microsoft YaHei"/>
                        </a:rPr>
                        <a:t>除以每卡 0.96 TB/s 的 D2D</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9260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注意力侧取 allreduce，专家侧取 EP，再加参数面读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9.92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22191"/>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同一条 10 秒，输入从 4K 到 1M</a:t>
            </a:r>
          </a:p>
        </p:txBody>
      </p:sp>
      <p:graphicFrame>
        <p:nvGraphicFramePr>
          <p:cNvPr id="13" name="Table 12"/>
          <p:cNvGraphicFramePr>
            <a:graphicFrameLocks noGrp="1"/>
          </p:cNvGraphicFramePr>
          <p:nvPr/>
        </p:nvGraphicFramePr>
        <p:xfrm>
          <a:off x="384048" y="4114800"/>
          <a:ext cx="11430000" cy="1755648"/>
        </p:xfrm>
        <a:graphic>
          <a:graphicData uri="http://schemas.openxmlformats.org/drawingml/2006/table">
            <a:tbl>
              <a:tblPr firstRow="1"/>
              <a:tblGrid>
                <a:gridCol w="960120"/>
                <a:gridCol w="1417320"/>
                <a:gridCol w="868680"/>
                <a:gridCol w="1554480"/>
                <a:gridCol w="1417320"/>
                <a:gridCol w="1417320"/>
                <a:gridCol w="1691640"/>
                <a:gridCol w="2103120"/>
              </a:tblGrid>
              <a:tr h="219456">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10 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现算 token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allreduce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专家通信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注意力计算</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读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17286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135.0</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7.08×10^6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9.28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0.42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0.28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297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8643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67.5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2160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16.9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9.27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540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4.2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9.27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0.44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9.27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0.60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9.27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0.42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0.93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67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0.52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7.03×10^6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9.21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0.42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1.59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295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TextBox 13"/>
          <p:cNvSpPr txBox="1"/>
          <p:nvPr/>
        </p:nvSpPr>
        <p:spPr>
          <a:xfrm>
            <a:off x="384048" y="6089904"/>
            <a:ext cx="11430000" cy="256032"/>
          </a:xfrm>
          <a:prstGeom prst="rect">
            <a:avLst/>
          </a:prstGeom>
          <a:noFill/>
        </p:spPr>
        <p:txBody>
          <a:bodyPr wrap="square" lIns="0" rIns="0" tIns="0" bIns="0" anchor="ctr"/>
          <a:lstStyle/>
          <a:p>
            <a:pPr algn="l">
              <a:spcBef>
                <a:spcPts val="0"/>
              </a:spcBef>
              <a:spcAft>
                <a:spcPts val="0"/>
              </a:spcAft>
            </a:pPr>
            <a:r>
              <a:rPr sz="1300" b="0">
                <a:solidFill>
                  <a:srgbClr val="5A636E"/>
                </a:solidFill>
                <a:latin typeface="Microsoft YaHei"/>
                <a:ea typeface="Microsoft YaHei"/>
                <a:cs typeface="Microsoft YaHei"/>
              </a:rPr>
              <a:t>这些批的 KV 都放得进 HBM：4K 能放 22.5 万 条，1M 能放 877 条。参数面读命中 KV 约 297 毫秒。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10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毫秒、短输入，全局批 2272</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4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2TB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整卡专家 7.02 毫秒，机内 allreduce 2.98 毫秒。专家 GEMM 0.37 毫秒，D2D 上的 EP 0.14 毫秒。</a:t>
            </a:r>
          </a:p>
        </p:txBody>
      </p:sp>
      <p:sp>
        <p:nvSpPr>
          <p:cNvPr id="10" name="TextBox 9"/>
          <p:cNvSpPr txBox="1"/>
          <p:nvPr/>
        </p:nvSpPr>
        <p:spPr>
          <a:xfrm>
            <a:off x="384048" y="1335024"/>
            <a:ext cx="548640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短输入（4K）这一步怎么加到 10 毫秒</a:t>
            </a:r>
          </a:p>
        </p:txBody>
      </p:sp>
      <p:graphicFrame>
        <p:nvGraphicFramePr>
          <p:cNvPr id="12" name="Table 11"/>
          <p:cNvGraphicFramePr>
            <a:graphicFrameLocks noGrp="1"/>
          </p:cNvGraphicFramePr>
          <p:nvPr/>
        </p:nvGraphicFramePr>
        <p:xfrm>
          <a:off x="384048" y="1627632"/>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TP=8，DP=16</a:t>
                      </a:r>
                    </a:p>
                    <a:p>
                      <a:pPr algn="l">
                        <a:spcBef>
                          <a:spcPts val="0"/>
                        </a:spcBef>
                        <a:spcAft>
                          <a:spcPts val="0"/>
                        </a:spcAft>
                        <a:lnSpc>
                          <a:spcPct val="100000"/>
                        </a:lnSpc>
                      </a:pPr>
                      <a:r>
                        <a:rPr sz="1200" b="0">
                          <a:solidFill>
                            <a:srgbClr val="1C242E"/>
                          </a:solidFill>
                          <a:latin typeface="Microsoft YaHei"/>
                          <a:ea typeface="Microsoft YaHei"/>
                          <a:cs typeface="Microsoft YaHei"/>
                        </a:rPr>
                        <a:t>每组 token 数 = ⌈BS / 16⌉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每层机内 allreduce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BF16 combine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0.14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注意力权重 1.63 GB</a:t>
                      </a:r>
                    </a:p>
                    <a:p>
                      <a:pPr algn="l">
                        <a:spcBef>
                          <a:spcPts val="0"/>
                        </a:spcBef>
                        <a:spcAft>
                          <a:spcPts val="0"/>
                        </a:spcAft>
                        <a:lnSpc>
                          <a:spcPct val="100000"/>
                        </a:lnSpc>
                      </a:pPr>
                      <a:r>
                        <a:rPr sz="1200" b="1">
                          <a:solidFill>
                            <a:srgbClr val="0E7A76"/>
                          </a:solidFill>
                          <a:latin typeface="Microsoft YaHei"/>
                          <a:ea typeface="Microsoft YaHei"/>
                          <a:cs typeface="Microsoft YaHei"/>
                        </a:rPr>
                        <a:t>这一步 0.14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27.5 个专家这一步 7.02 毫秒</a:t>
                      </a:r>
                    </a:p>
                    <a:p>
                      <a:pPr algn="l">
                        <a:spcBef>
                          <a:spcPts val="0"/>
                        </a:spcBef>
                        <a:spcAft>
                          <a:spcPts val="0"/>
                        </a:spcAft>
                        <a:lnSpc>
                          <a:spcPct val="100000"/>
                        </a:lnSpc>
                      </a:pPr>
                      <a:r>
                        <a:rPr sz="1200" b="1">
                          <a:solidFill>
                            <a:srgbClr val="0E7A76"/>
                          </a:solidFill>
                          <a:latin typeface="Microsoft YaHei"/>
                          <a:ea typeface="Microsoft YaHei"/>
                          <a:cs typeface="Microsoft YaHei"/>
                        </a:rPr>
                        <a:t>整张本地表都读到</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行数 = ⌈BS / 16⌉</a:t>
                      </a:r>
                    </a:p>
                    <a:p>
                      <a:pPr algn="l">
                        <a:spcBef>
                          <a:spcPts val="0"/>
                        </a:spcBef>
                        <a:spcAft>
                          <a:spcPts val="0"/>
                        </a:spcAft>
                        <a:lnSpc>
                          <a:spcPct val="100000"/>
                        </a:lnSpc>
                      </a:pPr>
                      <a:r>
                        <a:rPr sz="1200" b="0">
                          <a:solidFill>
                            <a:srgbClr val="1C242E"/>
                          </a:solidFill>
                          <a:latin typeface="Microsoft YaHei"/>
                          <a:ea typeface="Microsoft YaHei"/>
                          <a:cs typeface="Microsoft YaHei"/>
                        </a:rPr>
                        <a:t>按 16 行砖对齐</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5.2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32%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627632"/>
          <a:ext cx="5349240" cy="2816352"/>
        </p:xfrm>
        <a:graphic>
          <a:graphicData uri="http://schemas.openxmlformats.org/drawingml/2006/table">
            <a:tbl>
              <a:tblPr firstRow="1"/>
              <a:tblGrid>
                <a:gridCol w="1097280"/>
                <a:gridCol w="320040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9377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命中</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1 − exp(−8×2272 / 3526) = 99%</a:t>
                      </a:r>
                    </a:p>
                    <a:p>
                      <a:pPr algn="l">
                        <a:spcBef>
                          <a:spcPts val="0"/>
                        </a:spcBef>
                        <a:spcAft>
                          <a:spcPts val="0"/>
                        </a:spcAft>
                        <a:lnSpc>
                          <a:spcPct val="100000"/>
                        </a:lnSpc>
                      </a:pPr>
                      <a:r>
                        <a:rPr sz="1200" b="0">
                          <a:solidFill>
                            <a:srgbClr val="1C242E"/>
                          </a:solidFill>
                          <a:latin typeface="Microsoft YaHei"/>
                          <a:ea typeface="Microsoft YaHei"/>
                          <a:cs typeface="Microsoft YaHei"/>
                        </a:rPr>
                        <a:t>最忙卡按均值 + 2σ，顶到 27.5 个</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80.82 GB（路由 + 共享）</a:t>
                      </a:r>
                    </a:p>
                    <a:p>
                      <a:pPr algn="l">
                        <a:spcBef>
                          <a:spcPts val="0"/>
                        </a:spcBef>
                        <a:spcAft>
                          <a:spcPts val="0"/>
                        </a:spcAft>
                        <a:lnSpc>
                          <a:spcPct val="100000"/>
                        </a:lnSpc>
                      </a:pPr>
                      <a:r>
                        <a:rPr sz="1200" b="1">
                          <a:solidFill>
                            <a:srgbClr val="0E7A76"/>
                          </a:solidFill>
                          <a:latin typeface="Microsoft YaHei"/>
                          <a:ea typeface="Microsoft YaHei"/>
                          <a:cs typeface="Microsoft YaHei"/>
                        </a:rPr>
                        <a:t>除以 11.52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7.02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142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5.2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32%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最忙卡送出的 BF16 combine / 0.96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0.14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4747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2.98，专家侧 7.02</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256K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2272</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17.8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512K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1849</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14.4 条</a:t>
            </a:r>
          </a:p>
          <a:p>
            <a:pPr algn="l">
              <a:spcBef>
                <a:spcPts val="0"/>
              </a:spcBef>
              <a:spcAft>
                <a:spcPts val="0"/>
              </a:spcAft>
            </a:pPr>
            <a:r>
              <a:rPr sz="1300" b="0">
                <a:solidFill>
                  <a:srgbClr val="1C242E"/>
                </a:solidFill>
                <a:latin typeface="Microsoft YaHei"/>
                <a:ea typeface="Microsoft YaHei"/>
                <a:cs typeface="Microsoft YaHei"/>
              </a:rPr>
              <a:t>5.1% 在总线内存池</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926</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7.2 条</a:t>
            </a:r>
          </a:p>
          <a:p>
            <a:pPr algn="l">
              <a:spcBef>
                <a:spcPts val="0"/>
              </a:spcBef>
              <a:spcAft>
                <a:spcPts val="0"/>
              </a:spcAft>
            </a:pPr>
            <a:r>
              <a:rPr sz="1300" b="0">
                <a:solidFill>
                  <a:srgbClr val="1C242E"/>
                </a:solidFill>
                <a:latin typeface="Microsoft YaHei"/>
                <a:ea typeface="Microsoft YaHei"/>
                <a:cs typeface="Microsoft YaHei"/>
              </a:rPr>
              <a:t>5.2% 在总线内存池</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7.20×10^6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144</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1.1 条</a:t>
            </a:r>
          </a:p>
          <a:p>
            <a:pPr algn="l">
              <a:spcBef>
                <a:spcPts val="0"/>
              </a:spcBef>
              <a:spcAft>
                <a:spcPts val="0"/>
              </a:spcAft>
            </a:pPr>
            <a:r>
              <a:rPr sz="1300" b="0">
                <a:solidFill>
                  <a:srgbClr val="1C242E"/>
                </a:solidFill>
                <a:latin typeface="Microsoft YaHei"/>
                <a:ea typeface="Microsoft YaHei"/>
                <a:cs typeface="Microsoft YaHei"/>
              </a:rPr>
              <a:t>11.3% 在总线内存池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30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30 毫秒、短输入，全局批 17536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5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2TB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专家整卡读完 7.02 毫秒，机内 allreduce 22.98 毫秒。D2D 上的 EP 1.05 毫秒。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    ·    和 10 毫秒同一份切分</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短输入、全局批 17536，这一步怎么加</a:t>
            </a:r>
          </a:p>
        </p:txBody>
      </p:sp>
      <p:graphicFrame>
        <p:nvGraphicFramePr>
          <p:cNvPr id="12" name="Table 11"/>
          <p:cNvGraphicFramePr>
            <a:graphicFrameLocks noGrp="1"/>
          </p:cNvGraphicFramePr>
          <p:nvPr/>
        </p:nvGraphicFramePr>
        <p:xfrm>
          <a:off x="384048" y="1627632"/>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TP=8，DP=16</a:t>
                      </a:r>
                    </a:p>
                    <a:p>
                      <a:pPr algn="l">
                        <a:spcBef>
                          <a:spcPts val="0"/>
                        </a:spcBef>
                        <a:spcAft>
                          <a:spcPts val="0"/>
                        </a:spcAft>
                        <a:lnSpc>
                          <a:spcPct val="100000"/>
                        </a:lnSpc>
                      </a:pPr>
                      <a:r>
                        <a:rPr sz="1200" b="0">
                          <a:solidFill>
                            <a:srgbClr val="1C242E"/>
                          </a:solidFill>
                          <a:latin typeface="Microsoft YaHei"/>
                          <a:ea typeface="Microsoft YaHei"/>
                          <a:cs typeface="Microsoft YaHei"/>
                        </a:rPr>
                        <a:t>17536 / 16 = 1096 条 / 组</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个专家全醒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allreduce 随批线性涨</a:t>
                      </a:r>
                    </a:p>
                    <a:p>
                      <a:pPr algn="l">
                        <a:spcBef>
                          <a:spcPts val="0"/>
                        </a:spcBef>
                        <a:spcAft>
                          <a:spcPts val="0"/>
                        </a:spcAft>
                        <a:lnSpc>
                          <a:spcPct val="100000"/>
                        </a:lnSpc>
                      </a:pPr>
                      <a:r>
                        <a:rPr sz="1200" b="1">
                          <a:solidFill>
                            <a:srgbClr val="0E7A76"/>
                          </a:solidFill>
                          <a:latin typeface="Microsoft YaHei"/>
                          <a:ea typeface="Microsoft YaHei"/>
                          <a:cs typeface="Microsoft YaHei"/>
                        </a:rPr>
                        <a:t>这一档是注意力侧最长</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combine 走 0.96 TB/s</a:t>
                      </a:r>
                    </a:p>
                    <a:p>
                      <a:pPr algn="l">
                        <a:spcBef>
                          <a:spcPts val="0"/>
                        </a:spcBef>
                        <a:spcAft>
                          <a:spcPts val="0"/>
                        </a:spcAft>
                        <a:lnSpc>
                          <a:spcPct val="100000"/>
                        </a:lnSpc>
                      </a:pPr>
                      <a:r>
                        <a:rPr sz="1200" b="1">
                          <a:solidFill>
                            <a:srgbClr val="0E7A76"/>
                          </a:solidFill>
                          <a:latin typeface="Microsoft YaHei"/>
                          <a:ea typeface="Microsoft YaHei"/>
                          <a:cs typeface="Microsoft YaHei"/>
                        </a:rPr>
                        <a:t>1.05 毫秒，短于读权重</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短输入全在 HBM</a:t>
                      </a:r>
                    </a:p>
                    <a:p>
                      <a:pPr algn="l">
                        <a:spcBef>
                          <a:spcPts val="0"/>
                        </a:spcBef>
                        <a:spcAft>
                          <a:spcPts val="0"/>
                        </a:spcAft>
                        <a:lnSpc>
                          <a:spcPct val="100000"/>
                        </a:lnSpc>
                      </a:pPr>
                      <a:r>
                        <a:rPr sz="1200" b="0">
                          <a:solidFill>
                            <a:srgbClr val="1C242E"/>
                          </a:solidFill>
                          <a:latin typeface="Microsoft YaHei"/>
                          <a:ea typeface="Microsoft YaHei"/>
                          <a:cs typeface="Microsoft YaHei"/>
                        </a:rPr>
                        <a:t>放不下走每卡内存池 384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78.0 GB 路由 + 2.83 GB 共享</a:t>
                      </a:r>
                    </a:p>
                    <a:p>
                      <a:pPr algn="l">
                        <a:spcBef>
                          <a:spcPts val="0"/>
                        </a:spcBef>
                        <a:spcAft>
                          <a:spcPts val="0"/>
                        </a:spcAft>
                        <a:lnSpc>
                          <a:spcPct val="100000"/>
                        </a:lnSpc>
                      </a:pPr>
                      <a:r>
                        <a:rPr sz="1200" b="0">
                          <a:solidFill>
                            <a:srgbClr val="1C242E"/>
                          </a:solidFill>
                          <a:latin typeface="Microsoft YaHei"/>
                          <a:ea typeface="Microsoft YaHei"/>
                          <a:cs typeface="Microsoft YaHei"/>
                        </a:rPr>
                        <a:t>/ 11.52 TB/s = 7.02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注意力计算 0.69 毫秒</a:t>
                      </a:r>
                    </a:p>
                    <a:p>
                      <a:pPr algn="l">
                        <a:spcBef>
                          <a:spcPts val="0"/>
                        </a:spcBef>
                        <a:spcAft>
                          <a:spcPts val="0"/>
                        </a:spcAft>
                        <a:lnSpc>
                          <a:spcPct val="100000"/>
                        </a:lnSpc>
                      </a:pPr>
                      <a:r>
                        <a:rPr sz="1200" b="0">
                          <a:solidFill>
                            <a:srgbClr val="1C242E"/>
                          </a:solidFill>
                          <a:latin typeface="Microsoft YaHei"/>
                          <a:ea typeface="Microsoft YaHei"/>
                          <a:cs typeface="Microsoft YaHei"/>
                        </a:rPr>
                        <a:t>短于 allreduce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每专家约 39.8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83%，1.12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627632"/>
          <a:ext cx="5349240" cy="2761488"/>
        </p:xfrm>
        <a:graphic>
          <a:graphicData uri="http://schemas.openxmlformats.org/drawingml/2006/table">
            <a:tbl>
              <a:tblPr firstRow="1"/>
              <a:tblGrid>
                <a:gridCol w="1143000"/>
                <a:gridCol w="315468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命中率 100%，27.5 个专家全读</a:t>
                      </a:r>
                    </a:p>
                    <a:p>
                      <a:pPr algn="l">
                        <a:spcBef>
                          <a:spcPts val="0"/>
                        </a:spcBef>
                        <a:spcAft>
                          <a:spcPts val="0"/>
                        </a:spcAft>
                        <a:lnSpc>
                          <a:spcPct val="100000"/>
                        </a:lnSpc>
                      </a:pPr>
                      <a:r>
                        <a:rPr sz="1200" b="1">
                          <a:solidFill>
                            <a:srgbClr val="0E7A76"/>
                          </a:solidFill>
                          <a:latin typeface="Microsoft YaHei"/>
                          <a:ea typeface="Microsoft YaHei"/>
                          <a:cs typeface="Microsoft YaHei"/>
                        </a:rPr>
                        <a:t>80.82 GB / 11.52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7.02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1096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 × 8 / 3526 ≈ 39.8 token / 专家</a:t>
                      </a:r>
                    </a:p>
                    <a:p>
                      <a:pPr algn="l">
                        <a:spcBef>
                          <a:spcPts val="0"/>
                        </a:spcBef>
                        <a:spcAft>
                          <a:spcPts val="0"/>
                        </a:spcAft>
                        <a:lnSpc>
                          <a:spcPct val="100000"/>
                        </a:lnSpc>
                      </a:pPr>
                      <a:r>
                        <a:rPr sz="1200" b="0">
                          <a:solidFill>
                            <a:srgbClr val="1C242E"/>
                          </a:solidFill>
                          <a:latin typeface="Microsoft YaHei"/>
                          <a:ea typeface="Microsoft YaHei"/>
                          <a:cs typeface="Microsoft YaHei"/>
                        </a:rPr>
                        <a:t>对齐效率 83%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combine / 0.96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1.05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短输入的 indexer、稀疏 MLA 和投影</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0.69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22.98，专家侧 7.02</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32K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17536</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137.0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128K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9500</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74.2 条</a:t>
            </a:r>
          </a:p>
          <a:p>
            <a:pPr algn="l">
              <a:spcBef>
                <a:spcPts val="0"/>
              </a:spcBef>
              <a:spcAft>
                <a:spcPts val="0"/>
              </a:spcAft>
            </a:pPr>
            <a:r>
              <a:rPr sz="1300" b="0">
                <a:solidFill>
                  <a:srgbClr val="1C242E"/>
                </a:solidFill>
                <a:latin typeface="Microsoft YaHei"/>
                <a:ea typeface="Microsoft YaHei"/>
                <a:cs typeface="Microsoft YaHei"/>
              </a:rPr>
              <a:t>26.1% 在总线内存池</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1254</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9.8 条</a:t>
            </a:r>
          </a:p>
          <a:p>
            <a:pPr algn="l">
              <a:spcBef>
                <a:spcPts val="0"/>
              </a:spcBef>
              <a:spcAft>
                <a:spcPts val="0"/>
              </a:spcAft>
            </a:pPr>
            <a:r>
              <a:rPr sz="1300" b="0">
                <a:solidFill>
                  <a:srgbClr val="1C242E"/>
                </a:solidFill>
                <a:latin typeface="Microsoft YaHei"/>
                <a:ea typeface="Microsoft YaHei"/>
                <a:cs typeface="Microsoft YaHei"/>
              </a:rPr>
              <a:t>30.0% 在总线内存池</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7.20×10^6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191</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1.5 条</a:t>
            </a:r>
          </a:p>
          <a:p>
            <a:pPr algn="l">
              <a:spcBef>
                <a:spcPts val="0"/>
              </a:spcBef>
              <a:spcAft>
                <a:spcPts val="0"/>
              </a:spcAft>
            </a:pPr>
            <a:r>
              <a:rPr sz="1300" b="0">
                <a:solidFill>
                  <a:srgbClr val="1C242E"/>
                </a:solidFill>
                <a:latin typeface="Microsoft YaHei"/>
                <a:ea typeface="Microsoft YaHei"/>
                <a:cs typeface="Microsoft YaHei"/>
              </a:rPr>
              <a:t>33.1% 在总线内存池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不同输入下的最大全局批</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128K 的 10 毫秒仍是 2272，30 毫秒降到 9500</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6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 2TB @ 480 GB/s 内存池、一份 128 卡副本    ·    访存与通信取峰值的 80%    ·    权重 FP8，算力 7.50 P</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全局批是 128 卡上的条数。放不下的 KV 进每卡总线内存池，480 GB/s 取 80% 为 384 GB/s，容量不设上限。</a:t>
            </a:r>
          </a:p>
        </p:txBody>
      </p:sp>
      <p:graphicFrame>
        <p:nvGraphicFramePr>
          <p:cNvPr id="10" name="Table 9"/>
          <p:cNvGraphicFramePr>
            <a:graphicFrameLocks noGrp="1"/>
          </p:cNvGraphicFramePr>
          <p:nvPr/>
        </p:nvGraphicFramePr>
        <p:xfrm>
          <a:off x="384048" y="1371600"/>
          <a:ext cx="11430000" cy="3017520"/>
        </p:xfrm>
        <a:graphic>
          <a:graphicData uri="http://schemas.openxmlformats.org/drawingml/2006/table">
            <a:tbl>
              <a:tblPr firstRow="1"/>
              <a:tblGrid>
                <a:gridCol w="1051560"/>
                <a:gridCol w="1234440"/>
                <a:gridCol w="1234440"/>
                <a:gridCol w="1554480"/>
                <a:gridCol w="914400"/>
                <a:gridCol w="1600200"/>
                <a:gridCol w="914400"/>
                <a:gridCol w="2926080"/>
              </a:tblGrid>
              <a:tr h="32918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每条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HBM 能放</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毫秒的 KV 放哪</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195.4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22.5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390.8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11.2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1.56 GB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2.81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6.25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7019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9500</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74.2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26.1%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12.50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3509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4889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38.2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28.2%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25.01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1849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14.4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2485</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19.4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29.4%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50.02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877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926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30.0%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1" name="Rounded Rectangle 10"/>
          <p:cNvSpPr/>
          <p:nvPr/>
        </p:nvSpPr>
        <p:spPr>
          <a:xfrm>
            <a:off x="384048" y="4590288"/>
            <a:ext cx="11430000" cy="1682496"/>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645152"/>
            <a:ext cx="11137392" cy="1572768"/>
          </a:xfrm>
          <a:prstGeom prst="rect">
            <a:avLst/>
          </a:prstGeom>
          <a:noFill/>
        </p:spPr>
        <p:txBody>
          <a:bodyPr wrap="square" lIns="0" rIns="0" tIns="0" bIns="0" anchor="ctr"/>
          <a:lstStyle/>
          <a:p>
            <a:pPr algn="l">
              <a:spcBef>
                <a:spcPts val="0"/>
              </a:spcBef>
              <a:spcAft>
                <a:spcPts val="0"/>
              </a:spcAft>
            </a:pPr>
            <a:r>
              <a:rPr sz="1400" b="0">
                <a:solidFill>
                  <a:srgbClr val="7A541C"/>
                </a:solidFill>
                <a:latin typeface="Microsoft YaHei"/>
                <a:ea typeface="Microsoft YaHei"/>
                <a:cs typeface="Microsoft YaHei"/>
              </a:rPr>
              <a:t>10 毫秒在 4K – 256K 都是 2272，全在 HBM。一步是机内 allreduce 2.98 毫秒加读专家 7.02 毫秒。512K 降到 1849（5.1% 在总线内存池）。1M 降到 926，7.20×10^6 降到 144。</a:t>
            </a:r>
          </a:p>
          <a:p>
            <a:pPr algn="l">
              <a:spcBef>
                <a:spcPts val="0"/>
              </a:spcBef>
              <a:spcAft>
                <a:spcPts val="0"/>
              </a:spcAft>
            </a:pPr>
            <a:r>
              <a:rPr sz="1400" b="0">
                <a:solidFill>
                  <a:srgbClr val="7A541C"/>
                </a:solidFill>
                <a:latin typeface="Microsoft YaHei"/>
                <a:ea typeface="Microsoft YaHei"/>
                <a:cs typeface="Microsoft YaHei"/>
              </a:rPr>
              <a:t>30 毫秒在 4K – 32K 仍是 17536，全在 HBM。128K 降到 9500，26.1% 在总线内存池，池上稀疏读绑住这一步。1M 为 1254，7.20×10^6 为 191。</a:t>
            </a:r>
          </a:p>
          <a:p>
            <a:pPr algn="l">
              <a:spcBef>
                <a:spcPts val="0"/>
              </a:spcBef>
              <a:spcAft>
                <a:spcPts val="0"/>
              </a:spcAft>
            </a:pPr>
            <a:r>
              <a:rPr sz="1400" b="0">
                <a:solidFill>
                  <a:srgbClr val="7A541C"/>
                </a:solidFill>
                <a:latin typeface="Microsoft YaHei"/>
                <a:ea typeface="Microsoft YaHei"/>
                <a:cs typeface="Microsoft YaHei"/>
              </a:rPr>
              <a:t>Prefill 的 10 秒全局批在第 3 页：4K 为 17286，1M 为 67。4K 进、512 出、90% 命中时，P:D 在 10 毫秒约 1:3.9，在 30 毫秒约 1:1.5。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10T GLM：N+2 @ 2TB @ 480 GB/s 内存池上的 TTFT / TPOT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