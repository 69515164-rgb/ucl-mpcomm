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这页对照的是拥塞状态的粒度。连接级 CC 包括 TCP、RoCE 按 QP、以及 UB 可靠传输 RTP 按 TP Channel：每条连接一份窗口或速率，确认回到这条连接，只更新这一份。UBC 是简易传输 CTP。hcomm 里 COMM_PROTOCOL_UBC_CTP 与 COMM_PROTOCOL_UB_CTP 是同一个枚举值 4；可靠传输的旧名 UBG 现为 UB_RTP。昇腾 950 架构白皮书 4.6.1：CTP 不支持端到端可靠重传，带宽按 9 个 Port 计，简易传输下也可以多路径；RTP 支持端到端重传，可靠带宽按 4 个 Port 计。术语表：CTP 借助下层协议共同提供可靠和拥塞控制。CTP 拥塞上下文的键是 {DCNA[15:0], VL}。目的 CNA 为 24 位时，索引用的仍是低 16 位。同一目的、同一 VL 上的 CTP 流共用这一份速率。CTP 没有 TPACK。LDCP、CAQM 那种靠传输层确认回传窗口的算法在 RTP 上闭合。CTP 的拥塞信号是交换机 FECN 和接收端独立 CNP，发送端调的是这份共享速率。可靠性由链路层逐跳重传和信用流控承担。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28016"/>
            <a:ext cx="950976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UBC  ·  CTP 拥塞控制    ·    对照连接级 CC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连接各管一份状态，UBC 按目的和虚通道共用一份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46304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1  / 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6565392"/>
            <a:ext cx="11430000" cy="9144"/>
          </a:xfrm>
          <a:prstGeom prst="rect">
            <a:avLst/>
          </a:prstGeom>
          <a:solidFill>
            <a:srgbClr val="D6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583680"/>
            <a:ext cx="1143000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UBC 即 UB_CTP    ·    连接级指 TCP、RoCE 的 QP、UB 的 RTP    ·    CTP 上下文键是 {DCNA 低 16 位, VL}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786384"/>
            <a:ext cx="11430000" cy="384048"/>
          </a:xfrm>
          <a:prstGeom prst="roundRect">
            <a:avLst/>
          </a:prstGeom>
          <a:solidFill>
            <a:srgbClr val="E7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786384"/>
            <a:ext cx="1117396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同一目的上开很多条流时，连接级 CC 每条流各有一份窗口；UBC 把这些流收成目的加 VL 的一份速率。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261872"/>
            <a:ext cx="5532120" cy="457200"/>
          </a:xfrm>
          <a:prstGeom prst="round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280160"/>
            <a:ext cx="5276088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连接级 CC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1499616"/>
            <a:ext cx="52760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D6E4F2"/>
                </a:solidFill>
                <a:latin typeface="Microsoft YaHei"/>
                <a:ea typeface="Microsoft YaHei"/>
                <a:cs typeface="Microsoft YaHei"/>
              </a:rPr>
              <a:t>一条连接，一份拥塞状态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792224"/>
            <a:ext cx="5532120" cy="47548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75488" y="1901952"/>
            <a:ext cx="256032" cy="256032"/>
          </a:xfrm>
          <a:prstGeom prst="ellipse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1901952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1819656"/>
            <a:ext cx="5001768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建一条连接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2029967"/>
            <a:ext cx="5001768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TCP 会话、RoCE 的 QP、RTP 的 TP Channel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3086100" y="2276856"/>
            <a:ext cx="128016" cy="109728"/>
          </a:xfrm>
          <a:prstGeom prst="downArrow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84048" y="2395728"/>
            <a:ext cx="5532120" cy="47548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75488" y="2505456"/>
            <a:ext cx="256032" cy="256032"/>
          </a:xfrm>
          <a:prstGeom prst="ellipse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" y="2505456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2423160"/>
            <a:ext cx="5001768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这条连接自带一份状态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2633472"/>
            <a:ext cx="5001768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拥塞窗口，或这条连接自己的发送速率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3086100" y="2880360"/>
            <a:ext cx="128016" cy="109728"/>
          </a:xfrm>
          <a:prstGeom prst="downArrow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84048" y="2999232"/>
            <a:ext cx="5532120" cy="47548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75488" y="3108960"/>
            <a:ext cx="256032" cy="256032"/>
          </a:xfrm>
          <a:prstGeom prst="ellipse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" y="3108960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" y="3026664"/>
            <a:ext cx="5001768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反馈回到这条连接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" y="3236976"/>
            <a:ext cx="5001768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ACK、TPACK，或标着这条连接的 CNP</a:t>
            </a:r>
          </a:p>
        </p:txBody>
      </p:sp>
      <p:sp>
        <p:nvSpPr>
          <p:cNvPr id="30" name="Down Arrow 29"/>
          <p:cNvSpPr/>
          <p:nvPr/>
        </p:nvSpPr>
        <p:spPr>
          <a:xfrm>
            <a:off x="3086100" y="3483864"/>
            <a:ext cx="128016" cy="109728"/>
          </a:xfrm>
          <a:prstGeom prst="downArrow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84048" y="3602736"/>
            <a:ext cx="5532120" cy="47548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75488" y="3712464"/>
            <a:ext cx="256032" cy="256032"/>
          </a:xfrm>
          <a:prstGeom prst="ellipse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488" y="3712464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" y="3630168"/>
            <a:ext cx="5001768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只改这一份窗口或速率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" y="3840480"/>
            <a:ext cx="5001768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其他连接保持自己的状态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84048" y="4133088"/>
            <a:ext cx="5532120" cy="329184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2064" y="4133088"/>
            <a:ext cx="5312664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去往同一目的的 N 条连接  =  N 份状态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72784" y="1261872"/>
            <a:ext cx="5532120" cy="457200"/>
          </a:xfrm>
          <a:prstGeom prst="roundRect">
            <a:avLst/>
          </a:prstGeom>
          <a:solidFill>
            <a:srgbClr val="0E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19088" y="1280160"/>
            <a:ext cx="5276088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UBC 的 CTP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19088" y="1499616"/>
            <a:ext cx="527608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D7F0EE"/>
                </a:solidFill>
                <a:latin typeface="Microsoft YaHei"/>
                <a:ea typeface="Microsoft YaHei"/>
                <a:cs typeface="Microsoft YaHei"/>
              </a:rPr>
              <a:t>旧名 UBC_CTP，现名 UB_CTP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2784" y="1792224"/>
            <a:ext cx="5532120" cy="475488"/>
          </a:xfrm>
          <a:prstGeom prst="roundRect">
            <a:avLst/>
          </a:prstGeom>
          <a:solidFill>
            <a:srgbClr val="E7F3F2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364224" y="1901952"/>
            <a:ext cx="256032" cy="256032"/>
          </a:xfrm>
          <a:prstGeom prst="ellipse">
            <a:avLst/>
          </a:prstGeom>
          <a:solidFill>
            <a:srgbClr val="0E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64224" y="1901952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93408" y="1819656"/>
            <a:ext cx="5001768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报文直接发出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93408" y="2029967"/>
            <a:ext cx="5001768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简易传输，一个包带完一条事务</a:t>
            </a:r>
          </a:p>
        </p:txBody>
      </p:sp>
      <p:sp>
        <p:nvSpPr>
          <p:cNvPr id="46" name="Down Arrow 45"/>
          <p:cNvSpPr/>
          <p:nvPr/>
        </p:nvSpPr>
        <p:spPr>
          <a:xfrm>
            <a:off x="8974836" y="2276856"/>
            <a:ext cx="128016" cy="109728"/>
          </a:xfrm>
          <a:prstGeom prst="downArrow">
            <a:avLst/>
          </a:prstGeom>
          <a:solidFill>
            <a:srgbClr val="0E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272784" y="2395728"/>
            <a:ext cx="5532120" cy="475488"/>
          </a:xfrm>
          <a:prstGeom prst="roundRect">
            <a:avLst/>
          </a:prstGeom>
          <a:solidFill>
            <a:srgbClr val="E7F3F2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364224" y="2505456"/>
            <a:ext cx="256032" cy="256032"/>
          </a:xfrm>
          <a:prstGeom prst="ellipse">
            <a:avLst/>
          </a:prstGeom>
          <a:solidFill>
            <a:srgbClr val="0E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64224" y="2505456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93408" y="2423160"/>
            <a:ext cx="5001768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状态按目的和 VL 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93408" y="2633472"/>
            <a:ext cx="5001768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键是 {DCNA[15:0], VL}</a:t>
            </a:r>
          </a:p>
        </p:txBody>
      </p:sp>
      <p:sp>
        <p:nvSpPr>
          <p:cNvPr id="52" name="Down Arrow 51"/>
          <p:cNvSpPr/>
          <p:nvPr/>
        </p:nvSpPr>
        <p:spPr>
          <a:xfrm>
            <a:off x="8974836" y="2880360"/>
            <a:ext cx="128016" cy="109728"/>
          </a:xfrm>
          <a:prstGeom prst="downArrow">
            <a:avLst/>
          </a:prstGeom>
          <a:solidFill>
            <a:srgbClr val="0E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6272784" y="2999232"/>
            <a:ext cx="5532120" cy="475488"/>
          </a:xfrm>
          <a:prstGeom prst="roundRect">
            <a:avLst/>
          </a:prstGeom>
          <a:solidFill>
            <a:srgbClr val="E7F3F2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364224" y="3108960"/>
            <a:ext cx="256032" cy="256032"/>
          </a:xfrm>
          <a:prstGeom prst="ellipse">
            <a:avLst/>
          </a:prstGeom>
          <a:solidFill>
            <a:srgbClr val="0E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64224" y="3108960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93408" y="3026664"/>
            <a:ext cx="5001768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反馈来自下层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693408" y="3236976"/>
            <a:ext cx="5001768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交换机打 FECN，接收端回独立 CNP</a:t>
            </a:r>
          </a:p>
        </p:txBody>
      </p:sp>
      <p:sp>
        <p:nvSpPr>
          <p:cNvPr id="58" name="Down Arrow 57"/>
          <p:cNvSpPr/>
          <p:nvPr/>
        </p:nvSpPr>
        <p:spPr>
          <a:xfrm>
            <a:off x="8974836" y="3483864"/>
            <a:ext cx="128016" cy="109728"/>
          </a:xfrm>
          <a:prstGeom prst="downArrow">
            <a:avLst/>
          </a:prstGeom>
          <a:solidFill>
            <a:srgbClr val="0E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6272784" y="3602736"/>
            <a:ext cx="5532120" cy="475488"/>
          </a:xfrm>
          <a:prstGeom prst="roundRect">
            <a:avLst/>
          </a:prstGeom>
          <a:solidFill>
            <a:srgbClr val="E7F3F2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364224" y="3712464"/>
            <a:ext cx="256032" cy="256032"/>
          </a:xfrm>
          <a:prstGeom prst="ellipse">
            <a:avLst/>
          </a:prstGeom>
          <a:solidFill>
            <a:srgbClr val="0E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64224" y="3712464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93408" y="3630168"/>
            <a:ext cx="5001768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按这份共享速率发送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93408" y="3840480"/>
            <a:ext cx="5001768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逐跳重传和信用留在链路层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272784" y="4133088"/>
            <a:ext cx="5532120" cy="329184"/>
          </a:xfrm>
          <a:prstGeom prst="roundRect">
            <a:avLst/>
          </a:prstGeom>
          <a:solidFill>
            <a:srgbClr val="E7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00800" y="4133088"/>
            <a:ext cx="5312664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同一目的、同一 VL 的流  =  1 份速率</a:t>
            </a:r>
          </a:p>
        </p:txBody>
      </p:sp>
      <p:graphicFrame>
        <p:nvGraphicFramePr>
          <p:cNvPr id="66" name="Table 65"/>
          <p:cNvGraphicFramePr>
            <a:graphicFrameLocks noGrp="1"/>
          </p:cNvGraphicFramePr>
          <p:nvPr/>
        </p:nvGraphicFramePr>
        <p:xfrm>
          <a:off x="384048" y="4828032"/>
          <a:ext cx="11430000" cy="1627632"/>
        </p:xfrm>
        <a:graphic>
          <a:graphicData uri="http://schemas.openxmlformats.org/drawingml/2006/table">
            <a:tbl>
              <a:tblPr firstRow="1"/>
              <a:tblGrid>
                <a:gridCol w="1965960"/>
                <a:gridCol w="4709160"/>
                <a:gridCol w="4754880"/>
              </a:tblGrid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73152" marR="73152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连接级 CC</a:t>
                      </a:r>
                    </a:p>
                  </a:txBody>
                  <a:tcPr marL="73152" marR="73152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UBC 的 CTP</a:t>
                      </a:r>
                    </a:p>
                  </a:txBody>
                  <a:tcPr marL="73152" marR="73152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状态挂在哪</a:t>
                      </a:r>
                    </a:p>
                  </a:txBody>
                  <a:tcPr marL="73152" marR="73152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每一条连接</a:t>
                      </a:r>
                    </a:p>
                  </a:txBody>
                  <a:tcPr marL="73152" marR="73152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目的 CNA 的低 16 位，再加 VL</a:t>
                      </a:r>
                    </a:p>
                  </a:txBody>
                  <a:tcPr marL="73152" marR="73152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反馈回到哪</a:t>
                      </a:r>
                    </a:p>
                  </a:txBody>
                  <a:tcPr marL="73152" marR="73152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回到发出它的那条连接</a:t>
                      </a:r>
                    </a:p>
                  </a:txBody>
                  <a:tcPr marL="73152" marR="73152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 CNP，按目的和 VL 归到同一份</a:t>
                      </a:r>
                    </a:p>
                  </a:txBody>
                  <a:tcPr marL="73152" marR="73152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同一目的上的多条流</a:t>
                      </a:r>
                    </a:p>
                  </a:txBody>
                  <a:tcPr marL="73152" marR="73152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各调各的窗口或速率</a:t>
                      </a:r>
                    </a:p>
                  </a:txBody>
                  <a:tcPr marL="73152" marR="73152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 VL 上共用一份速率</a:t>
                      </a:r>
                    </a:p>
                  </a:txBody>
                  <a:tcPr marL="73152" marR="73152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可靠闭环放在哪</a:t>
                      </a:r>
                    </a:p>
                  </a:txBody>
                  <a:tcPr marL="73152" marR="73152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端到端重传和拥塞窗口在同一条连接上</a:t>
                      </a:r>
                    </a:p>
                  </a:txBody>
                  <a:tcPr marL="73152" marR="73152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逐跳重传和信用在链路层，速率在这份共享状态上</a:t>
                      </a:r>
                    </a:p>
                  </a:txBody>
                  <a:tcPr marL="73152" marR="73152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UBC 与连接级拥塞控制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