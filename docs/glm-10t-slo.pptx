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GLM-5.3 config：78 层，隐藏 6144，moe 中间维 2048，256 路由专家，1 个共享，top-8，前 3 层稠密。MLA：kv_lora 512 + rope 64 = 576，64 头，qk 256，v 256，q_lora 2048。DSA：index_topk 2048，indexer 头 32、维 128。indexer_types 里 21 层为 full，其余 shared，即 IndexShare 每 4 层一次。主干回推 743.3B，激活 39.23B。官方口径 744B-A40B。10T：E=3526，总参数 1.000e+13。专家 FP8 字节等于参数个数，因为发布量化是 FP8 e4m3，不是 FP4。上下文窗口发布值为 1,048,576。词表 154880。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命中率 90% 是本轮假设。现算 token q = 0.1S，每个新 token 仍要看满整个 S。indexer 点积：32 头 × 128 维 × 2 = 8192 FLOP/对。只有 21 层真的算 indexer，其余 57 层复用 top-2048 下标。稀疏 MLA：64 头 × 256 维，QK 和 AV 合计每条 65536 FLOP，78 层都做，但每 token 只看 2048 条。1M：indexer 0.309s，稀疏 0.018s，专家 0.087s，投影 0.045s，稠密 0.002s，现算 0.460s。参数面读 KV 8.79 ms，读权重 26.0 ms。TTFT 0.469s。4K 到 128K 时现算还没超过读权重，TTFT 约 26 毫秒。512K 为 0.16 秒，1M 为 0.47 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BS 是 128 卡全局批。BS=98 时命中率 0.199，最忙卡 9.69 个专家。读权重 9.45 ms，专家计算 1.15 ms，allreduce 0.29 ms，注意力权重 0.51 ms，合计 9.99 ms。全部路由专家加共享专家 (78.0+2.83) GB / 3.2 TB/s = 25.3 ms，超过 10 ms。1M 时 HBM 只能放 17 条，10 毫秒的批是 29，多出来的 KV 走本卡 H2D 51.2 GB/s。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BS=1808，命中率 0.983，读权重 25.26 ms，allreduce 4.74 ms，专家计算 5.68 ms，注意力计算 1.23 ms，专家通信 0.33 ms，合计 29.99 ms。HBM 余量：每卡 96 − 78.0 − 2.83 − 1.63 − 0.68 − 6 = 6.87 GB，128 卡共 879 GB。KV 47700 字节/token。4K 一条约 195 MB，HBM 能放 4498 条，1808 条不用 DDR。溢出进 GPU 的口是本卡 H2D，64×0.8 = 51.2 GB/s。远端 DDR 也走这条 H2D。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存量 = S × 47700 字节。一步读取 = 21×132×S 的 indexer 扫描，加上 78×min(2048,S)×576 的稀疏 latent。按 1,048,576 token 计，存量 50.0 GB，一步 indexer 扫描 2.91 GB，稀疏部分 92 MB。通路并行，取最慢的一条，再加专家阶段。10 毫秒全局批：4K 98，8K 98，32K 97，128K 96，256K 82，512K 50，1M 29。30 毫秒全局批：4K 1808，8K 1808，32K 760，128K 314，256K 197，512K 117，1M 66。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GLM-5.3 发布权重    ·    外推到 10T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84048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同一骨架，只加路由专家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64592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  /  5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6565392"/>
            <a:ext cx="11430000" cy="9144"/>
          </a:xfrm>
          <a:prstGeom prst="rect">
            <a:avLst/>
          </a:prstGeom>
          <a:solidFill>
            <a:srgbClr val="D6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583680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GLM-5.3 外推到 10T    ·    128 卡副本    ·    权重 FP8    ·    带宽取峰值 80%    ·    Cube 16 行对齐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822960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最新发布权重是 GLM-5.3，架构与 GLM-5.2 相同。官方口径 744B / 40B。10T 冻结层数、宽度和 top-8，只加路由专家。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84048" y="1152144"/>
          <a:ext cx="11430000" cy="4096512"/>
        </p:xfrm>
        <a:graphic>
          <a:graphicData uri="http://schemas.openxmlformats.org/drawingml/2006/table">
            <a:tbl>
              <a:tblPr firstRow="1"/>
              <a:tblGrid>
                <a:gridCol w="2148840"/>
                <a:gridCol w="2606040"/>
                <a:gridCol w="2240280"/>
                <a:gridCol w="4434840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marL="73152" marR="73152" marT="36576" marB="27432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GLM-5.3 发布权重</a:t>
                      </a:r>
                    </a:p>
                  </a:txBody>
                  <a:tcPr marL="73152" marR="73152" marT="36576" marB="27432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10T 外推</a:t>
                      </a:r>
                    </a:p>
                  </a:txBody>
                  <a:tcPr marL="73152" marR="73152" marT="36576" marB="27432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备注</a:t>
                      </a:r>
                    </a:p>
                  </a:txBody>
                  <a:tcPr marL="73152" marR="73152" marT="36576" marB="27432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回推总参数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7.433×10^11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1.000×10^13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不含 MTP。官方 744B，差额是 MTP 与舍入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路由专家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256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3526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×13.8。增量只记在专家个数上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激活参数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3.92×10^10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3.92×10^10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 token 仍是 8 个路由专家 + 1 个共享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激活比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5.28%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0.39%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专家表变大，单 token 激活不变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FP8 专家表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0.725 TB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9.983 TB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单专家全层 2.831 GB。发布精度是 FP8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 / 隐藏 / 中间维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78 / 6144 / 2048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同左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 3 层稠密，后 75 层 MoE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注意力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MLA-256，DSA top-2048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同左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 层有 indexer，每 4 层共享一次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 token 专家通信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1.106×10^7 字节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同左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 × 3 × 6144 × 75，与专家总数无关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 token KV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47700 字节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同左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78×576 + 21×132，按 FP8 布局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384048" y="5340096"/>
            <a:ext cx="11430000" cy="1097280"/>
          </a:xfrm>
          <a:prstGeom prst="roundRect">
            <a:avLst/>
          </a:prstGeom>
          <a:solidFill>
            <a:srgbClr val="F8F1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5413248"/>
            <a:ext cx="11137392" cy="95097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A541C"/>
                </a:solidFill>
                <a:latin typeface="Microsoft YaHei"/>
                <a:ea typeface="Microsoft YaHei"/>
                <a:cs typeface="Microsoft YaHei"/>
              </a:rPr>
              <a:t>外推式：总参数 = 专家数 × 2.831×10^9 + 1.860×10^10。单个专家 = 3 × 6144 × 2048 × 75。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A541C"/>
                </a:solidFill>
                <a:latin typeface="Microsoft YaHei"/>
                <a:ea typeface="Microsoft YaHei"/>
                <a:cs typeface="Microsoft YaHei"/>
              </a:rPr>
              <a:t>GLM-4.5 到 GLM-5：总参数约 ×2.1（355B 到 744B），激活 ×1.25（32B 到 40B），层数从 92 降到 78。增量主要进专家表。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A541C"/>
                </a:solidFill>
                <a:latin typeface="Microsoft YaHei"/>
                <a:ea typeface="Microsoft YaHei"/>
                <a:cs typeface="Microsoft YaHei"/>
              </a:rPr>
              <a:t>技术报告正文写 80 层，发布 config 是 78 层。外推跟权重。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Prefill    ·    TTFT ≤ 10 秒    ·    KV 命中 90%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84048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1M 的 TTFT 是 0.47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64592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2  /  5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6565392"/>
            <a:ext cx="11430000" cy="9144"/>
          </a:xfrm>
          <a:prstGeom prst="rect">
            <a:avLst/>
          </a:prstGeom>
          <a:solidFill>
            <a:srgbClr val="D6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583680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GLM-5.3 外推到 10T    ·    128 卡副本    ·    权重 FP8    ·    带宽取峰值 80%    ·    Cube 16 行对齐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841248"/>
            <a:ext cx="11430000" cy="438912"/>
          </a:xfrm>
          <a:prstGeom prst="roundRect">
            <a:avLst/>
          </a:prstGeom>
          <a:solidFill>
            <a:srgbClr val="E7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841248"/>
            <a:ext cx="11137392" cy="4389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一条请求在一个 128 卡副本上。90% 的 KV 走参数面，只现算 10%。1M 现算 0.46 秒，读 KV 8.8 毫秒，读权重 26.0 毫秒。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335024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并行策略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84048" y="1591056"/>
          <a:ext cx="11430000" cy="2414016"/>
        </p:xfrm>
        <a:graphic>
          <a:graphicData uri="http://schemas.openxmlformats.org/drawingml/2006/table">
            <a:tbl>
              <a:tblPr firstRow="1"/>
              <a:tblGrid>
                <a:gridCol w="1325880"/>
                <a:gridCol w="4983480"/>
                <a:gridCol w="5120640"/>
              </a:tblGrid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73152" marR="73152" marT="36576" marB="27432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Attention</a:t>
                      </a:r>
                    </a:p>
                  </a:txBody>
                  <a:tcPr marL="73152" marR="73152" marT="36576" marB="27432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MoE</a:t>
                      </a:r>
                    </a:p>
                  </a:txBody>
                  <a:tcPr marL="73152" marR="73152" marT="36576" marB="27432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并行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机内 TP=8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KV 按 token 切到 8 卡，16 个节点 DP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超节点 EP=128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3526 个专家，每卡 27.5 个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通信域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 卡 fullmesh，有效 40 GB/s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D2D 总线有效 320 GB/s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命中的 KV 走参数面 40 GB/s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每卡权重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注意力 13.07 GB / 8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= 1.63 GB FP8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路由专家 78.0 GB FP8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共享专家 2.83 GB，每卡一份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这一阶段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indexer 按 q × S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 = 0.1 × S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专家 GEMM 只作用在现算的 10% 上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84048" y="411480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1M、90% 命中，10 秒怎么还有余量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84048" y="4352544"/>
          <a:ext cx="11430000" cy="1682496"/>
        </p:xfrm>
        <a:graphic>
          <a:graphicData uri="http://schemas.openxmlformats.org/drawingml/2006/table">
            <a:tbl>
              <a:tblPr firstRow="1"/>
              <a:tblGrid>
                <a:gridCol w="1554480"/>
                <a:gridCol w="7040880"/>
                <a:gridCol w="2834640"/>
              </a:tblGrid>
              <a:tr h="23774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这一笔</a:t>
                      </a:r>
                    </a:p>
                  </a:txBody>
                  <a:tcPr marL="73152" marR="73152" marT="36576" marB="27432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算法</a:t>
                      </a:r>
                    </a:p>
                  </a:txBody>
                  <a:tcPr marL="73152" marR="73152" marT="36576" marB="27432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1M 时</a:t>
                      </a:r>
                    </a:p>
                  </a:txBody>
                  <a:tcPr marL="73152" marR="73152" marT="36576" marB="27432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indexer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 层 × 8192 × q × S / (128×486×10^12)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0.31 秒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稀疏 MLA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78 层，每个新 token 看 2048 条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0.02 秒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专家 GEMM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 个专家 × 2.831×10^9 参数 × 2 × q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0.09 秒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投影 + 稠密层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注意力投影和前 3 层稠密 MLP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0.05 秒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 KV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 × S × 47700 / (128 × 40×10^9)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8.8 毫秒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合计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先读 KV，再取现算和读权重里较长的一项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0.47 秒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Decode    ·    TPOT ≤ 10 毫秒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84048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10 毫秒、短输入，全局批 98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64592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3  /  5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6565392"/>
            <a:ext cx="11430000" cy="9144"/>
          </a:xfrm>
          <a:prstGeom prst="rect">
            <a:avLst/>
          </a:prstGeom>
          <a:solidFill>
            <a:srgbClr val="D6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583680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GLM-5.3 外推到 10T    ·    128 卡副本    ·    权重 FP8    ·    带宽取峰值 80%    ·    Cube 16 行对齐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841248"/>
            <a:ext cx="11430000" cy="438912"/>
          </a:xfrm>
          <a:prstGeom prst="roundRect">
            <a:avLst/>
          </a:prstGeom>
          <a:solidFill>
            <a:srgbClr val="E7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841248"/>
            <a:ext cx="11137392" cy="4389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10 毫秒里 9.5 毫秒在读被叫醒的专家。每卡 27.5 个专家全部叫醒要 25.3 毫秒，这一档做不到。注意力侧只有 0.5 毫秒。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335024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并行策略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335024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短输入（4K）、全局批 98，这一步怎么加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84048" y="1572768"/>
          <a:ext cx="5852160" cy="2487168"/>
        </p:xfrm>
        <a:graphic>
          <a:graphicData uri="http://schemas.openxmlformats.org/drawingml/2006/table">
            <a:tbl>
              <a:tblPr firstRow="1"/>
              <a:tblGrid>
                <a:gridCol w="1051560"/>
                <a:gridCol w="2331720"/>
                <a:gridCol w="2468880"/>
              </a:tblGrid>
              <a:tr h="25603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73152" marR="73152" marT="36576" marB="27432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Attention</a:t>
                      </a:r>
                    </a:p>
                  </a:txBody>
                  <a:tcPr marL="73152" marR="73152" marT="36576" marB="27432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MoE</a:t>
                      </a:r>
                    </a:p>
                  </a:txBody>
                  <a:tcPr marL="73152" marR="73152" marT="36576" marB="27432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并行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TP=8，DP=16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每组 token 数 = BS / 16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EP=128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每卡 27.5 个专家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通信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每层机内 allreduce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这一步 0.3 毫秒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最忙卡 BF16 combine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这一步 0.01 毫秒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访存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注意力权重 1.63 GB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这一步 0.5 毫秒</a:t>
                      </a:r>
                    </a:p>
                  </a:txBody>
                  <a:tcPr marL="73152" marR="73152" marT="36576" marB="27432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只读被命中的专家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这一步 9.5 毫秒</a:t>
                      </a:r>
                    </a:p>
                  </a:txBody>
                  <a:tcPr marL="73152" marR="73152" marT="36576" marB="27432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Cube 行数 = BS / 16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不足 16 按 16 行砖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每个命中专家约 1.1 个 token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效率约 7%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46520" y="1572768"/>
          <a:ext cx="5349240" cy="2999232"/>
        </p:xfrm>
        <a:graphic>
          <a:graphicData uri="http://schemas.openxmlformats.org/drawingml/2006/table">
            <a:tbl>
              <a:tblPr firstRow="1"/>
              <a:tblGrid>
                <a:gridCol w="1097280"/>
                <a:gridCol w="3200400"/>
                <a:gridCol w="1051560"/>
              </a:tblGrid>
              <a:tr h="25603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笔</a:t>
                      </a:r>
                    </a:p>
                  </a:txBody>
                  <a:tcPr marL="73152" marR="73152" marT="36576" marB="27432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白话</a:t>
                      </a:r>
                    </a:p>
                  </a:txBody>
                  <a:tcPr marL="73152" marR="73152" marT="36576" marB="27432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</a:t>
                      </a:r>
                    </a:p>
                  </a:txBody>
                  <a:tcPr marL="73152" marR="73152" marT="36576" marB="27432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命中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1 − exp(−8×98 / 3526) = 20%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最忙卡按均值 + 2σ，约 9.7 个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读专家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9.7 × 2.831 GB + 共享 2.83 GB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除以 3.2 TB/s</a:t>
                      </a:r>
                    </a:p>
                  </a:txBody>
                  <a:tcPr marL="73152" marR="73152" marT="36576" marB="27432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9.5 毫秒</a:t>
                      </a:r>
                    </a:p>
                  </a:txBody>
                  <a:tcPr marL="73152" marR="73152" marT="36576" marB="27432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读注意力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1.63 GB / 3.2 TB/s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长于机内 allreduce 的 0.3 毫秒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 毫秒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专家计算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每个命中专家约 1.1 个 token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 行砖，效率 7%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1.2 毫秒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两路通信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机内 allreduce 0.3 毫秒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专家 combine 0.01 毫秒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更短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相加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注意力侧取 0.5，专家侧取 9.5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10.0 毫秒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384048" y="5047488"/>
            <a:ext cx="2754630" cy="137160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6" y="5102351"/>
            <a:ext cx="2535174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4K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" y="5321807"/>
            <a:ext cx="2535174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98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" y="5779007"/>
            <a:ext cx="2535174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全局批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每卡 0.8 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75838" y="5047488"/>
            <a:ext cx="2754630" cy="137160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5566" y="5102351"/>
            <a:ext cx="2535174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32K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5566" y="5321807"/>
            <a:ext cx="2535174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97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5566" y="5779007"/>
            <a:ext cx="2535174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全局批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每卡 0.8 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7628" y="5047488"/>
            <a:ext cx="2754630" cy="137160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7356" y="5102351"/>
            <a:ext cx="2535174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128K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7356" y="5321807"/>
            <a:ext cx="2535174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96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7356" y="5779007"/>
            <a:ext cx="2535174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全局批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每卡 0.8 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59418" y="5047488"/>
            <a:ext cx="2754630" cy="137160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69146" y="5102351"/>
            <a:ext cx="2535174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69146" y="5321807"/>
            <a:ext cx="2535174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5779007"/>
            <a:ext cx="2535174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全局批，每卡 0.2 条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39% 经 H2D 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Decode    ·    TPOT ≤ 30 毫秒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84048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30 毫秒、短输入，全局批 1808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64592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4  /  5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6565392"/>
            <a:ext cx="11430000" cy="9144"/>
          </a:xfrm>
          <a:prstGeom prst="rect">
            <a:avLst/>
          </a:prstGeom>
          <a:solidFill>
            <a:srgbClr val="D6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583680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GLM-5.3 外推到 10T    ·    128 卡副本    ·    权重 FP8    ·    带宽取峰值 80%    ·    Cube 16 行对齐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841248"/>
            <a:ext cx="11430000" cy="438912"/>
          </a:xfrm>
          <a:prstGeom prst="roundRect">
            <a:avLst/>
          </a:prstGeom>
          <a:solidFill>
            <a:srgbClr val="E7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841248"/>
            <a:ext cx="11137392" cy="4389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专家可以全部叫醒，读权重停在 25.3 毫秒。剩下的预算被机内 8 卡 allreduce 用掉，4.7 毫秒。专家域通信只有 0.3 毫秒。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335024"/>
            <a:ext cx="56692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并行策略    ·    和 10 毫秒同一份切分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335024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短输入、全局批 1808，这一步怎么加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84048" y="1572768"/>
          <a:ext cx="5852160" cy="2523744"/>
        </p:xfrm>
        <a:graphic>
          <a:graphicData uri="http://schemas.openxmlformats.org/drawingml/2006/table">
            <a:tbl>
              <a:tblPr firstRow="1"/>
              <a:tblGrid>
                <a:gridCol w="1051560"/>
                <a:gridCol w="2331720"/>
                <a:gridCol w="2468880"/>
              </a:tblGrid>
              <a:tr h="25603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73152" marR="73152" marT="36576" marB="27432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Attention</a:t>
                      </a:r>
                    </a:p>
                  </a:txBody>
                  <a:tcPr marL="73152" marR="73152" marT="36576" marB="27432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MoE</a:t>
                      </a:r>
                    </a:p>
                  </a:txBody>
                  <a:tcPr marL="73152" marR="73152" marT="36576" marB="27432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并行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仍是 TP=8，DP=16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1808 / 16 = 113 条 / 组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仍是 EP=128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每卡 27.5 个专家全醒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通信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allreduce 随批线性涨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这一档是注意力侧最长</a:t>
                      </a:r>
                    </a:p>
                  </a:txBody>
                  <a:tcPr marL="73152" marR="73152" marT="36576" marB="27432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combine 走 320 GB/s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 毫秒，短于读权重</a:t>
                      </a:r>
                    </a:p>
                  </a:txBody>
                  <a:tcPr marL="73152" marR="73152" marT="36576" marB="27432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访存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4K 全在 HBM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更长则走本卡 H2D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78.0 GB 路由 + 2.83 GB 共享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/ 3.2 TB/s = 25.3 毫秒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注意力计算 1.2 毫秒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短于 allreduce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每专家约 4 个 token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效率 26%，计算 5.7 毫秒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46520" y="1572768"/>
          <a:ext cx="5349240" cy="2962656"/>
        </p:xfrm>
        <a:graphic>
          <a:graphicData uri="http://schemas.openxmlformats.org/drawingml/2006/table">
            <a:tbl>
              <a:tblPr firstRow="1"/>
              <a:tblGrid>
                <a:gridCol w="1143000"/>
                <a:gridCol w="3154680"/>
                <a:gridCol w="1051560"/>
              </a:tblGrid>
              <a:tr h="25603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笔</a:t>
                      </a:r>
                    </a:p>
                  </a:txBody>
                  <a:tcPr marL="73152" marR="73152" marT="36576" marB="27432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白话</a:t>
                      </a:r>
                    </a:p>
                  </a:txBody>
                  <a:tcPr marL="73152" marR="73152" marT="36576" marB="27432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</a:t>
                      </a:r>
                    </a:p>
                  </a:txBody>
                  <a:tcPr marL="73152" marR="73152" marT="36576" marB="27432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读权重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命中率 98%，27.5 个专家全读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加共享专家，除以 3.2 TB/s</a:t>
                      </a:r>
                    </a:p>
                  </a:txBody>
                  <a:tcPr marL="73152" marR="73152" marT="36576" marB="27432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25.3 毫秒</a:t>
                      </a:r>
                    </a:p>
                  </a:txBody>
                  <a:tcPr marL="73152" marR="73152" marT="36576" marB="27432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机内通信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每组 113 条 × 6144 × 2 字节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78 层 × 2×7/8 / 40 GB/s</a:t>
                      </a:r>
                    </a:p>
                  </a:txBody>
                  <a:tcPr marL="73152" marR="73152" marT="36576" marB="27432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4.7 毫秒</a:t>
                      </a:r>
                    </a:p>
                  </a:txBody>
                  <a:tcPr marL="73152" marR="73152" marT="36576" marB="27432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专家计算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1808 × 8 / 3526 ≈ 4 token / 专家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对齐效率 26%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5.7 毫秒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专家通信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最忙卡 combine / 320 GB/s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 毫秒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注意力计算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短输入的 indexer、稀疏 MLA 和投影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1.2 毫秒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相加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注意力侧取 4.7，专家侧取 25.3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30.0 毫秒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384048" y="5047488"/>
            <a:ext cx="2754630" cy="137160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6" y="5102351"/>
            <a:ext cx="2535174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4K – 8K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" y="5321807"/>
            <a:ext cx="2535174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1808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" y="5779007"/>
            <a:ext cx="2535174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全局批，每卡 14.1 条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全在 HBM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75838" y="5047488"/>
            <a:ext cx="2754630" cy="137160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5566" y="5102351"/>
            <a:ext cx="2535174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32K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5566" y="5321807"/>
            <a:ext cx="2535174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760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5566" y="5779007"/>
            <a:ext cx="2535174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全局批，每卡 5.9 条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26% 经 H2D 读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7628" y="5047488"/>
            <a:ext cx="2754630" cy="137160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7356" y="5102351"/>
            <a:ext cx="2535174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128K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7356" y="5321807"/>
            <a:ext cx="2535174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314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7356" y="5779007"/>
            <a:ext cx="2535174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全局批，每卡 2.5 条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55% 经 H2D 读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59418" y="5047488"/>
            <a:ext cx="2754630" cy="137160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69146" y="5102351"/>
            <a:ext cx="2535174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69146" y="5321807"/>
            <a:ext cx="2535174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66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5779007"/>
            <a:ext cx="2535174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全局批，每卡 0.5 条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73% 经 H2D 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Decode    ·    不同输入下的最大全局批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84048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1M 时 10 毫秒批 29，30 毫秒批 66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64592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5  /  5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6565392"/>
            <a:ext cx="11430000" cy="9144"/>
          </a:xfrm>
          <a:prstGeom prst="rect">
            <a:avLst/>
          </a:prstGeom>
          <a:solidFill>
            <a:srgbClr val="D6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583680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GLM-5.3 外推到 10T    ·    128 卡副本    ·    权重 FP8    ·    带宽取峰值 80%    ·    Cube 16 行对齐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841248"/>
            <a:ext cx="11430000" cy="438912"/>
          </a:xfrm>
          <a:prstGeom prst="roundRect">
            <a:avLst/>
          </a:prstGeom>
          <a:solidFill>
            <a:srgbClr val="E7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841248"/>
            <a:ext cx="11137392" cy="4389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全局批是 128 卡一份副本上的条数，每卡 = 全局批 / 128。HBM 放不下的 KV 走本卡 H2D，每卡 51.2 GB/s。远端 DDR 进卡也走这条 H2D。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84048" y="1426464"/>
          <a:ext cx="11430000" cy="3438144"/>
        </p:xfrm>
        <a:graphic>
          <a:graphicData uri="http://schemas.openxmlformats.org/drawingml/2006/table">
            <a:tbl>
              <a:tblPr firstRow="1"/>
              <a:tblGrid>
                <a:gridCol w="1051560"/>
                <a:gridCol w="1325880"/>
                <a:gridCol w="1325880"/>
                <a:gridCol w="1554480"/>
                <a:gridCol w="960120"/>
                <a:gridCol w="1600200"/>
                <a:gridCol w="960120"/>
                <a:gridCol w="2651760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</a:t>
                      </a:r>
                    </a:p>
                  </a:txBody>
                  <a:tcPr marL="73152" marR="73152" marT="36576" marB="27432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每条 KV</a:t>
                      </a:r>
                    </a:p>
                  </a:txBody>
                  <a:tcPr marL="73152" marR="73152" marT="36576" marB="27432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HBM 能放</a:t>
                      </a:r>
                    </a:p>
                  </a:txBody>
                  <a:tcPr marL="73152" marR="73152" marT="36576" marB="27432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 毫秒全局批</a:t>
                      </a:r>
                    </a:p>
                  </a:txBody>
                  <a:tcPr marL="73152" marR="73152" marT="36576" marB="27432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每卡</a:t>
                      </a:r>
                    </a:p>
                  </a:txBody>
                  <a:tcPr marL="73152" marR="73152" marT="36576" marB="27432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 毫秒全局批</a:t>
                      </a:r>
                    </a:p>
                  </a:txBody>
                  <a:tcPr marL="73152" marR="73152" marT="36576" marB="27432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每卡</a:t>
                      </a:r>
                    </a:p>
                  </a:txBody>
                  <a:tcPr marL="73152" marR="73152" marT="36576" marB="27432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 毫秒的 KV 放哪</a:t>
                      </a:r>
                    </a:p>
                  </a:txBody>
                  <a:tcPr marL="73152" marR="73152" marT="36576" marB="27432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4K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195.4 MB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4498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98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1808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14.1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全在 HBM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8K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390.8 MB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2249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98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1808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14.1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全在 HBM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32K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1.56 GB</a:t>
                      </a:r>
                    </a:p>
                  </a:txBody>
                  <a:tcPr marL="73152" marR="73152" marT="36576" marB="27432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562</a:t>
                      </a:r>
                    </a:p>
                  </a:txBody>
                  <a:tcPr marL="73152" marR="73152" marT="36576" marB="27432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97</a:t>
                      </a:r>
                    </a:p>
                  </a:txBody>
                  <a:tcPr marL="73152" marR="73152" marT="36576" marB="27432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</a:t>
                      </a:r>
                    </a:p>
                  </a:txBody>
                  <a:tcPr marL="73152" marR="73152" marT="36576" marB="27432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760</a:t>
                      </a:r>
                    </a:p>
                  </a:txBody>
                  <a:tcPr marL="73152" marR="73152" marT="36576" marB="27432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5.9</a:t>
                      </a:r>
                    </a:p>
                  </a:txBody>
                  <a:tcPr marL="73152" marR="73152" marT="36576" marB="27432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26% 经本卡 H2D</a:t>
                      </a:r>
                    </a:p>
                  </a:txBody>
                  <a:tcPr marL="73152" marR="73152" marT="36576" marB="27432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128K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6.25 GB</a:t>
                      </a:r>
                    </a:p>
                  </a:txBody>
                  <a:tcPr marL="73152" marR="73152" marT="36576" marB="27432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140</a:t>
                      </a:r>
                    </a:p>
                  </a:txBody>
                  <a:tcPr marL="73152" marR="73152" marT="36576" marB="27432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96</a:t>
                      </a:r>
                    </a:p>
                  </a:txBody>
                  <a:tcPr marL="73152" marR="73152" marT="36576" marB="27432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</a:t>
                      </a:r>
                    </a:p>
                  </a:txBody>
                  <a:tcPr marL="73152" marR="73152" marT="36576" marB="27432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314</a:t>
                      </a:r>
                    </a:p>
                  </a:txBody>
                  <a:tcPr marL="73152" marR="73152" marT="36576" marB="27432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</a:t>
                      </a:r>
                    </a:p>
                  </a:txBody>
                  <a:tcPr marL="73152" marR="73152" marT="36576" marB="27432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55% 经本卡 H2D</a:t>
                      </a:r>
                    </a:p>
                  </a:txBody>
                  <a:tcPr marL="73152" marR="73152" marT="36576" marB="27432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256K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12.50 GB</a:t>
                      </a:r>
                    </a:p>
                  </a:txBody>
                  <a:tcPr marL="73152" marR="73152" marT="36576" marB="27432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</a:t>
                      </a:r>
                    </a:p>
                  </a:txBody>
                  <a:tcPr marL="73152" marR="73152" marT="36576" marB="27432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82</a:t>
                      </a:r>
                    </a:p>
                  </a:txBody>
                  <a:tcPr marL="73152" marR="73152" marT="36576" marB="27432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0.6</a:t>
                      </a:r>
                    </a:p>
                  </a:txBody>
                  <a:tcPr marL="73152" marR="73152" marT="36576" marB="27432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197</a:t>
                      </a:r>
                    </a:p>
                  </a:txBody>
                  <a:tcPr marL="73152" marR="73152" marT="36576" marB="27432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</a:t>
                      </a:r>
                    </a:p>
                  </a:txBody>
                  <a:tcPr marL="73152" marR="73152" marT="36576" marB="27432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64% 经本卡 H2D</a:t>
                      </a:r>
                    </a:p>
                  </a:txBody>
                  <a:tcPr marL="73152" marR="73152" marT="36576" marB="27432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512K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25.01 GB</a:t>
                      </a:r>
                    </a:p>
                  </a:txBody>
                  <a:tcPr marL="73152" marR="73152" marT="36576" marB="27432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</a:t>
                      </a:r>
                    </a:p>
                  </a:txBody>
                  <a:tcPr marL="73152" marR="73152" marT="36576" marB="27432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</a:t>
                      </a:r>
                    </a:p>
                  </a:txBody>
                  <a:tcPr marL="73152" marR="73152" marT="36576" marB="27432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</a:t>
                      </a:r>
                    </a:p>
                  </a:txBody>
                  <a:tcPr marL="73152" marR="73152" marT="36576" marB="27432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117</a:t>
                      </a:r>
                    </a:p>
                  </a:txBody>
                  <a:tcPr marL="73152" marR="73152" marT="36576" marB="27432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</a:t>
                      </a:r>
                    </a:p>
                  </a:txBody>
                  <a:tcPr marL="73152" marR="73152" marT="36576" marB="27432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70% 经本卡 H2D</a:t>
                      </a:r>
                    </a:p>
                  </a:txBody>
                  <a:tcPr marL="73152" marR="73152" marT="36576" marB="27432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1M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50.02 GB</a:t>
                      </a:r>
                    </a:p>
                  </a:txBody>
                  <a:tcPr marL="73152" marR="73152" marT="36576" marB="27432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</a:t>
                      </a:r>
                    </a:p>
                  </a:txBody>
                  <a:tcPr marL="73152" marR="73152" marT="36576" marB="27432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29</a:t>
                      </a:r>
                    </a:p>
                  </a:txBody>
                  <a:tcPr marL="73152" marR="73152" marT="36576" marB="27432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</a:t>
                      </a:r>
                    </a:p>
                  </a:txBody>
                  <a:tcPr marL="73152" marR="73152" marT="36576" marB="27432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66</a:t>
                      </a:r>
                    </a:p>
                  </a:txBody>
                  <a:tcPr marL="73152" marR="73152" marT="36576" marB="27432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</a:t>
                      </a:r>
                    </a:p>
                  </a:txBody>
                  <a:tcPr marL="73152" marR="73152" marT="36576" marB="27432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73% 经本卡 H2D</a:t>
                      </a:r>
                    </a:p>
                  </a:txBody>
                  <a:tcPr marL="73152" marR="73152" marT="36576" marB="27432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84048" y="5029200"/>
            <a:ext cx="11430000" cy="1389888"/>
          </a:xfrm>
          <a:prstGeom prst="roundRect">
            <a:avLst/>
          </a:prstGeom>
          <a:solidFill>
            <a:srgbClr val="F8F1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5102352"/>
            <a:ext cx="11137392" cy="12435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A541C"/>
                </a:solidFill>
                <a:latin typeface="Microsoft YaHei"/>
                <a:ea typeface="Microsoft YaHei"/>
                <a:cs typeface="Microsoft YaHei"/>
              </a:rPr>
              <a:t>每卡 KV 余量 = 96 − 78.0 − 2.83 − 1.63 − 0.68 − 6 = 6.87 GB，128 卡合计 879 GB。专家表按 FP8 占掉 78 GB。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A541C"/>
                </a:solidFill>
                <a:latin typeface="Microsoft YaHei"/>
                <a:ea typeface="Microsoft YaHei"/>
                <a:cs typeface="Microsoft YaHei"/>
              </a:rPr>
              <a:t>10 毫秒在 128K 及更短仍卡在读专家权重，全局批约 96–98。1M 时 HBM 只能放 17 条，批开到 29，多出来的走 H2D。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A541C"/>
                </a:solidFill>
                <a:latin typeface="Microsoft YaHei"/>
                <a:ea typeface="Microsoft YaHei"/>
                <a:cs typeface="Microsoft YaHei"/>
              </a:rPr>
              <a:t>30 毫秒在 8K 及更短是 1808，卡在读满专家 25.3 毫秒加机内 allreduce 4.7 毫秒。从 32K 起 HBM 先满。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A541C"/>
                </a:solidFill>
                <a:latin typeface="Microsoft YaHei"/>
                <a:ea typeface="Microsoft YaHei"/>
                <a:cs typeface="Microsoft YaHei"/>
              </a:rPr>
              <a:t>Prefill 按 90% KV 命中。4K 到 1M 的 TTFT 都在 10 秒内，1M 是 0.47 秒。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GLM-5.3 外推到 10T：结构与 TTFT / TPOT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