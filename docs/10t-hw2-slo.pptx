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Smax=6535920, t=10.0000</a:t>
            </a:r>
          </a:p>
          <a:p>
            <a:r>
              <a:t>4K TTFT=6.13 ms, 1M TTFT=0.408 s</a:t>
            </a:r>
          </a:p>
          <a:p>
            <a:r>
              <a:t>prefill bs 4K/90%=3964, 1M/90%=15</a:t>
            </a:r>
          </a:p>
          <a:p>
            <a:r>
              <a:t>10ms @4K t=9.97 ar=4.02 tw=5.96</a:t>
            </a:r>
          </a:p>
          <a:p>
            <a:r>
              <a:t>30ms @4K t=29.98 ar=24.02 tw=5.96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FP8 peak is FP4/2, the same ratio as Ascend 950 MXFP4 vs FP8. Attention weights in the 10T model are FP8 (19.35 GB). ROOM=16.627 TB, SPILL=64.44 GB/s, routed/GPU=38.86 GB, attn/GPU=1.21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Smax=6535920.460. 1M t=0.4075. BF16-attn sensitivity computed separately as 4.581e6.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S=4096 cap=672342 b10=784 t10=0.0100 ar=0.0040 h2d=0.0000 b30=4688 t30=0.0300 h2d30=0.0000</a:t>
            </a:r>
          </a:p>
          <a:p>
            <a:r>
              <a:t>S=131072 cap=25504 b10=784 t10=0.0100 ar=0.0040 h2d=0.0000 b30=4688 t30=0.0300 h2d30=0.0000</a:t>
            </a:r>
          </a:p>
          <a:p>
            <a:r>
              <a:t>S=1048576 cap=3207 b10=784 t10=0.0100 ar=0.0040 h2d=0.0000 b30=3502 t30=0.0300 h2d30=0.0240</a:t>
            </a:r>
          </a:p>
          <a:p>
            <a:r>
              <a:t>S=6535920 cap=514 b10=523 t10=0.0095 ar=0.0027 h2d=0.0040 b30=564 t30=0.0299 h2d30=0.0242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Decode req/s at 10ms = 784/0.00998/512. At 30ms = 4688/0.02998/512. Prefill req/s = 3964/10.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10T DeepSeek    ·    配置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65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两个时延目标都能在一份 128 卡副本上达到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46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1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配置 2    ·    10T 外推    ·    一份模型 128 卡    ·    访存与通信取峰值 80%    ·    专家 GEMM 用 FP4，注意力用 FP8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14400"/>
            <a:ext cx="114300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TTFT 和 TPOT 分开算。最大输入由单条请求的 10 秒 TTFT 决定，两个目标共用这个输入。全局批由 Decode 的 TPOT 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371600"/>
            <a:ext cx="3703320" cy="1874519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463040"/>
            <a:ext cx="341071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最大输入    ·    TTFT = 10.0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719072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6.54×10⁶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212848"/>
            <a:ext cx="341071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单条、无前缀命中。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6,535,920 token。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4K 单条只要 6.1 毫秒。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2816" y="1371600"/>
            <a:ext cx="3703320" cy="1874519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63040"/>
            <a:ext cx="341071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TPOT ≤ 10 毫秒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719072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全局批 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212848"/>
            <a:ext cx="341071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6.1 条。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4K 到 1M 都是这个批。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一份副本 7.86×10⁴ token/s。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371600"/>
            <a:ext cx="3703320" cy="1874519"/>
          </a:xfrm>
          <a:prstGeom prst="roundRect">
            <a:avLst/>
          </a:prstGeom>
          <a:solidFill>
            <a:srgbClr val="E7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463040"/>
            <a:ext cx="341071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TPOT ≤ 30 毫秒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719072"/>
            <a:ext cx="3410712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全局批 4688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212848"/>
            <a:ext cx="3410712" cy="9235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36.6 条。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约 70 万 token 以内不变。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一份副本 1.56×10⁵ token/s。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3401568"/>
          <a:ext cx="11430000" cy="1810512"/>
        </p:xfrm>
        <a:graphic>
          <a:graphicData uri="http://schemas.openxmlformats.org/drawingml/2006/table">
            <a:tbl>
              <a:tblPr firstRow="1"/>
              <a:tblGrid>
                <a:gridCol w="2103120"/>
                <a:gridCol w="3108960"/>
                <a:gridCol w="3108960"/>
                <a:gridCol w="31089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能放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毫秒全局批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67.2 万条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784    每卡 6.1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4688    每卡 36.6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2.55 万条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784    每卡 6.1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4688    每卡 36.6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3207 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784    每卡 6.1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3502    每卡 27.4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6.54×10⁶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 条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523    每卡 4.1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564    每卡 4.4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4048" y="5669280"/>
            <a:ext cx="11430000" cy="7680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6.54×10⁶ 这一档，10 毫秒和 30 毫秒的批落到 HBM 容量附近：HBM 放 514 条，多出来的工作集走 H2D。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4K、命中 90% 时，同一份副本在 10 秒内还能同时做 3964 条 Prefill。Prefill 与 Decode 的副本数按到达率另配。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硬件    ·    配置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65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链路按 Gb/s 换算，算力按精度拆开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46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2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配置 2    ·    10T 外推    ·    一份模型 128 卡    ·    访存与通信取峰值 80%    ·    专家 GEMM 用 FP4，注意力用 FP8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60120"/>
          <a:ext cx="11430000" cy="3310128"/>
        </p:xfrm>
        <a:graphic>
          <a:graphicData uri="http://schemas.openxmlformats.org/drawingml/2006/table">
            <a:tbl>
              <a:tblPr firstRow="1"/>
              <a:tblGrid>
                <a:gridCol w="2377440"/>
                <a:gridCol w="3017520"/>
                <a:gridCol w="3017520"/>
                <a:gridCol w="301752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给出的峰值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80% 后参与计时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用在哪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P @ FP4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7.00×10¹⁵ FLOP/s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路由专家和共享专家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FP4 的一半，FP8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3.50×10¹⁵ FLOP/s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indexer、HCA、稀疏注意力、投影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 GB，9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 7.2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权重和驻留 KV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H2D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每卡单向 800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主机到卡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每卡单向 400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卡超节点上的专家 EP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P2P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卡 fullmesh，400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注意力 TP=16 的 allreduce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参数面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 GB/s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把 KV 交给 Decode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机器 DDR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768 GB，1288.8 GB/s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带宽 1031 GB/s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卡一台，进卡再受 H2D 限制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4434840"/>
            <a:ext cx="11430000" cy="1965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400 Gb/s = 50 GB/s 峰值，有效 40 GB/s。800 Gb/s 有效 80 GB/s。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进卡的换入带宽取较慢的一条：H2D 80 GB/s，单卡分到的 DDR 为 1031/16 = 64.4 GB/s，所以按 64.4 GB/s。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128 卡 = 8 台 16 卡机器。注意力 TP=16、DP=8，留在机内 fullmesh。2469 个专家 EP=128，走 D2D。每卡 FP4 路由权重 38.9 GB，KV 余量 16.63 TB。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Prefill    ·    单条    ·    TTFT ≤ 10 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65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10 秒输入停在 6.54×10⁶，停在 indexer 和 HCA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46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3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配置 2    ·    10T 外推    ·    一份模型 128 卡    ·    访存与通信取峰值 80%    ·    专家 GEMM 用 FP4，注意力用 FP8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60120"/>
          <a:ext cx="11430000" cy="338328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5120640"/>
                <a:gridCol w="2011680"/>
                <a:gridCol w="201168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这一笔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6.54×10⁶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 indexer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层 × 2048 × S² / (128 × 3.50×10¹⁵)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5.86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&lt;0.1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HCA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 层 × 1024 × S² / 同一 FP8 算力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3.03 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&lt;0.1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稀疏注意力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1024 条压缩 KV + 128 滑窗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132.2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3.87×10¹⁰ FLOP，FP8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564.6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 token 5.64×10¹⁰ FLOP，FP4 的 7 P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411.5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 38.9 + 4.03 + 1.21 GB / 7.2 TB/s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送 KV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× 4939.5 字节 / (128 × 40 GB/s)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6.3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&lt;0.1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计算与读权重取较长的一项，再加送 KV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 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4526280"/>
            <a:ext cx="11430000" cy="1874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S² 两项合计 8.89 秒，线性项 1.11 秒。读权重 6.1 毫秒，送 KV 6.3 毫秒，都不改变这个长度。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1M 单条 TTFT 是 0.41 秒。若注意力按 BF16、算力再减半到 1.75 P，同一公式的最大输入是 4.58×10⁶。本页按 FP8 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Decode    ·    TPOT ≤ 10 毫秒 与  30 毫秒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65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短上下文的批不随长度变，约 80 万 token 后 30 毫秒先降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46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4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配置 2    ·    10T 外推    ·    一份模型 128 卡    ·    访存与通信取峰值 80%    ·    专家 GEMM 用 FP4，注意力用 FP8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005840"/>
          <a:ext cx="10972800" cy="2157984"/>
        </p:xfrm>
        <a:graphic>
          <a:graphicData uri="http://schemas.openxmlformats.org/drawingml/2006/table">
            <a:tbl>
              <a:tblPr firstRow="1"/>
              <a:tblGrid>
                <a:gridCol w="1371600"/>
                <a:gridCol w="1371600"/>
                <a:gridCol w="1371600"/>
                <a:gridCol w="1097280"/>
                <a:gridCol w="1554480"/>
                <a:gridCol w="1463040"/>
                <a:gridCol w="118872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HBM 条数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10ms 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30ms 批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每卡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这一步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672,342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4,688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128K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25,504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4,688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3,207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6.1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3,502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27.4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6.54×10⁶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523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4.1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4.4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29.9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3657600"/>
            <a:ext cx="11430000" cy="269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一步时间 = 注意力阶段 + 专家阶段，两段相加，沿用上一份 10T 时延模型。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4K、全局批 784：注意力阶段是机内 allreduce 4.02 毫秒，专家阶段是读权重 5.96 毫秒，合计 10.0 毫秒。专家 GEMM 0.10 毫秒，D2D 上的 EP 0.80 毫秒。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4K、全局批 4688：allreduce 24.0 毫秒，读权重仍是 5.96 毫秒，相加 30.0 毫秒。EP 4.8 毫秒，还没有超过 allreduce。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每卡 19.3 个专家在批到几百条时都被命中，读权重就停在 5.96 毫秒，不再随批变大。批再加大，只把 allreduce 拉长。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1M 的 30 毫秒批降到 3502，是因为 4688 条的存量超出 16.63 TB，溢出部分经 64.4 GB/s 的 H2D 读，这一笔变成 24 毫秒。10 毫秒在 1M 仍是 784，KV 读只有 0.57 毫秒。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950976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为什么是这个批    ·    Prefill 与 Decode 分开布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65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批停在机内 allreduce，副本数按到达率再配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14630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5  /  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6565392"/>
            <a:ext cx="11430000" cy="9144"/>
          </a:xfrm>
          <a:prstGeom prst="rect">
            <a:avLst/>
          </a:prstGeom>
          <a:solidFill>
            <a:srgbClr val="D6DC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601968"/>
            <a:ext cx="1143000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配置 2    ·    10T 外推    ·    一份模型 128 卡    ·    访存与通信取峰值 80%    ·    专家 GEMM 用 FP4，注意力用 FP8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60120"/>
          <a:ext cx="11430000" cy="2176272"/>
        </p:xfrm>
        <a:graphic>
          <a:graphicData uri="http://schemas.openxmlformats.org/drawingml/2006/table">
            <a:tbl>
              <a:tblPr firstRow="1"/>
              <a:tblGrid>
                <a:gridCol w="2194560"/>
                <a:gridCol w="4617720"/>
                <a:gridCol w="461772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 10 毫秒，批 784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 30 毫秒，批 4688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机内 allreduce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4.02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读专家权重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5.96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 GEMM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D2D 上的 EP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0.80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4.8 毫秒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相加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9.98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30.0 毫秒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3246120"/>
            <a:ext cx="114300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allreduce 走 16 卡 fullmesh。TP=16、DP=8，每层字节是 2×(15/16)×⌈全局批/8⌉×7168×2，61 层除以 40 GB/s。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D2D 有效只有 40 GB/s，但这个批上的 EP 仍短于 allreduce。把 D2D 加宽，10 毫秒和 30 毫秒的批不会先变大。要加批，得缩短机内 allreduce，或让两段在时间上叠起来。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4434840"/>
          <a:ext cx="11430000" cy="1115568"/>
        </p:xfrm>
        <a:graphic>
          <a:graphicData uri="http://schemas.openxmlformats.org/drawingml/2006/table">
            <a:tbl>
              <a:tblPr firstRow="1"/>
              <a:tblGrid>
                <a:gridCol w="2926080"/>
                <a:gridCol w="2834640"/>
                <a:gridCol w="2834640"/>
                <a:gridCol w="283464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4K、输出 512、命中 90%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请求/秒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请求/秒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副本比 P:D</a:t>
                      </a:r>
                    </a:p>
                  </a:txBody>
                  <a:tcPr marL="54864" marR="54864" marT="27432" marB="18288" anchor="ctr">
                    <a:solidFill>
                      <a:srgbClr val="0E2A47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2A4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 10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153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1C242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: 2.6</a:t>
                      </a:r>
                    </a:p>
                  </a:txBody>
                  <a:tcPr marL="54864" marR="54864" marT="27432" marB="18288" anchor="ctr">
                    <a:solidFill>
                      <a:srgbClr val="FFFFFF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TPOT 30 毫秒</a:t>
                      </a:r>
                    </a:p>
                  </a:txBody>
                  <a:tcPr marL="54864" marR="54864" marT="27432" marB="18288" anchor="ctr">
                    <a:solidFill>
                      <a:srgbClr val="F4F7FA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396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305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E7A7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: 1.3</a:t>
                      </a:r>
                    </a:p>
                  </a:txBody>
                  <a:tcPr marL="54864" marR="54864" marT="27432" marB="18288" anchor="ctr">
                    <a:solidFill>
                      <a:srgbClr val="E7F3F2"/>
                    </a:solidFill>
                    <a:lnL w="6350">
                      <a:solidFill>
                        <a:srgbClr val="D6DCE2"/>
                      </a:solidFill>
                    </a:lnL>
                    <a:lnR w="6350">
                      <a:solidFill>
                        <a:srgbClr val="D6DCE2"/>
                      </a:solidFill>
                    </a:lnR>
                    <a:lnT w="6350">
                      <a:solidFill>
                        <a:srgbClr val="D6DCE2"/>
                      </a:solidFill>
                    </a:lnT>
                    <a:lnB w="6350">
                      <a:solidFill>
                        <a:srgbClr val="D6DC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84048" y="5669280"/>
            <a:ext cx="11430000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一份 128 卡副本的 Prefill，在 10 秒、4K、90% 命中下是 3964 条、396 请求/秒。Decode 按上面的批和 TPOT 出 token，再除以 512。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节点数可以按这个比加副本。单副本的 TTFT 和 TPOT 不随副本数变化。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10T DeepSeek 配置2：TTFT 10秒与 TPOT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