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style val="10"/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dPt>
            <c:idx val="0"/>
            <c:spPr>
              <a:solidFill>
                <a:srgbClr val="0E2A47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7A541C"/>
              </a:solidFill>
              <a:ln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0E7A76"/>
              </a:solidFill>
              <a:ln>
                <a:solidFill>
                  <a:srgbClr val="FFFFFF"/>
                </a:solidFill>
              </a:ln>
            </c:spPr>
          </c:dPt>
          <c:dPt>
            <c:idx val="3"/>
            <c:spPr>
              <a:solidFill>
                <a:srgbClr val="DCE3E9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Sheet1!$A$2:$A$5</c:f>
              <c:strCache>
                <c:ptCount val="4"/>
                <c:pt idx="0">
                  <c:v>模型权重</c:v>
                </c:pt>
                <c:pt idx="1">
                  <c:v>系统预留</c:v>
                </c:pt>
                <c:pt idx="2">
                  <c:v>KV cache</c:v>
                </c:pt>
                <c:pt idx="3">
                  <c:v>空闲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45.3127788</c:v>
                </c:pt>
                <c:pt idx="1">
                  <c:v>6.0</c:v>
                </c:pt>
                <c:pt idx="2">
                  <c:v>8.825376</c:v>
                </c:pt>
                <c:pt idx="3">
                  <c:v>35.861845200000005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900" b="1">
                  <a:solidFill>
                    <a:srgbClr val="1C242E"/>
                  </a:solidFill>
                  <a:latin typeface="Microsoft YaHei"/>
                </a:defRPr>
              </a:pPr>
            </a:p>
          </c:txPr>
          <c:dLblPos val="outEnd"/>
          <c:showLegendKey val="0"/>
          <c:showVal val="0"/>
          <c:showCatName val="1"/>
          <c:showSerName val="0"/>
          <c:showPercent val="1"/>
          <c:showBubbleSize val="0"/>
          <c:showLeaderLines val="1"/>
        </c:dLbls>
      </c:pieChart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style val="10"/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dPt>
            <c:idx val="0"/>
            <c:spPr>
              <a:solidFill>
                <a:srgbClr val="0E2A47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7A541C"/>
              </a:solidFill>
              <a:ln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0E7A76"/>
              </a:solidFill>
              <a:ln>
                <a:solidFill>
                  <a:srgbClr val="FFFFFF"/>
                </a:solidFill>
              </a:ln>
            </c:spPr>
          </c:dPt>
          <c:dPt>
            <c:idx val="3"/>
            <c:spPr>
              <a:solidFill>
                <a:srgbClr val="DCE3E9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Sheet1!$A$2:$A$5</c:f>
              <c:strCache>
                <c:ptCount val="4"/>
                <c:pt idx="0">
                  <c:v>模型权重</c:v>
                </c:pt>
                <c:pt idx="1">
                  <c:v>系统预留</c:v>
                </c:pt>
                <c:pt idx="2">
                  <c:v>KV cache</c:v>
                </c:pt>
                <c:pt idx="3">
                  <c:v>空闲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45.3127788</c:v>
                </c:pt>
                <c:pt idx="1">
                  <c:v>6.0</c:v>
                </c:pt>
                <c:pt idx="2">
                  <c:v>5.197430784</c:v>
                </c:pt>
                <c:pt idx="3">
                  <c:v>39.489790416000005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900" b="1">
                  <a:solidFill>
                    <a:srgbClr val="1C242E"/>
                  </a:solidFill>
                  <a:latin typeface="Microsoft YaHei"/>
                </a:defRPr>
              </a:pPr>
            </a:p>
          </c:txPr>
          <c:dLblPos val="outEnd"/>
          <c:showLegendKey val="0"/>
          <c:showVal val="0"/>
          <c:showCatName val="1"/>
          <c:showSerName val="0"/>
          <c:showPercent val="1"/>
          <c:showBubbleSize val="0"/>
          <c:showLeaderLines val="1"/>
        </c:dLbls>
      </c:pieChart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style val="10"/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dPt>
            <c:idx val="0"/>
            <c:spPr>
              <a:solidFill>
                <a:srgbClr val="0E2A47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7A541C"/>
              </a:solidFill>
              <a:ln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0E7A76"/>
              </a:solidFill>
              <a:ln>
                <a:solidFill>
                  <a:srgbClr val="FFFFFF"/>
                </a:solidFill>
              </a:ln>
            </c:spPr>
          </c:dPt>
          <c:dPt>
            <c:idx val="3"/>
            <c:spPr>
              <a:solidFill>
                <a:srgbClr val="DCE3E9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Sheet1!$A$2:$A$5</c:f>
              <c:strCache>
                <c:ptCount val="4"/>
                <c:pt idx="0">
                  <c:v>模型权重</c:v>
                </c:pt>
                <c:pt idx="1">
                  <c:v>系统预留</c:v>
                </c:pt>
                <c:pt idx="2">
                  <c:v>KV cache</c:v>
                </c:pt>
                <c:pt idx="3">
                  <c:v>空闲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45.3127788</c:v>
                </c:pt>
                <c:pt idx="1">
                  <c:v>6.0</c:v>
                </c:pt>
                <c:pt idx="2">
                  <c:v>2.59196928</c:v>
                </c:pt>
                <c:pt idx="3">
                  <c:v>42.09525192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900" b="1">
                  <a:solidFill>
                    <a:srgbClr val="1C242E"/>
                  </a:solidFill>
                  <a:latin typeface="Microsoft YaHei"/>
                </a:defRPr>
              </a:pPr>
            </a:p>
          </c:txPr>
          <c:dLblPos val="outEnd"/>
          <c:showLegendKey val="0"/>
          <c:showVal val="0"/>
          <c:showCatName val="1"/>
          <c:showSerName val="0"/>
          <c:showPercent val="1"/>
          <c:showBubbleSize val="0"/>
          <c:showLeaderLines val="1"/>
        </c:dLbls>
      </c:pieChart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style val="10"/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dPt>
            <c:idx val="0"/>
            <c:spPr>
              <a:solidFill>
                <a:srgbClr val="0E2A47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7A541C"/>
              </a:solidFill>
              <a:ln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0E7A76"/>
              </a:solidFill>
              <a:ln>
                <a:solidFill>
                  <a:srgbClr val="FFFFFF"/>
                </a:solidFill>
              </a:ln>
            </c:spPr>
          </c:dPt>
          <c:dPt>
            <c:idx val="3"/>
            <c:spPr>
              <a:solidFill>
                <a:srgbClr val="DCE3E9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Sheet1!$A$2:$A$5</c:f>
              <c:strCache>
                <c:ptCount val="4"/>
                <c:pt idx="0">
                  <c:v>模型权重</c:v>
                </c:pt>
                <c:pt idx="1">
                  <c:v>系统预留</c:v>
                </c:pt>
                <c:pt idx="2">
                  <c:v>KV cache</c:v>
                </c:pt>
                <c:pt idx="3">
                  <c:v>空闲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45.3127788</c:v>
                </c:pt>
                <c:pt idx="1">
                  <c:v>6.0</c:v>
                </c:pt>
                <c:pt idx="2">
                  <c:v>1.5332352</c:v>
                </c:pt>
                <c:pt idx="3">
                  <c:v>43.153986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900" b="1">
                  <a:solidFill>
                    <a:srgbClr val="1C242E"/>
                  </a:solidFill>
                  <a:latin typeface="Microsoft YaHei"/>
                </a:defRPr>
              </a:pPr>
            </a:p>
          </c:txPr>
          <c:dLblPos val="outEnd"/>
          <c:showLegendKey val="0"/>
          <c:showVal val="0"/>
          <c:showCatName val="1"/>
          <c:showSerName val="0"/>
          <c:showPercent val="1"/>
          <c:showBubbleSize val="0"/>
          <c:showLeaderLines val="1"/>
        </c:dLbls>
      </c:pieChart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style val="10"/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dPt>
            <c:idx val="0"/>
            <c:spPr>
              <a:solidFill>
                <a:srgbClr val="0E2A47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7A541C"/>
              </a:solidFill>
              <a:ln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0E7A76"/>
              </a:solidFill>
              <a:ln>
                <a:solidFill>
                  <a:srgbClr val="FFFFFF"/>
                </a:solidFill>
              </a:ln>
            </c:spPr>
          </c:dPt>
          <c:dPt>
            <c:idx val="3"/>
            <c:spPr>
              <a:solidFill>
                <a:srgbClr val="DCE3E9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Sheet1!$A$2:$A$5</c:f>
              <c:strCache>
                <c:ptCount val="4"/>
                <c:pt idx="0">
                  <c:v>模型权重</c:v>
                </c:pt>
                <c:pt idx="1">
                  <c:v>系统预留</c:v>
                </c:pt>
                <c:pt idx="2">
                  <c:v>KV cache</c:v>
                </c:pt>
                <c:pt idx="3">
                  <c:v>空闲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45.3127788</c:v>
                </c:pt>
                <c:pt idx="1">
                  <c:v>6.0</c:v>
                </c:pt>
                <c:pt idx="2">
                  <c:v>44.6872212</c:v>
                </c:pt>
                <c:pt idx="3">
                  <c:v>0.0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900" b="1">
                  <a:solidFill>
                    <a:srgbClr val="1C242E"/>
                  </a:solidFill>
                  <a:latin typeface="Microsoft YaHei"/>
                </a:defRPr>
              </a:pPr>
            </a:p>
          </c:txPr>
          <c:dLblPos val="outEnd"/>
          <c:showLegendKey val="0"/>
          <c:showVal val="0"/>
          <c:showCatName val="1"/>
          <c:showSerName val="0"/>
          <c:showPercent val="1"/>
          <c:showBubbleSize val="0"/>
          <c:showLeaderLines val="1"/>
        </c:dLbls>
      </c:pieChart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style val="10"/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dPt>
            <c:idx val="0"/>
            <c:spPr>
              <a:solidFill>
                <a:srgbClr val="0E2A47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7A541C"/>
              </a:solidFill>
              <a:ln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0E7A76"/>
              </a:solidFill>
              <a:ln>
                <a:solidFill>
                  <a:srgbClr val="FFFFFF"/>
                </a:solidFill>
              </a:ln>
            </c:spPr>
          </c:dPt>
          <c:dPt>
            <c:idx val="3"/>
            <c:spPr>
              <a:solidFill>
                <a:srgbClr val="DCE3E9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Sheet1!$A$2:$A$5</c:f>
              <c:strCache>
                <c:ptCount val="4"/>
                <c:pt idx="0">
                  <c:v>模型权重</c:v>
                </c:pt>
                <c:pt idx="1">
                  <c:v>系统预留</c:v>
                </c:pt>
                <c:pt idx="2">
                  <c:v>KV cache</c:v>
                </c:pt>
                <c:pt idx="3">
                  <c:v>空闲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45.3127788</c:v>
                </c:pt>
                <c:pt idx="1">
                  <c:v>6.0</c:v>
                </c:pt>
                <c:pt idx="2">
                  <c:v>44.6872212</c:v>
                </c:pt>
                <c:pt idx="3">
                  <c:v>0.0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900" b="1">
                  <a:solidFill>
                    <a:srgbClr val="1C242E"/>
                  </a:solidFill>
                  <a:latin typeface="Microsoft YaHei"/>
                </a:defRPr>
              </a:pPr>
            </a:p>
          </c:txPr>
          <c:dLblPos val="outEnd"/>
          <c:showLegendKey val="0"/>
          <c:showVal val="0"/>
          <c:showCatName val="1"/>
          <c:showSerName val="0"/>
          <c:showPercent val="1"/>
          <c:showBubbleSize val="0"/>
          <c:showLeaderLines val="1"/>
        </c:dLbls>
      </c:pieChart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1.6T 来自 V4-Pro 论文 arXiv:2606.19348：61 层，隐藏 7168，384 个路由专家，中间维 3072，每 token 激活 6 个，激活参数 49B。单个路由专家在全部层上是 3×7168×3072×61 = 4.030×10^9。384 个专家为 1.547×10^12，总参数 1.600×10^12 减去这一项，其余 5.260×10^10 含共享专家、注意力、mHC、词表和 MTP。10T 把专家数解成 2469，总参数 = 2469×4.030×10^9 + 5.260×10^10 = 1.000×10^13。FP4 容量 = 2469×4.030×10^9×0.5 字节 = 4.975 TB。640 GB 卡下限是 ceil(4.975 TB / 640 GB) = 8。单 token 通信量 6×3×7168×61 = 7.87×10^6 字节。每 token 仍只派 6 个专家，通信量不随专家总数变。后面几页是 96 GB、486 T 这一档。算力 486×10^12 再乘 70%，有效 340.2×10^12。注意力和专家用同一个峰值。HBM 96 GB，带宽 4 TB/s，计时取 80% 即 3.20 TB/s。H2D是64 GB/s（字节），80%后51.2 GB/s。Prefill主机输入和Decode的外部DDR/KV换入都走这条链路；HBM内权重与KV仍按3.20 TB/s读取。D2D 3.2 Tb/s：换算400 GB/s峰值，80%后320 GB/s。8卡fullmesh每卡有7条400 Gb/s链路：聚合350 GB/s峰值，受D2D口约束前已较低，80%后AllReduce按280 GB/s。参数面400 Gb/s，80%后40 GB/s。DDR5 的 1288.8 GB/s 和 768 GB 按一台 8 卡机器记。有效 1031 GB/s，每卡分到 128.9 GB/s 和 96 GB。H2D 只有 51.2 GB/s，主机路径被 H2D 卡住。DDR池容量不设上限、标称480 GB/s，但Decode外部访存必须经过每卡H2D：min(480×80%, 64×80%, 128.9)=51.2 GB/s。MoE dispatch/combine仍走独立D2D平面320 GB/s。本页的池带宽按每卡，不把 480 GB/s 理解成 128 卡共享。注意力 TP=8 留在机内 fullmesh，16 台机器做 DP=16。MoE EP=128 走 D2D。每卡扣掉路由 38.86 GB、共享 4.03 GB、注意力 2.42 GB 和 6 GB 预留后，128 卡 KV 余量 5.72 TB。Prefill 与 Decode 的副本数可以按吞吐配，副本个数不改变单副本的 TTFT 和 TPOT。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单请求不跨副本。增加 Prefill 节点是多放几份 128 卡副本，提高并发，单条 TTFT 不变。冷请求没有 prefix 拉取。Attention = max(HBM, compute, AR)，MoE = dispatch + max(weight, GEMM) + combine，两段相加。在 S=329024：indexer 2.4439s，HCA 1.2627s，投影 4.6786s，稀疏注意力 1.0953s，Attention 计算 9.4804s，AR 1.7983s，所以 Attention 取 9.4804s。MoE 0.5196s。完整 KV 的 P-D 传输 5.09 ms，layer-wise 发送后尾巴 0.00 ms。数据面合计 10.0000s。固定开销没有实测，不计入；生产最大长度必须再留余量。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这一页的批是 128 卡副本上的全局批，每卡条数 = 全局批 / 128。切分与上一页相同：注意力 TP=8、DP=16，MoE EP=128。KV 命中 98%，命中部分经每卡 40 GB/s 的参数面拉到 HBM。每条只现算 2%，这些 query 的平均上下文约为 99%S。Attention = max(prefix pull, HBM, compute, AR)。MoE = dispatch + max(weight, GEMM) + combine。Attention 与 MoE 相加。4K 全局批 45674：现算 3.7416e+06 token，allreduce 1.278s，注意力计算 4.169s，专家计算 5.830s，EP 双向 0.963s，读专家权重 13.40 ms，拉 prefix 217.0 ms，合计 10.000s。再加一条是 10.007s。1M 全局批 64：现算 1.3422e+06，allreduce 0.458s，注意力计算 7.435s（indexer 3.932s），MoE 2.101s，EP 双向 0.347s，拉 prefix 63.5 ms，合计 9.537s。P-D 完整 KV 分层发送：4K 220.63 ms，1M 64.80 ms；尾巴都是 0。固定开销未计入。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Decode 与 Prefill 用同一份 128 卡副本：注意力 TP=8、DP=16，MoE EP=128。加 Decode 节点是多副本，单副本的 TPOT 不变。Attention = SWAP + max(HBM, compute) + AR。MoE = dispatch + max(weight, GEMM) + combine。两段相加。命中率 = 1 − exp(−6×222 / 2469) = 0.4170。最忙卡激活专家 12.374。读权重 (12.374×2.015 GB + 4.030 GB) / 3.20 TB/s = 9.050 ms。机内 allreduce：ceil(222/16) = 14 条，每条7168×2字节，每层通信量2×7/8，61层除以280 GB/s = 0.077 ms。Attention 0.846 ms，MoE 9.142 ms，合计 9.988 ms。223 条是 10.007 ms。专家计算 5.069 ms，EP 双向 0.092 ms。注意力计算 0.285 ms，HBM 0.769 ms。4K – 32K 的全局批都是 222，KV 全在 HBM。2M 降到 145，池上KV经H2D换入 0.00 ms。1M 降到 190，0.33×10^6 降到 216。HBM放不下的Decode KV统一走51.2 GB/s H2D。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毫秒用的切分与 10 毫秒相同：TP=8，DP=16，EP=128，128 卡一份副本。BS=7936 时命中率 1.0000，最忙卡激活 19.289 个专家。读权重 (38.86 GB + 4.03 GB) / 3.20 TB/s = 13.404 ms。机内 allreduce：ceil(7936/16) = 496 条，每层通信量2×7/8，61层，除以280 GB/s = 2.711 ms。Attention 11.554 ms，MoE 18.382 ms，合计 29.936 ms。7937 条是 30.227 ms。EP 双向 2.243 ms，专家计算 16.139 ms，效率 0.665。注意力计算 8.843 ms。显存：每卡 96 − 38.86 − 4.03 − 2.42 − 6 = 44.69 GB，128 卡共 5.72 TB。HBM放不下的Decode KV统一经每卡H2D换入。标称64 GB/s取80%为51.2 GB/s；DDR池容量不设上限。256K、全局批 4526 时已有 2.7% KV 在池中，池上读 3.49 ms。512K 降到 2327，池上读 6.49 ms。1M 降到 1186，0.33×10^6 降到 3644。4K、输出 512、命中 98%：Prefill 4567.4 请求/秒。10 毫秒 Decode 43.4 请求/秒，P:D ≈ 1:105.3。30 毫秒 Decode 516.7 请求/秒，P:D ≈ 1:8.8。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BS 一律是 128 卡副本的全局批。每卡条数 = 全局批 / 128。存量 = S×4939.5 字节 + 4.50 MB。一步真正读的是压缩 indexer、最多 1024 条完整 KV 和 HCA，所以溢出比例高时，池上的读时延仍可能短于 allreduce。HBM余量 5.72 TB。溢出KV经每卡H2D进入GPU，有效 51.2 GB/s，DDR池容量不设上限。换入带宽=min(DDR池480×80%, H2D 64×80%, 每卡DDR有效128.9)=51.2 GB/s。专家通信仍走独立D2D 320 GB/s。Decode Attention = SWAP + max(HBM, compute) + AR；再加完整 MoE。S=4096 store=24.7MB cap=231300 b10=222 spill10=0.00% pool10=0.00ms b30=7936 spill30=0.00% pool30=0.00ms t30=29.94ms S=8192 store=45.0MB cap=127218 b10=222 spill10=0.00% pool10=0.00ms b30=7808 spill30=0.00% pool30=0.00ms t30=30.00ms S=32768 store=166.4MB cap=34384 b10=222 spill10=0.00% pool10=0.00ms b30=7424 spill30=0.00% pool30=0.00ms t30=29.96ms S=131072 store=651.9MB cap=8773 b10=220 spill10=0.00% pool10=0.00ms b30=6144 spill30=0.00% pool30=0.00ms t30=29.80ms S=262144 store=1299.4MB cap=4402 b10=218 spill10=0.00% pool10=0.00ms b30=4526 spill30=2.74% pool30=3.49ms t30=29.98ms S=524288 store=2594.2MB cap=2204 b10=213 spill10=0.00% pool10=0.00ms b30=2327 spill30=5.25% pool30=6.49ms t30=29.95ms S=1048576 store=5183.9MB cap=1103 b10=190 spill10=0.00% pool10=0.00ms b30=1186 spill30=6.96% pool30=8.57ms t30=29.91ms 2M 的 10 毫秒批 145，池上读 0.00 ms。4×10^6 的 10 毫秒批 72，30 毫秒批 315。0.33×10^6 的 10 毫秒批 216，30 毫秒批 3644。单条 1M、98% 命中的 TTFT 是 1.8983 秒。冷的 1M 单条是 57.689 秒。第 3 页 Prefill：4K 45674，8K 22676，32K 5456，128K 1184，256K 498，512K 192，1M 64。P:D 按 4K 进、512 出、98% 命中：Prefill 4567.4 请求/秒，10 毫秒 Decode 43.4 请求/秒（1:105.34），30 毫秒 Decode 516.7 请求/秒（1:8.84）。副本数按这个吞吐比配置，单副本时延不变。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7、8 页只统计 decode KV 溢出到 DDR 池的输入长度。全在 HBM 的长度留在第 6 页，不在这里记 0。256K BS=4526 pool=178.7 MB t=3.490 ms ar=1.547 ca=10.224 step=29.983。1M BS=1186 pool=438.6 MB t=8.567 ms step=29.914。10 毫秒曲线在本档没有溢出长度。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池上字节=spill×bs×n_csa_read(S)/128。换入走H2D，有效51.2 GB/s。n_csa_read = 30×(S/4)×64 + 31×(S/128)×576 + 30×min(1024,S/4)×576 + 61×128×576。256K bs=4526 spill=2.74% pool=178.7MB t=3.490ms step=29.983ms 0.33×10^6 bs=3644 spill=3.68% pool=237.2MB t=4.633ms step=29.979ms 512K bs=2327 spill=5.25% pool=332.3MB t=6.490ms step=29.955ms 1M bs=1186 spill=6.96% pool=438.6MB t=8.567ms step=29.914ms 口径已固化：第 7、8 页不收录换入为 0 的输入长度。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这一页是后续固化口径。TTFT 的 chunk 流水忽略显式 fill/drain 气泡，气泡和软件固定开销都放在未计入项。Prefill attention 假设融合 kernel 有理想 tile 复用，每个 KV 字节从 HBM 读一次；没有实测 IO 放大系数。Decode 不假设输出投影与 collective 融合，AR 单独加。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冷请求 S=329024，Attention=9.480423s，AR=1.798314s，compute=9.480423s，HBM=0.000883s，MoE=0.519552s，P-D=0.005093s，tail=0.000000s，total=9.999975s。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4K 10ms BS=222 data-plane=9.988046ms；4K 30ms BS=7936 data-plane=29.936117ms。生产摸高需要先给 measured fixed overhead 预留预算，再重新搜索 BS。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饼图按最忙活跃 GPU，不按 128 卡平均。每卡固定：路由专家 38.864 GB，共享专家 4.030 GB，Attention 2.419 GB，系统预留 6 GB。KV = ceil(BS/16) × store_seq(S) / 8。4K: BS=45674, kv=8.825GB, free=35.862GB. 256K: BS=498, kv=5.197GB, free=39.490GB. 1M: BS=64, kv=2.592GB, free=42.095GB.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Decode 饼图使用 30ms 最大批，按最忙活跃 GPU。HBM KV 上限 44.687 GB。4K: BS=7936, hbm_kv=1.533GB, pool=0.000GB, free=43.154GB. 256K: BS=4526, hbm_kv=44.687GB, pool=1.278GB, free=0.000GB. 1M: BS=1186, hbm_kv=44.687GB, pool=3.912GB, free=0.000GB.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Prefill MoE按最忙EP卡统计。dispatch和combine分别计算，不能互相重叠；专家权重读取与GEMM位于融合kernel内，取二者最大值。4K: BS=45674, Q=3741614, dispatch=0.481581s, weight=0.013404s, gemm=4.867284s, combine=0.481581s, total=5.830445s. 8K: BS=22676, Q=3715236, dispatch=0.478194s, weight=0.013404s, gemm=4.833490s, combine=0.478194s, total=5.789877s. 32K: BS=5456, Q=3575644, dispatch=0.460269s, weight=0.013404s, gemm=4.653798s, combine=0.460269s, total=5.574336s. 128K: BS=1184, Q=3103785, dispatch=0.399671s, weight=0.013404s, gemm=4.040202s, combine=0.399671s, total=4.839545s. 256K: BS=498, Q=2610954, dispatch=0.336368s, weight=0.013404s, gemm=3.400502s, combine=0.336368s, total=4.073238s. 512K: BS=192, Q=2013266, dispatch=0.259572s, weight=0.013404s, gemm=2.624869s, combine=0.259572s, total=3.144013s. 1M: BS=64, Q=1342177, dispatch=0.173298s, weight=0.013404s, gemm=1.754787s, combine=0.173298s, total=2.101384s.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Relationship Id="rId4" Type="http://schemas.openxmlformats.org/officeDocument/2006/relationships/chart" Target="../charts/chart3.xml"/><Relationship Id="rId5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Relationship Id="rId4" Type="http://schemas.openxmlformats.org/officeDocument/2006/relationships/chart" Target="../charts/chart6.xml"/><Relationship Id="rId5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模型结构    ·    1.6T 论文到 10T 外推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同一骨架，只加路由专家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  /  14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128 卡副本    ·    访存与通信 80%    ·    计算 70%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822960"/>
            <a:ext cx="11430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1.6T 是 V4-Pro 论文原模型。10T 沿用层数、隐藏和中间维，用路由专家个数把总参数对齐到 10^13。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84048" y="1133856"/>
          <a:ext cx="11430000" cy="3621024"/>
        </p:xfrm>
        <a:graphic>
          <a:graphicData uri="http://schemas.openxmlformats.org/drawingml/2006/table">
            <a:tbl>
              <a:tblPr firstRow="1"/>
              <a:tblGrid>
                <a:gridCol w="1965960"/>
                <a:gridCol w="2880360"/>
                <a:gridCol w="2331720"/>
                <a:gridCol w="4251960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项目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1.6T  论文 V4-Pro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10T  外推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备注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总参数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1.600×10^12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1.000×10^13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DeepSeek 未发布 10T，本档是外推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路由专家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384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2469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×6.43。增量全部记在专家个数上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激活参数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4.9×10^10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4.9×10^10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 token 仍激活 6 个路由专家 + 1 个共享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激活比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3.06%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0.49%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专家表变大，单 token 激活不变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FP4 专家表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0.774 TB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4.975 TB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单个专家全层 2.015 GB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层 / 隐藏 / 中间维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61 / 7168 / 3072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同左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外推不动这三项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CSA m=4，topk=1024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HCA m′=128，滑窗 128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同左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 层 CSA、31 层 HCA。KV 仍是 4939.5 B/token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单 token 专家通信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7.87×10^6 字节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同左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 × 3 × 7168 × 61，与专家总数无关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640 GB 卡下限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 张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 张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只按 FP4 专家表。时延页用本档 96 GB × 128 卡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384048" y="4956048"/>
            <a:ext cx="11430000" cy="1316736"/>
          </a:xfrm>
          <a:prstGeom prst="roundRect">
            <a:avLst/>
          </a:prstGeom>
          <a:solidFill>
            <a:srgbClr val="F8F1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5010912"/>
            <a:ext cx="11137392" cy="12070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外推式：总参数 = 专家数 × 4.030×10^9 + 5.260×10^10。单个专家 = 3 × 7168 × 3072 × 61。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本档：96 GB HBM，4 TB/s取80%为3.20 TB/s。算力486 T取70%为340.2 T。H2D每卡64 GB/s取80%为51.2 GB/s，用于Prefill主机输入及全部Decode DDR换入。机内DDR5每机1288.8 GB/s、768 GB。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D2D每卡3.2 Tb/s取80%为320 GB/s，只承载MoE EP等GPU间通信。DDR池标称480 GB/s，但Decode访存统一经H2D进入GPU，因此换入有效带宽为51.2 GB/s。8卡fullmesh每条链路400 Gb/s，7链路并发后取80%为280 GB/s；参数面仍为40 GB/s。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Prefill    ·    TTFT ≤ 10 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10 秒对应的最大输入是 0.33×10^6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2  /  14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128 卡副本    ·    访存与通信 80%    ·    计算 70%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20624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冷请求：Attention 9.48 秒（AR 1.80 秒、计算 9.48 秒），MoE 0.52 秒；P→D 5.1 毫秒 全部隐藏。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1335024"/>
            <a:ext cx="566928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并行策略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84048" y="1591056"/>
          <a:ext cx="11430000" cy="2157984"/>
        </p:xfrm>
        <a:graphic>
          <a:graphicData uri="http://schemas.openxmlformats.org/drawingml/2006/table">
            <a:tbl>
              <a:tblPr firstRow="1"/>
              <a:tblGrid>
                <a:gridCol w="1417320"/>
                <a:gridCol w="4937760"/>
                <a:gridCol w="5074920"/>
              </a:tblGrid>
              <a:tr h="25603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/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MoE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并行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机内 TP=8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16 台机器做 DP=16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超节点 EP=128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一份模型铺满 128 卡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通信域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8卡 fullmesh，7链路并发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AllReduce 有效 280 GB/s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128卡 D2D，有效320 GB/s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KV走参数面，有效40 GB/s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每卡权重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 19.35 GB / 8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= 2.42 GB FP8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路由专家 19.3 个，38.9 GB FP4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共享专家 4.03 GB，每卡一份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本阶段角色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 取计算、HBM、AR 的瓶颈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按实际最长通路决定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dispatch + 融合专家 kernel + combine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到这个长度合计 0.52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84048" y="3895344"/>
            <a:ext cx="11430000" cy="20116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10 秒怎么落到这个输入长度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84048" y="4206240"/>
          <a:ext cx="11430000" cy="1938528"/>
        </p:xfrm>
        <a:graphic>
          <a:graphicData uri="http://schemas.openxmlformats.org/drawingml/2006/table">
            <a:tbl>
              <a:tblPr firstRow="1"/>
              <a:tblGrid>
                <a:gridCol w="1554480"/>
                <a:gridCol w="6903720"/>
                <a:gridCol w="2971800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这一笔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算法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 = 0.33×10^6 时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CSA indexer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 层 × 2048 × S²；TP=8，按 16 行砖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2.44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HCA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31 层 × 1024 × S²；同一个融合 kernel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1.26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MoE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dispatch + max(专家权重, GEMM) + combine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0.52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投影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 token 3.87×10^10 FLOP；按 TP=8 分担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4.68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稀疏注意力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 token 看 1024 条压缩 KV + 128 滑窗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1.10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AR + P→D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AR 在 Attention 内取瓶颈；完整 KV 按层发送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1.80 秒 + 5.09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合计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 9.48 秒 + MoE 0.52 秒；P→D 尾巴为 0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10.0 秒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Prefill    ·    TTFT ≤ 10 秒    ·    KV 命中 98%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4K 的 prefill 全局批是 45674，1M 是 64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3  /  14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128 卡副本    ·    访存与通信 80%    ·    计算 70%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20624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98% prefix 经参数面 40 GB/s 拉入 HBM，只现算 2%。Attention 取拉取、融合 kernel、AR 的瓶颈，再加完整 MoE。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1316736"/>
            <a:ext cx="11430000" cy="20116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10 秒在两个端点上怎么加完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84048" y="1536192"/>
          <a:ext cx="11430000" cy="2157984"/>
        </p:xfrm>
        <a:graphic>
          <a:graphicData uri="http://schemas.openxmlformats.org/drawingml/2006/table">
            <a:tbl>
              <a:tblPr firstRow="1"/>
              <a:tblGrid>
                <a:gridCol w="1554480"/>
                <a:gridCol w="4709160"/>
                <a:gridCol w="2606040"/>
                <a:gridCol w="2560320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笔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算法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4K，全局批 45674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1M，全局批 64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现算 token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批 × 输入 × 0.02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3.74×10^6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1.34×10^6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机内 allreduce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每组现算 token × 7168 × 2 字节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61 层 × 2×7/8 / 280 GB/s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1.28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0.46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注意力计算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indexer、HCA、稀疏注意力、投影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除以 340.2 T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4.17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7.44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MoE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dispatch + max(专家权重, GEMM) + combine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5.83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2.10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相加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 瓶颈 + 完整 MoE；P→D 尾巴为 0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10.0 秒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9.54 秒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84048" y="3822191"/>
            <a:ext cx="11430000" cy="20116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同一条 10 秒，输入从 4K 到 1M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84048" y="4114800"/>
          <a:ext cx="11430000" cy="1755648"/>
        </p:xfrm>
        <a:graphic>
          <a:graphicData uri="http://schemas.openxmlformats.org/drawingml/2006/table">
            <a:tbl>
              <a:tblPr firstRow="1"/>
              <a:tblGrid>
                <a:gridCol w="960120"/>
                <a:gridCol w="1417320"/>
                <a:gridCol w="868680"/>
                <a:gridCol w="1554480"/>
                <a:gridCol w="1417320"/>
                <a:gridCol w="1417320"/>
                <a:gridCol w="1691640"/>
                <a:gridCol w="2103120"/>
              </a:tblGrid>
              <a:tr h="21945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输入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 秒全局批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每卡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现算 token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allreduce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MoE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注意力计算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拉 prefix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45674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356.8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3.74×10^6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1.28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5.83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4.17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217.0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22676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177.2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3.72×10^6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1.27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5.79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4.21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195.7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32K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5456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42.6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3.58×10^6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1.22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5.57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4.42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173.8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128K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1184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9.2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3.10×10^6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1.06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4.84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5.13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147.8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256K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498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3.9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2.61×10^6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0.92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4.07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5.93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127.3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512K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192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1.5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2.01×10^6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0.69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3.14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6.68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95.3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1M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64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0.50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1.34×10^6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0.46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2.10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7.44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63.5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84048" y="6089904"/>
            <a:ext cx="114300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98% prefix 走参数面：4K 这一批拉取 217.0 毫秒，1M 拉取 63.5 毫秒；均短于 Attention 主瓶颈。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Decode    ·    TPOT ≤ 10 毫秒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10 毫秒、短输入，全局批 222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4  /  14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128 卡副本    ·    访存与通信 80%    ·    计算 70%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20624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读专家 9.05 毫秒，只醒了 12.4 个。机内 allreduce 0.08 毫秒。专家 GEMM 5.07 毫秒。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1335024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并行策略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1335024"/>
            <a:ext cx="521208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短输入（4K）这一步怎么加到 10 毫秒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84048" y="1627632"/>
          <a:ext cx="5852160" cy="2414016"/>
        </p:xfrm>
        <a:graphic>
          <a:graphicData uri="http://schemas.openxmlformats.org/drawingml/2006/table">
            <a:tbl>
              <a:tblPr firstRow="1"/>
              <a:tblGrid>
                <a:gridCol w="1051560"/>
                <a:gridCol w="2331720"/>
                <a:gridCol w="2468880"/>
              </a:tblGrid>
              <a:tr h="25603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/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MoE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并行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TP=8，DP=16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每组 token 数 = ⌈BS / 16⌉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EP=128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2469 个专家，每卡 19.3 个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通信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AR 在融合 kernel 后单独加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0.08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dispatch + combine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合计 0.09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访存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全部 KV + 2.42 GB 权重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0.77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醒了 12.4 / 19.3 个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读权重 9.05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计算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行数 = ⌈BS / 16⌉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融合 kernel 0.29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逐专家 16 行 padding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GEMM 5.07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446520" y="1627632"/>
          <a:ext cx="5349240" cy="2560320"/>
        </p:xfrm>
        <a:graphic>
          <a:graphicData uri="http://schemas.openxmlformats.org/drawingml/2006/table">
            <a:tbl>
              <a:tblPr firstRow="1"/>
              <a:tblGrid>
                <a:gridCol w="1097280"/>
                <a:gridCol w="3200400"/>
                <a:gridCol w="1051560"/>
              </a:tblGrid>
              <a:tr h="25603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笔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白话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时间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Attn kernel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max(HBM 0.77, 计算 0.29)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0.77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AR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每组 14 条；61层 fullmesh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7链路并发，不与kernel重叠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0.08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MoE 通信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最忙卡 dispatch + combine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两个方向分别统计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0.09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专家 kernel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max(读权重 9.05, GEMM 5.07)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9.05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相加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 0.85 + MoE 9.14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9.99 毫秒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384048" y="4937760"/>
            <a:ext cx="2788920" cy="1481328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5010912"/>
            <a:ext cx="2514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4K – 32K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5248656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222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5724144"/>
            <a:ext cx="251460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全局批，每卡 1.7 条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全在 HBM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10128" y="4937760"/>
            <a:ext cx="2788920" cy="1481328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56432" y="5010912"/>
            <a:ext cx="2514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128K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56432" y="5248656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220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56432" y="5724144"/>
            <a:ext cx="251460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全局批，每卡 1.7 条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全在 HBM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6208" y="4937760"/>
            <a:ext cx="2788920" cy="1481328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82512" y="5010912"/>
            <a:ext cx="2514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82512" y="5248656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190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2512" y="5724144"/>
            <a:ext cx="251460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全局批，每卡 1.5 条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全在 HBM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62288" y="4937760"/>
            <a:ext cx="2788920" cy="1481328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08592" y="5010912"/>
            <a:ext cx="2514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0.33×10^6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08592" y="5248656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216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08592" y="5724144"/>
            <a:ext cx="251460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全局批，每卡 1.7 条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全在 HBM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Decode    ·    TPOT ≤ 30 毫秒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30 毫秒、短输入，全局批 7936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5  /  14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128 卡副本    ·    访存与通信 80%    ·    计算 70%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20624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专家整卡读完 13.40 毫秒，机内 allreduce 2.71 毫秒。D2D 上的 EP 2.24 毫秒。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1335024"/>
            <a:ext cx="566928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并行策略    ·    和 10 毫秒同一份切分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1335024"/>
            <a:ext cx="521208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短输入、全局批 7936，这一步怎么加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84048" y="1627632"/>
          <a:ext cx="5852160" cy="2414016"/>
        </p:xfrm>
        <a:graphic>
          <a:graphicData uri="http://schemas.openxmlformats.org/drawingml/2006/table">
            <a:tbl>
              <a:tblPr firstRow="1"/>
              <a:tblGrid>
                <a:gridCol w="1051560"/>
                <a:gridCol w="2331720"/>
                <a:gridCol w="2468880"/>
              </a:tblGrid>
              <a:tr h="25603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/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MoE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并行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仍是 TP=8，DP=16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7936 / 16 = 496 条 / 组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仍是 EP=128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每卡 19.3 个专家全醒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通信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AR 在融合 kernel 后单独加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这一档不能隐藏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dispatch + combine 走 320 GB/s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合计 2.24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访存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短输入全在 HBM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DDR换入走H2D 51.2 GB/s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38.9 GB 路由 + 4.03 GB 共享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/ 3.20 TB/s = 13.40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计算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注意力计算 8.84 毫秒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与HBM取大后再加AR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每专家约 21.3 token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16 行砖，效率 66%，16.14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446520" y="1627632"/>
          <a:ext cx="5349240" cy="2542032"/>
        </p:xfrm>
        <a:graphic>
          <a:graphicData uri="http://schemas.openxmlformats.org/drawingml/2006/table">
            <a:tbl>
              <a:tblPr firstRow="1"/>
              <a:tblGrid>
                <a:gridCol w="1143000"/>
                <a:gridCol w="3154680"/>
                <a:gridCol w="1051560"/>
              </a:tblGrid>
              <a:tr h="25603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笔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白话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时间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Attn kernel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max(HBM 1.23, 计算 8.84)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8.84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AR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每组 496 条；61层 fullmesh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7链路并发，不与kernel重叠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2.71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MoE 通信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最忙卡 dispatch + combine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两个方向分别统计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2.24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专家 kernel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max(读权重 13.40, GEMM 16.14)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16.14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相加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 11.55 + MoE 18.38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29.94 毫秒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384048" y="4937760"/>
            <a:ext cx="2788920" cy="1481328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5010912"/>
            <a:ext cx="2514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4K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5248656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7936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5724144"/>
            <a:ext cx="251460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全局批，每卡 62.0 条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全在 HBM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10128" y="4937760"/>
            <a:ext cx="2788920" cy="1481328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56432" y="5010912"/>
            <a:ext cx="2514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256K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56432" y="5248656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4526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56432" y="5724144"/>
            <a:ext cx="251460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全局批，每卡 35.4 条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2.7% 在 DDR 池（H2D）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6208" y="4937760"/>
            <a:ext cx="2788920" cy="1481328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82512" y="5010912"/>
            <a:ext cx="2514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512K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82512" y="5248656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2327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2512" y="5724144"/>
            <a:ext cx="251460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全局批，每卡 18.2 条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5.2% 在 DDR 池（H2D）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62288" y="4937760"/>
            <a:ext cx="2788920" cy="1481328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08592" y="5010912"/>
            <a:ext cx="2514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0.33×10^6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08592" y="5248656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3644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08592" y="5724144"/>
            <a:ext cx="251460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全局批，每卡 28.5 条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3.7% 在 DDR 池（H2D）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Decode    ·    不同输入下的最大全局批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10 毫秒都不进池；30 毫秒从 256K 开始使用 DDR 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6  /  14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128 卡副本    ·    访存与通信 80%    ·    计算 70%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20624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全局批是128卡上的条数。放不下的Decode KV进入DDR池，并统一经每卡H2D以51.2 GB/s换回HBM。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84048" y="1371600"/>
          <a:ext cx="11430000" cy="3017520"/>
        </p:xfrm>
        <a:graphic>
          <a:graphicData uri="http://schemas.openxmlformats.org/drawingml/2006/table">
            <a:tbl>
              <a:tblPr firstRow="1"/>
              <a:tblGrid>
                <a:gridCol w="1051560"/>
                <a:gridCol w="1234440"/>
                <a:gridCol w="1234440"/>
                <a:gridCol w="1554480"/>
                <a:gridCol w="914400"/>
                <a:gridCol w="1600200"/>
                <a:gridCol w="914400"/>
                <a:gridCol w="292608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输入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每条 KV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HBM 能放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 毫秒全局批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每卡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 毫秒全局批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每卡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 毫秒的 KV 放哪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24.7 MB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23.1 万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222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1.7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7936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62.0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全在 HBM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45.0 MB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12.7 万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222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1.7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7808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61.0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全在 HBM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32K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166.4 MB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3.44 万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222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1.7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7424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58.0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全在 HBM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128K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651.9 MB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8773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220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1.7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6144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48.0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全在 HBM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256K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1.30 GB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4402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218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1.7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4526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35.4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2.7% 在 DDR 池（H2D）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512K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2.59 GB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2204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213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1.7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2327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18.2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5.2% 在 DDR 池（H2D）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1M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5.18 GB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1103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190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1.5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1186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9.3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7.0% 在 DDR 池（H2D）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384048" y="4590288"/>
            <a:ext cx="11430000" cy="1682496"/>
          </a:xfrm>
          <a:prstGeom prst="roundRect">
            <a:avLst/>
          </a:prstGeom>
          <a:solidFill>
            <a:srgbClr val="F8F1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4645152"/>
            <a:ext cx="11137392" cy="157276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10 毫秒在 4K – 32K 都是 222，全在 HBM。短输入 Attention 0.85 毫秒，MoE 9.14 毫秒。1M 降到 190，0.33×10^6 是 216，仍然全在 HBM。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30 毫秒短输入为 7936。256K 为 4526，已有 2.7% KV 在池中；Attention 15.3 毫秒，MoE 14.7 毫秒。512K 降到 2327，1M 为 1186，0.33×10^6 为 3644。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Prefill 的 10 秒全局批在第 3 页：4K 为 45674，1M 为 64。4K 进、512 出、98% 命中时，P:D 在 10 毫秒约 1:105.3，在 30 毫秒约 1:8.8。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Decode    ·    只统计进了 DDR 池的长度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256K 每卡换入 178.7 MB，1M 换入 438.6 MB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7  /  14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128 卡副本    ·    访存与通信 80%    ·    计算 70%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20624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这两页只列 KV 换进 DDR 池的输入。一步 = SWAP + max(HBM, 计算) + AR + 完整 MoE。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84048" y="1353312"/>
          <a:ext cx="11430000" cy="3200400"/>
        </p:xfrm>
        <a:graphic>
          <a:graphicData uri="http://schemas.openxmlformats.org/drawingml/2006/table">
            <a:tbl>
              <a:tblPr firstRow="1"/>
              <a:tblGrid>
                <a:gridCol w="2011680"/>
                <a:gridCol w="4617720"/>
                <a:gridCol w="480060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步骤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256K · 批 4526 · 溢出 2.7%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1M · 批 1186 · 溢出 7.0%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读专家权重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42.89 GB · 13.40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42.89 GB · 13.40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机内 allreduce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433.1 MB · 1.55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114.8 MB · 0.41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专家 GEMM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效率 78% · 8.45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效率 23% · 7.69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EP 双向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421.8 MB · 1.32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123.2 MB · 0.39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注意力计算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10.22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7.15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注意力权重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2.42 GB · 0.76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2.42 GB · 0.76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HBM KV + 权重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8.95 GB · 2.80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8.72 GB · 2.72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DDR 池换入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178.7 MB · 3.49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438.6 MB · 8.57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相加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换入 + 注意力计算 + AR + 读专家 · 29.98 毫秒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换入 + 注意力计算 + AR + 读专家 · 29.91 毫秒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384048" y="4846320"/>
            <a:ext cx="11430000" cy="1426464"/>
          </a:xfrm>
          <a:prstGeom prst="roundRect">
            <a:avLst/>
          </a:prstGeom>
          <a:solidFill>
            <a:srgbClr val="F8F1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4901184"/>
            <a:ext cx="11137392" cy="131673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字节按每卡。256K 溢出 2.7%，换入 178.7 MB / 51.2 GB/s H2D = 3.49 毫秒，然后从 HBM 再读全部 KV；Attention 15.26 毫秒，MoE 14.72 毫秒。128 卡换入合计 22.87 GB。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1M 换入 438.6 MB、8.57 毫秒；Attention 16.12 毫秒，MoE 13.79 毫秒，批 1186。128 卡换入合计 56.14 GB。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10 毫秒到 0.33×10^6 仍全在 HBM，没有进池的长度，不进这两页。后面的分析沿用这个口径。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Decode    ·    DDR 池换入的量和时间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进池的长度从 256K 起，批从 4526 降到 1186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8  /  14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128 卡副本    ·    访存与通信 80%    ·    计算 70%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20624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只统计KV换进DDR池的输入。换入量=溢出比例×这一步的稀疏读；每卡统一走H2D，有效51.2 GB/s。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84048" y="1353312"/>
          <a:ext cx="11247120" cy="1883664"/>
        </p:xfrm>
        <a:graphic>
          <a:graphicData uri="http://schemas.openxmlformats.org/drawingml/2006/table">
            <a:tbl>
              <a:tblPr firstRow="1"/>
              <a:tblGrid>
                <a:gridCol w="1234440"/>
                <a:gridCol w="1143000"/>
                <a:gridCol w="822960"/>
                <a:gridCol w="960120"/>
                <a:gridCol w="1371600"/>
                <a:gridCol w="1508760"/>
                <a:gridCol w="1325880"/>
                <a:gridCol w="2880360"/>
              </a:tblGrid>
              <a:tr h="34747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输入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 毫秒批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每卡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溢出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每卡换入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128 卡合计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换入耗时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kernel 瓶颈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256K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4526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35.4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2.7%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178.7 MB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22.87 GB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3.49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注意力计算 10.22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0.33×10^6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3644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28.5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3.7%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237.2 MB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30.37 GB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4.63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注意力计算 9.62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512K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2327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18.2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5.2%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332.3 MB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42.53 GB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6.49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注意力计算 8.55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1M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1186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9.3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7.0%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438.6 MB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56.14 GB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8.57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注意力计算 7.15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84048" y="3383280"/>
            <a:ext cx="11430000" cy="20116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同一批长度上，换入和另外几笔的耗时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84048" y="3712463"/>
          <a:ext cx="11247120" cy="1645920"/>
        </p:xfrm>
        <a:graphic>
          <a:graphicData uri="http://schemas.openxmlformats.org/drawingml/2006/table">
            <a:tbl>
              <a:tblPr firstRow="1"/>
              <a:tblGrid>
                <a:gridCol w="1325880"/>
                <a:gridCol w="1554480"/>
                <a:gridCol w="1645920"/>
                <a:gridCol w="1737360"/>
                <a:gridCol w="1645920"/>
                <a:gridCol w="1554480"/>
                <a:gridCol w="178308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输入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换入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allreduce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注意力计算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HBM KV+权重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读专家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一步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256K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3.49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1.55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10.22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2.80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13.40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29.98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0.33×10^6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4.63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1.25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9.62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2.77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13.40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29.98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512K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6.49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0.80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8.55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2.73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13.40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29.95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1M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8.57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0.41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7.15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2.72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13.40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29.91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384048" y="5522976"/>
            <a:ext cx="11430000" cy="914400"/>
          </a:xfrm>
          <a:prstGeom prst="roundRect">
            <a:avLst/>
          </a:prstGeom>
          <a:solidFill>
            <a:srgbClr val="F8F1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" y="5559552"/>
            <a:ext cx="11137392" cy="8412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稀疏读不是整段存量：30层压缩indexer、31层HCA、最多1024条完整latent，再加4.50 MB。H2D带宽51.2 GB/s。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10 毫秒到 0.33×10^6 仍全在 HBM，128K 也全在 HBM。这两页只保留溢出大于 0 的长度，后面的分析沿用这个口径。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公式    ·    共同假设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计算口径：只在融合 kernel 与显式流水里计算重叠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9  /  14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128 卡副本    ·    访存与通信 80%    ·    计算 70%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20624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Attention 与 MoE 前后相加。权重/数据读取与本地计算可在融合 kernel 内重叠；通信是否重叠按阶段单独说明。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84048" y="1371600"/>
          <a:ext cx="11430000" cy="4023360"/>
        </p:xfrm>
        <a:graphic>
          <a:graphicData uri="http://schemas.openxmlformats.org/drawingml/2006/table">
            <a:tbl>
              <a:tblPr firstRow="1"/>
              <a:tblGrid>
                <a:gridCol w="1508760"/>
                <a:gridCol w="4956048"/>
                <a:gridCol w="4965192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项目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TTFT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TPOT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并行域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 TP=8、DP=16；MoE EP=128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同左；最忙 TP 组 n=⌈BS/16⌉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拉 prefix、融合 kernel、AR 跨 query chunk 流水，取瓶颈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SWAP 在前；融合 kernel 后再加 AR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MoE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dispatch + max(权重, GEMM) + combine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同左；两个 EP 方向分别统计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KV 位置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98% prefix 在远端 KV 缓存，经参数面拉取；Decode 没有副本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HBM 放不下先从 DDR 池写回 HBM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P→D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完整 KV 按层发送；只加未被后续计算隐藏的尾巴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不进入单步 TPOT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负载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 按 TP=8；MoE 取最忙 EP 卡，逐专家 16 行 padding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同左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固定开销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不伪造数值；单列为未计入项</a:t>
                      </a:r>
                    </a:p>
                  </a:txBody>
                  <a:tcPr marL="54864" marR="54864" marT="27432" marB="18288" anchor="ctr">
                    <a:solidFill>
                      <a:srgbClr val="F8F1E4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不伪造数值；SLO 结果是数据面理论上限</a:t>
                      </a:r>
                    </a:p>
                  </a:txBody>
                  <a:tcPr marL="54864" marR="54864" marT="27432" marB="18288" anchor="ctr">
                    <a:solidFill>
                      <a:srgbClr val="F8F1E4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384048" y="5705856"/>
            <a:ext cx="11430000" cy="713232"/>
          </a:xfrm>
          <a:prstGeom prst="roundRect">
            <a:avLst/>
          </a:prstGeom>
          <a:solidFill>
            <a:srgbClr val="F8F1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5742432"/>
            <a:ext cx="11137392" cy="6400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固定开销 = 调度 + kernel 启动 + collective 启动 + RMSNorm / RoPE / Router / 激活 / residual + logits / sampling + P/D 控制。当前没有实测值，不并入 BS 摸高；生产 SLO 必须从 10/30 毫秒预算里另留余量。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公式    ·    TTFT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TTFT = Attention + MoE + P→D 尾时延 + 固定开销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  /  14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128 卡副本    ·    访存与通信 80%    ·    计算 70%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20624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本页所有时间已经包含完整 61 层。98% prefix 经参数面拉取，Decode 没有副本。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84048" y="1353312"/>
          <a:ext cx="11430000" cy="3895344"/>
        </p:xfrm>
        <a:graphic>
          <a:graphicData uri="http://schemas.openxmlformats.org/drawingml/2006/table">
            <a:tbl>
              <a:tblPr firstRow="1"/>
              <a:tblGrid>
                <a:gridCol w="1554480"/>
                <a:gridCol w="5623560"/>
                <a:gridCol w="4251960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部分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公式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注释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max(拉 prefix，HBM，Attention 计算，AR)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四条通路跨 query chunk 流水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拉 prefix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⌈BS/16⌉ × K(0.98S) / (8 × 40 GB/s)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K(x)=4939.5x+滑窗；远端 KV → HBM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计算上下文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 = 0.02S × 0.98S + 0.02S × (0.02S + 1) / 2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新 token 平均看到约 99% 的完整上下文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融合 kernel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max(Attention HBM，Attention FLOP / 340.2 T)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HBM 含权重、prefix KV、新 KV 和激活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MoE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dispatch + max(专家权重，专家 GEMM) + combine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最忙 EP 卡；逐专家 16 行 padding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P→D 总量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⌈BS/16⌉ × K(S) / (8 × 40 GB/s)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K(S)=4939.5S+4.50 MB；发送完整 KV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P→D 尾巴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max(0，P→D 总量 − 可重叠计算时间)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layer-wise 发送；只加最后没隐藏的部分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最终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TTFT = Attention + MoE + P→D 尾巴 + fixed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本档计算中 P→D 尾巴为 0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384048" y="5468112"/>
            <a:ext cx="11430000" cy="950976"/>
          </a:xfrm>
          <a:prstGeom prst="roundRect">
            <a:avLst/>
          </a:prstGeom>
          <a:solidFill>
            <a:srgbClr val="F8F1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5513832"/>
            <a:ext cx="11137392" cy="85953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冷请求最大输入 32.9 万：Attention 9.48 秒，其中 AR 1.80 秒、计算 9.48 秒；MoE 0.52 秒；P→D 总量 5.1 毫秒，全部被后续计算隐藏；数据面合计 10.00 秒。固定开销未计入。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公式    ·    TPOT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TPOT = Decode Attention + Decode MoE + 固定开销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11  /  14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128 卡副本    ·    访存与通信 80%    ·    计算 70%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20624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Decode外部DDR/KV访存统一走H2D。KV必须先写回HBM；HBM内读取仍按3.20 TB/s，且不假设GEMM与AR融合。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84048" y="1353312"/>
          <a:ext cx="11430000" cy="3950208"/>
        </p:xfrm>
        <a:graphic>
          <a:graphicData uri="http://schemas.openxmlformats.org/drawingml/2006/table">
            <a:tbl>
              <a:tblPr firstRow="1"/>
              <a:tblGrid>
                <a:gridCol w="1572768"/>
                <a:gridCol w="5870448"/>
                <a:gridCol w="3986784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部分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公式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注释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最忙 TP 组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n = ⌈BS / 16⌉；每卡 KV 读量 = n × RKV(S) / 8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不再按 BS/128 的平均值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溢出比例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 = max(0，(BS × KV 存量 − 5.72 TB) / (BS × KV 存量))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池容量不设上限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SWAP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 × 每卡 KV 读量 / 51.2 GB/s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DDR池 → H2D → HBM；必须先完成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 kernel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max((全部 KV + 2.42 GB 权重) / 3.20 TB/s，FLOP / 340.2 T)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换入 KV 仍从 HBM 再读；kernel 内访存/计算重叠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AR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61 × 2×7/8 × n×7168×2 / 280 GB/s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8卡fullmesh七链路并发；单独加在kernel后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Decode Attention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SWAP + Attention kernel + AR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三段存在业务依赖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Decode MoE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dispatch + max(专家权重，专家 GEMM) + combine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EP 两个方向分别统计；最忙卡、逐专家 padding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最终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TPOT = Decode Attention + Decode MoE + fixed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固定开销未计入，结果是数据面理论上限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384048" y="5504688"/>
            <a:ext cx="11430000" cy="914400"/>
          </a:xfrm>
          <a:prstGeom prst="roundRect">
            <a:avLst/>
          </a:prstGeom>
          <a:solidFill>
            <a:srgbClr val="F8F1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5550408"/>
            <a:ext cx="11137392" cy="8229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4K：10 毫秒批 222，Attention 0.85 毫秒 + MoE 9.14 毫秒 = 9.99 毫秒；30 毫秒批 7936，Attention 11.55 毫秒 + MoE 18.38 毫秒 = 29.94 毫秒。两档都没有给 fixed 留余量。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HBM 容量    ·    TTFT ≤ 10 秒    ·    98% prefix 命中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Prefill：输入变长后，时间摸高批下降，单卡 KV 占用仍小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12  /  14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128 卡副本    ·    访存与通信 80%    ·    计算 70%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20624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每个饼是最忙活跃卡的 96 GB HBM。模型权重固定 45.31 GB，系统预留 6 GB；prefix 经参数面拉入 HBM。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384048" y="1572768"/>
          <a:ext cx="3529584" cy="312724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84048" y="1261872"/>
            <a:ext cx="3529584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4K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4681728"/>
            <a:ext cx="3529584" cy="53035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BS 45674    权重 45.31 GB    预留 6 GB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HBM KV 8.83 GB  ｜  空闲 35.86 GB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" y="5230368"/>
            <a:ext cx="3529584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DDR 池 KV（图外）：0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315968" y="1572768"/>
          <a:ext cx="3529584" cy="3127248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4315968" y="1261872"/>
            <a:ext cx="3529584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256K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15968" y="4681728"/>
            <a:ext cx="3529584" cy="53035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BS 498    权重 45.31 GB    预留 6 GB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HBM KV 5.20 GB  ｜  空闲 39.49 GB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15968" y="5230368"/>
            <a:ext cx="3529584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DDR 池 KV（图外）：0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8247888" y="1572768"/>
          <a:ext cx="3529584" cy="3127248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8247888" y="1261872"/>
            <a:ext cx="3529584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1M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7888" y="4681728"/>
            <a:ext cx="3529584" cy="53035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BS 64    权重 45.31 GB    预留 6 GB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HBM KV 2.59 GB  ｜  空闲 42.10 GB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47888" y="5230368"/>
            <a:ext cx="3529584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DDR 池 KV（图外）：0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84048" y="5632704"/>
            <a:ext cx="11430000" cy="786384"/>
          </a:xfrm>
          <a:prstGeom prst="roundRect">
            <a:avLst/>
          </a:prstGeom>
          <a:solidFill>
            <a:srgbClr val="F8F1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352" y="5669280"/>
            <a:ext cx="11137392" cy="7132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Prefill 的长输入先被 TTFT 限制：4K / 256K / 1M 的最大批分别是 45674 / 498 / 64，最忙卡 HBM KV 只有 8.83 / 5.20 / 2.59 GB，均不需要 DDR 池。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HBM 容量    ·    TPOT ≤ 30 毫秒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Decode：30 毫秒摸高时，256K 起把 HBM KV 房间占满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13  /  14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128 卡副本    ·    访存与通信 80%    ·    计算 70%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20624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饼图只画单卡 96 GB HBM；放不下的 KV 在饼图外标出 DDR 池占用。仍按最忙活跃卡。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384048" y="1572768"/>
          <a:ext cx="3529584" cy="312724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84048" y="1261872"/>
            <a:ext cx="3529584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4K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4681728"/>
            <a:ext cx="3529584" cy="53035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BS 7936    权重 45.31 GB    预留 6 GB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HBM KV 1.53 GB  ｜  空闲 43.15 GB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" y="5230368"/>
            <a:ext cx="3529584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DDR 池 KV（图外）：0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315968" y="1572768"/>
          <a:ext cx="3529584" cy="3127248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4315968" y="1261872"/>
            <a:ext cx="3529584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256K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15968" y="4681728"/>
            <a:ext cx="3529584" cy="53035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BS 4526    权重 45.31 GB    预留 6 GB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HBM KV 44.69 GB  ｜  空闲 0.00 GB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15968" y="5230368"/>
            <a:ext cx="3529584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DDR 池 KV（图外）：1.28 GB / 卡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8247888" y="1572768"/>
          <a:ext cx="3529584" cy="3127248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8247888" y="1261872"/>
            <a:ext cx="3529584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1M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7888" y="4681728"/>
            <a:ext cx="3529584" cy="53035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BS 1186    权重 45.31 GB    预留 6 GB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HBM KV 44.69 GB  ｜  空闲 0.00 GB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47888" y="5230368"/>
            <a:ext cx="3529584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DDR 池 KV（图外）：3.91 GB / 卡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84048" y="5632704"/>
            <a:ext cx="11430000" cy="786384"/>
          </a:xfrm>
          <a:prstGeom prst="roundRect">
            <a:avLst/>
          </a:prstGeom>
          <a:solidFill>
            <a:srgbClr val="F8F1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352" y="5669280"/>
            <a:ext cx="11137392" cy="7132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30 毫秒：256K / 1M 的最忙卡各有 1.28 / 3.91 GB KV 在 DDR 池。10 毫秒批更小，4K / 512K / 1M 的 HBM KV 仅 0.04 / 4.54 / 7.78 GB，均不进池。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Prefill    ·    MoE 分阶段    ·    KV 命中 98%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Prefill MoE：长输入的摸高批下降，MoE 耗时随总现算 token 下降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14  /  14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128 卡副本    ·    访存与通信 80%    ·    计算 70%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20624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每行采用该输入长度在 TTFT≤10秒下的最大全局批。MoE = dispatch + max(专家权重读取, 专家GEMM) + combine。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84048" y="1371600"/>
          <a:ext cx="10515600" cy="3099816"/>
        </p:xfrm>
        <a:graphic>
          <a:graphicData uri="http://schemas.openxmlformats.org/drawingml/2006/table">
            <a:tbl>
              <a:tblPr firstRow="1"/>
              <a:tblGrid>
                <a:gridCol w="822960"/>
                <a:gridCol w="1143000"/>
                <a:gridCol w="1325880"/>
                <a:gridCol w="1325880"/>
                <a:gridCol w="1417320"/>
                <a:gridCol w="1417320"/>
                <a:gridCol w="1325880"/>
                <a:gridCol w="1737360"/>
              </a:tblGrid>
              <a:tr h="34747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输入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10秒全局批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现算token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dispatch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读专家权重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专家GEMM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combine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MoE合计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45674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3.74×10^6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0.48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13.4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4.87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0.48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5.83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22676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3.72×10^6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0.48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13.4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4.83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0.48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5.79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32K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5456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3.58×10^6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0.46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13.4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4.65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0.46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5.57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128K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1184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3.10×10^6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0.40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13.4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4.04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0.40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4.84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256K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498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2.61×10^6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0.34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13.4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3.40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0.34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4.07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512K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192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2.01×10^6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0.26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13.4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2.62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0.26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3.14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1M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64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1.34×10^6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0.17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13.4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1.75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0.17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2.10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384048" y="4846320"/>
            <a:ext cx="11430000" cy="1426464"/>
          </a:xfrm>
          <a:prstGeom prst="roundRect">
            <a:avLst/>
          </a:prstGeom>
          <a:solidFill>
            <a:srgbClr val="F8F1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4901184"/>
            <a:ext cx="11137392" cy="131673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4K：dispatch 0.48 秒 + max(权重 13.4 毫秒，GEMM 4.87 秒) + combine 0.48 秒 = 5.83 秒。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1M：dispatch 0.17 秒 + max(权重 13.4 毫秒，GEMM 1.75 秒) + combine 0.17 秒 = 2.10 秒。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所有长度都已激活每卡全部路由专家，权重读取稳定在13.4毫秒并被GEMM完全隐藏；主要开销是专家GEMM，其次是两次EP通信。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10T DeepSeek：96 GB / 486 T 上的 TTFT / TPOT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