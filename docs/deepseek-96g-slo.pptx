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  <p:sldId id="266" r:id="rId18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1.6T 来自 V4-Pro 论文 arXiv:2606.19348：61 层，隐藏 7168，384 个路由专家，中间维 3072，每 token 激活 6 个，激活参数 49B。单个路由专家在全部层上是 3×7168×3072×61 = 4.030×10^9。384 个专家为 1.547×10^12，总参数 1.600×10^12 减去这一项，其余 5.260×10^10 含共享专家、注意力、mHC、词表和 MTP。10T 把专家数解成 2469，总参数 = 2469×4.030×10^9 + 5.260×10^10 = 1.000×10^13。FP4 容量 = 2469×4.030×10^9×0.5 字节 = 4.975 TB。640 GB 卡下限是 ceil(4.975 TB / 640 GB) = 8。单 token 通信量 6×3×7168×61 = 7.87×10^6 字节。每 token 仍只派 6 个专家，通信量不随专家总数变。后面几页是 96 GB、486 T 这一档。算力 486×10^12 再乘 70%，有效 340.2×10^12。注意力和专家用同一个峰值。HBM 96 GB，带宽 4 TB/s，计时取 80% 即 3.20 TB/s。H2D 是 64 GB/s（字节），80% 后 51.2 GB/s。这条链路只在 prefill 使用。权重放得进 HBM，冷的 10 秒不走 H2D。D2D 写的是 3.2 Tb/s（小写 b，比特）：3.2×10^12 / 8 = 400 GB/s 峰值，80% 后 320 GB/s。机内 8 卡 fullmesh，P2P 400 Gb/s = 50 GB/s 峰值，80% 后 40 GB/s。参数面同样 400 Gb/s，80% 后 40 GB/s。DDR5 的 1288.8 GB/s 和 768 GB 按一台 8 卡机器记。有效 1031 GB/s，每卡分到 128.9 GB/s 和 96 GB。H2D 只有 51.2 GB/s，主机路径被 H2D 卡住。超节点内直挂总线的 DDR 池容量不设上限，标称每卡 480 GB/s。GPU 单向口只有 400 GB/s，池的访问取两者里较慢的，80% 后 320 GB/s。换入发生在注意力阶段，专家 combine 发生在 MoE 阶段，两段各用满这条 320 GB/s。本页的池带宽按每卡，不把 480 GB/s 理解成 128 卡共享。注意力 TP=8 留在机内 fullmesh，16 台机器做 DP=16。MoE EP=128 走 D2D。每卡扣掉路由 38.86 GB、共享 4.03 GB、注意力 2.42 GB 和 6 GB 预留后，128 卡 KV 余量 5.72 TB。Prefill 与 Decode 的副本数可以按吞吐配，副本个数不改变单副本的 TTFT 和 TPOT。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单请求不跨副本。增加 Prefill 节点是多放几份 128 卡副本，提高并发，单条 TTFT 不变。冷请求没有 prefix 拉取。Attention = max(HBM, compute, AR)，MoE = dispatch + max(weight, GEMM) + combine，两段相加。在 S=250991：indexer 1.4222s，HCA 0.7348s，投影 3.5690s，稀疏注意力 0.8355s，Attention 计算 6.5614s，AR 9.6027s，所以 Attention 取 9.6027s。MoE 0.3972s。完整 KV 的 P-D 传输 3.87 ms，layer-wise 发送后尾巴 0.00 ms。数据面合计 10.0000s。固定开销没有实测，不计入；生产最大长度必须再留余量。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这一页的批是 128 卡副本上的全局批，每卡条数 = 全局批 / 128。切分与上一页相同：注意力 TP=8、DP=16，MoE EP=128。KV 命中 90%，命中部分在主机 DDR，经每卡 51.2 GB/s 的 H2D 拉到 HBM。每条只现算 10%，这些 query 的平均上下文约为 95%S。Attention = max(prefix pull, HBM, compute, AR)。MoE = dispatch + max(weight, GEMM) + combine。Attention 与 MoE 相加。4K 全局批 6176：现算 2.5297e+06 token，allreduce 6.049s，注意力计算 2.817s，专家计算 3.950s，EP 双向 0.652s，读专家权重 13.40 ms，拉 prefix 17.2 ms，合计 9.999s。再加一条是 10.015s。1M 全局批 6：现算 6.2915e+05，allreduce 4.012s，注意力计算 8.993s（indexer 4.716s），MoE 0.989s，EP 双向 0.163s，拉 prefix 11.4 ms，合计 9.982s。P-D 完整 KV 分层发送：4K 24.41 ms，1M 16.19 ms；尾巴都是 0。固定开销未计入。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Decode 与 Prefill 用同一份 128 卡副本：注意力 TP=8、DP=16，MoE EP=128。加 Decode 节点是多副本，单副本的 TPOT 不变。Attention = SWAP + max(HBM, compute) + AR。MoE = dispatch + max(weight, GEMM) + combine。两段相加。命中率 = 1 − exp(−6×201 / 2469) = 0.3864。最忙卡激活专家 11.731。读权重 (11.731×2.015 GB + 4.030 GB) / 3.20 TB/s = 8.646 ms。机内 allreduce：ceil(201/16) = 13 条，每条 7168×2 字节，环上每层 2×7/8，61 层除以 40 GB/s = 0.497 ms。Attention 1.266 ms，MoE 8.730 ms，合计 9.996 ms。202 条是 10.017 ms。专家计算 4.826 ms，EP 双向 0.085 ms。注意力计算 0.285 ms，HBM 0.768 ms。4K – 8K 的全局批都是 201，KV 全在 HBM。2M 降到 134，存量约 0.0% 在总线内存池，池上稀疏读 0.00 ms，已经顶到 allreduce 留下的预算。1M 降到 173，0.25×10^6 降到 197。这些批的存量都放得进 HBM，池上换入是 0。H2D 只在 prefill。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30 毫秒用的切分与 10 毫秒相同：TP=8，DP=16，EP=128，128 卡一份副本。BS=4352 时命中率 1.0000，最忙卡激活 19.289 个专家。读权重 (38.86 GB + 4.03 GB) / 3.20 TB/s = 13.404 ms。机内 allreduce：ceil(4352/16) = 272 条，环上每层 2×7/8，61 层，除以 40 GB/s = 10.407 ms。Attention 15.256 ms，MoE 14.675 ms，合计 29.931 ms。4353 条是 30.255 ms。EP 双向 1.271 ms，专家计算 8.448 ms，效率 0.753。注意力计算 4.849 ms。显存：每卡 96 − 38.86 − 4.03 − 2.42 − 6 = 44.69 GB，128 卡共 5.72 TB。HBM 放不下的 KV 走每卡总线内存池。标称 480 GB/s，被 3.2 Tb/s 的口卡住，有效 320 GB/s，容量不设上限。H2D 只在 prefill。256K、全局批 3328 时仍全在 HBM。512K 降到 2390，池上读 1.57 ms。1M 降到 1362，0.25×10^6 降到 3328。4K、输出 512、命中 90%：Prefill 617.6 请求/秒。10 毫秒 Decode 39.3 请求/秒，P:D ≈ 1:15.7。30 毫秒 Decode 283.3 请求/秒，P:D ≈ 1:2.2。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BS 一律是 128 卡副本的全局批。每卡条数 = 全局批 / 128。存量 = S×4939.5 字节 + 4.50 MB。一步真正读的是压缩 indexer、最多 1024 条完整 KV 和 HCA，所以溢出比例高时，池上的读时延仍可能短于 allreduce。HBM 余量 5.72 TB。溢出进 GPU 的口是每卡总线内存池，有效 320 GB/s，容量不设上限。这个带宽是 min(480 GB/s, 3.2 Tb/s = 400 GB/s) 再取 80%。专家通信在 MoE 阶段走同一条 320 GB/s。H2D 64 GB/s 只在 prefill，decode 换入走内存池。Decode Attention = SWAP + max(HBM, compute) + AR；再加完整 MoE。S=4096 store=24.7MB cap=231300 b10=201 spill10=0.00% pool10=0.00ms b30=4352 spill30=0.00% pool30=0.00ms t30=29.93ms S=8192 store=45.0MB cap=127218 b10=201 spill10=0.00% pool10=0.00ms b30=4336 spill30=0.00% pool30=0.00ms t30=29.96ms S=32768 store=166.4MB cap=34384 b10=200 spill10=0.00% pool10=0.00ms b30=4176 spill30=0.00% pool30=0.00ms t30=30.00ms S=131072 store=651.9MB cap=8773 b10=199 spill10=0.00% pool10=0.00ms b30=3808 spill30=0.00% pool30=0.00ms t30=30.00ms S=262144 store=1299.4MB cap=4402 b10=197 spill10=0.00% pool10=0.00ms b30=3328 spill30=0.00% pool30=0.00ms t30=29.73ms S=524288 store=2594.2MB cap=2204 b10=193 spill10=0.00% pool10=0.00ms b30=2390 spill30=7.75% pool30=1.57ms t30=30.00ms S=1048576 store=5183.9MB cap=1103 b10=173 spill10=0.00% pool10=0.00ms b30=1362 spill30=18.99% pool30=4.28ms t30=29.99ms 2M 的 10 毫秒批 134，池上读 0.00 ms。4×10^6 的 10 毫秒批 68，30 毫秒批 416。0.25×10^6 的 10 毫秒批 197，30 毫秒批 3328。单条 1M、90% 命中的 TTFT 是 9.1650 秒。冷的 1M 单条是 57.689 秒。第 3 页 Prefill：4K 6176，8K 3088，32K 768，128K 192，256K 96，512K 32，1M 6。P:D 按 4K 进、512 出、90% 命中：Prefill 617.6 请求/秒，10 毫秒 Decode 39.3 请求/秒（1:15.73），30 毫秒 Decode 283.3 请求/秒（1:2.18）。副本数按这个吞吐比配置，单副本时延不变。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第 7、8 页只统计 decode KV 溢出到 DDR 池的输入长度。全在 HBM 的长度留在第 6 页，不在这里记 0。512K BS=2390 pool=503.9 MB t=1.575 ms ar=5.739 ca=8.552 step=29.998。1M BS=1362 pool=1371.2 MB t=4.285 ms step=29.993。10 毫秒曲线在本档没有溢出长度。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池上字节 = spill × bs × n_csa_read(S) / 128。带宽 320 GB/s。n_csa_read = 30×(S/4)×64 + 31×(S/128)×576 + 30×min(1024,S/4)×576 + 61×128×576。512K bs=2390 spill=7.75% pool=503.9MB t=1.575ms step=29.998ms 1M bs=1362 spill=18.99% pool=1371.2MB t=4.285ms step=29.993ms 口径已固化：第 7、8 页不收录换入为 0 的输入长度。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这一页是后续固化口径。TTFT 的 chunk 流水忽略显式 fill/drain 气泡，气泡和软件固定开销都放在未计入项。Prefill attention 假设融合 kernel 有理想 tile 复用，每个 KV 字节从 HBM 读一次；没有实测 IO 放大系数。Decode 不假设输出投影与 collective 融合，AR 单独加。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冷请求 S=250991，Attention=9.602715s，AR=9.602715s，compute=6.561439s，HBM=0.000853s，MoE=0.397249s，P-D=0.003874s，tail=0.000000s，total=9.999964s。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4K 10ms BS=201 data-plane=9.996224ms；4K 30ms BS=4352 data-plane=29.930840ms。生产摸高需要先给 measured fixed overhead 预留预算，再重新搜索 BS。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0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1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145A9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84048" y="146304"/>
            <a:ext cx="9692640" cy="256032"/>
          </a:xfrm>
          <a:prstGeom prst="rect">
            <a:avLst/>
          </a:prstGeom>
          <a:noFill/>
        </p:spPr>
        <p:txBody>
          <a:bodyPr wrap="square" lIns="0" rIns="0" tIns="0" bIns="0" anchor="ctr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200" b="1">
                <a:solidFill>
                  <a:srgbClr val="145A96"/>
                </a:solidFill>
                <a:latin typeface="Microsoft YaHei"/>
                <a:ea typeface="Microsoft YaHei"/>
                <a:cs typeface="Microsoft YaHei"/>
              </a:rPr>
              <a:t>模型结构    ·    1.6T 论文到 10T 外推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84048" y="384048"/>
            <a:ext cx="11430000" cy="384048"/>
          </a:xfrm>
          <a:prstGeom prst="rect">
            <a:avLst/>
          </a:prstGeom>
          <a:noFill/>
        </p:spPr>
        <p:txBody>
          <a:bodyPr wrap="square" lIns="0" rIns="0" tIns="0" bIns="0" anchor="ctr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600" b="1">
                <a:solidFill>
                  <a:srgbClr val="0E2A47"/>
                </a:solidFill>
                <a:latin typeface="Microsoft YaHei"/>
                <a:ea typeface="Microsoft YaHei"/>
                <a:cs typeface="Microsoft YaHei"/>
              </a:rPr>
              <a:t>同一骨架，只加路由专家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424160" y="164592"/>
            <a:ext cx="1371600" cy="237744"/>
          </a:xfrm>
          <a:prstGeom prst="rect">
            <a:avLst/>
          </a:prstGeom>
          <a:noFill/>
        </p:spPr>
        <p:txBody>
          <a:bodyPr wrap="square" lIns="0" rIns="0" tIns="0" bIns="0" anchor="ctr"/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1200" b="0">
                <a:solidFill>
                  <a:srgbClr val="5A636E"/>
                </a:solidFill>
                <a:latin typeface="Microsoft YaHei"/>
                <a:ea typeface="Microsoft YaHei"/>
                <a:cs typeface="Microsoft YaHei"/>
              </a:rPr>
              <a:t>1  /  11</a:t>
            </a:r>
          </a:p>
        </p:txBody>
      </p:sp>
      <p:sp>
        <p:nvSpPr>
          <p:cNvPr id="6" name="Rectangle 5"/>
          <p:cNvSpPr/>
          <p:nvPr/>
        </p:nvSpPr>
        <p:spPr>
          <a:xfrm>
            <a:off x="384048" y="6565392"/>
            <a:ext cx="11430000" cy="9144"/>
          </a:xfrm>
          <a:prstGeom prst="rect">
            <a:avLst/>
          </a:prstGeom>
          <a:solidFill>
            <a:srgbClr val="D6DCE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384048" y="6583680"/>
            <a:ext cx="11430000" cy="219456"/>
          </a:xfrm>
          <a:prstGeom prst="rect">
            <a:avLst/>
          </a:prstGeom>
          <a:noFill/>
        </p:spPr>
        <p:txBody>
          <a:bodyPr wrap="square" lIns="0" rIns="0" tIns="0" bIns="0" anchor="ctr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5A636E"/>
                </a:solidFill>
                <a:latin typeface="Microsoft YaHei"/>
                <a:ea typeface="Microsoft YaHei"/>
                <a:cs typeface="Microsoft YaHei"/>
              </a:rPr>
              <a:t>10T 为外推    ·    96 GB / 486 T、一份 128 卡副本    ·    访存与通信 80%    ·    计算 70%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84048" y="822960"/>
            <a:ext cx="11430000" cy="274320"/>
          </a:xfrm>
          <a:prstGeom prst="rect">
            <a:avLst/>
          </a:prstGeom>
          <a:noFill/>
        </p:spPr>
        <p:txBody>
          <a:bodyPr wrap="square" lIns="0" rIns="0" tIns="0" bIns="0" anchor="ctr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400" b="0">
                <a:solidFill>
                  <a:srgbClr val="1C242E"/>
                </a:solidFill>
                <a:latin typeface="Microsoft YaHei"/>
                <a:ea typeface="Microsoft YaHei"/>
                <a:cs typeface="Microsoft YaHei"/>
              </a:rPr>
              <a:t>1.6T 是 V4-Pro 论文原模型。10T 沿用层数、隐藏和中间维，用路由专家个数把总参数对齐到 10^13。</a:t>
            </a:r>
          </a:p>
        </p:txBody>
      </p:sp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384048" y="1133856"/>
          <a:ext cx="11430000" cy="3621024"/>
        </p:xfrm>
        <a:graphic>
          <a:graphicData uri="http://schemas.openxmlformats.org/drawingml/2006/table">
            <a:tbl>
              <a:tblPr firstRow="1"/>
              <a:tblGrid>
                <a:gridCol w="1965960"/>
                <a:gridCol w="2880360"/>
                <a:gridCol w="2331720"/>
                <a:gridCol w="4251960"/>
              </a:tblGrid>
              <a:tr h="292608">
                <a:tc>
                  <a:txBody>
                    <a:bodyPr wrap="square"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  <a:lnSpc>
                          <a:spcPct val="100000"/>
                        </a:lnSpc>
                      </a:pPr>
                      <a:r>
                        <a:rPr sz="1200" b="1">
                          <a:solidFill>
                            <a:srgbClr val="FFFFFF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项目</a:t>
                      </a:r>
                    </a:p>
                  </a:txBody>
                  <a:tcPr marL="54864" marR="54864" marT="27432" marB="18288" anchor="ctr">
                    <a:solidFill>
                      <a:srgbClr val="0E2A47"/>
                    </a:solidFill>
                    <a:lnL w="6350">
                      <a:solidFill>
                        <a:srgbClr val="D6DCE2"/>
                      </a:solidFill>
                    </a:lnL>
                    <a:lnR w="6350">
                      <a:solidFill>
                        <a:srgbClr val="D6DCE2"/>
                      </a:solidFill>
                    </a:lnR>
                    <a:lnT w="6350">
                      <a:solidFill>
                        <a:srgbClr val="D6DCE2"/>
                      </a:solidFill>
                    </a:lnT>
                    <a:lnB w="6350">
                      <a:solidFill>
                        <a:srgbClr val="D6DCE2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  <a:lnSpc>
                          <a:spcPct val="100000"/>
                        </a:lnSpc>
                      </a:pPr>
                      <a:r>
                        <a:rPr sz="1200" b="1">
                          <a:solidFill>
                            <a:srgbClr val="FFFFFF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1.6T  论文 V4-Pro</a:t>
                      </a:r>
                    </a:p>
                  </a:txBody>
                  <a:tcPr marL="54864" marR="54864" marT="27432" marB="18288" anchor="ctr">
                    <a:solidFill>
                      <a:srgbClr val="0E2A47"/>
                    </a:solidFill>
                    <a:lnL w="6350">
                      <a:solidFill>
                        <a:srgbClr val="D6DCE2"/>
                      </a:solidFill>
                    </a:lnL>
                    <a:lnR w="6350">
                      <a:solidFill>
                        <a:srgbClr val="D6DCE2"/>
                      </a:solidFill>
                    </a:lnR>
                    <a:lnT w="6350">
                      <a:solidFill>
                        <a:srgbClr val="D6DCE2"/>
                      </a:solidFill>
                    </a:lnT>
                    <a:lnB w="6350">
                      <a:solidFill>
                        <a:srgbClr val="D6DCE2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  <a:lnSpc>
                          <a:spcPct val="100000"/>
                        </a:lnSpc>
                      </a:pPr>
                      <a:r>
                        <a:rPr sz="1200" b="1">
                          <a:solidFill>
                            <a:srgbClr val="FFFFFF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10T  外推</a:t>
                      </a:r>
                    </a:p>
                  </a:txBody>
                  <a:tcPr marL="54864" marR="54864" marT="27432" marB="18288" anchor="ctr">
                    <a:solidFill>
                      <a:srgbClr val="0E2A47"/>
                    </a:solidFill>
                    <a:lnL w="6350">
                      <a:solidFill>
                        <a:srgbClr val="D6DCE2"/>
                      </a:solidFill>
                    </a:lnL>
                    <a:lnR w="6350">
                      <a:solidFill>
                        <a:srgbClr val="D6DCE2"/>
                      </a:solidFill>
                    </a:lnR>
                    <a:lnT w="6350">
                      <a:solidFill>
                        <a:srgbClr val="D6DCE2"/>
                      </a:solidFill>
                    </a:lnT>
                    <a:lnB w="6350">
                      <a:solidFill>
                        <a:srgbClr val="D6DCE2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  <a:lnSpc>
                          <a:spcPct val="100000"/>
                        </a:lnSpc>
                      </a:pPr>
                      <a:r>
                        <a:rPr sz="1200" b="1">
                          <a:solidFill>
                            <a:srgbClr val="FFFFFF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备注</a:t>
                      </a:r>
                    </a:p>
                  </a:txBody>
                  <a:tcPr marL="54864" marR="54864" marT="27432" marB="18288" anchor="ctr">
                    <a:solidFill>
                      <a:srgbClr val="0E2A47"/>
                    </a:solidFill>
                    <a:lnL w="6350">
                      <a:solidFill>
                        <a:srgbClr val="D6DCE2"/>
                      </a:solidFill>
                    </a:lnL>
                    <a:lnR w="6350">
                      <a:solidFill>
                        <a:srgbClr val="D6DCE2"/>
                      </a:solidFill>
                    </a:lnR>
                    <a:lnT w="6350">
                      <a:solidFill>
                        <a:srgbClr val="D6DCE2"/>
                      </a:solidFill>
                    </a:lnT>
                    <a:lnB w="6350">
                      <a:solidFill>
                        <a:srgbClr val="D6DCE2"/>
                      </a:solidFill>
                    </a:lnB>
                  </a:tcPr>
                </a:tc>
              </a:tr>
              <a:tr h="365760">
                <a:tc>
                  <a:txBody>
                    <a:bodyPr wrap="square"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  <a:lnSpc>
                          <a:spcPct val="100000"/>
                        </a:lnSpc>
                      </a:pPr>
                      <a:r>
                        <a:rPr sz="1200" b="1">
                          <a:solidFill>
                            <a:srgbClr val="0E2A47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总参数</a:t>
                      </a:r>
                    </a:p>
                  </a:txBody>
                  <a:tcPr marL="54864" marR="54864" marT="27432" marB="18288" anchor="ctr">
                    <a:solidFill>
                      <a:srgbClr val="F4F7FA"/>
                    </a:solidFill>
                    <a:lnL w="6350">
                      <a:solidFill>
                        <a:srgbClr val="D6DCE2"/>
                      </a:solidFill>
                    </a:lnL>
                    <a:lnR w="6350">
                      <a:solidFill>
                        <a:srgbClr val="D6DCE2"/>
                      </a:solidFill>
                    </a:lnR>
                    <a:lnT w="6350">
                      <a:solidFill>
                        <a:srgbClr val="D6DCE2"/>
                      </a:solidFill>
                    </a:lnT>
                    <a:lnB w="6350">
                      <a:solidFill>
                        <a:srgbClr val="D6DCE2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  <a:lnSpc>
                          <a:spcPct val="100000"/>
                        </a:lnSpc>
                      </a:pPr>
                      <a:r>
                        <a:rPr sz="1200" b="0">
                          <a:solidFill>
                            <a:srgbClr val="1C242E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1.600×10^12</a:t>
                      </a:r>
                    </a:p>
                  </a:txBody>
                  <a:tcPr marL="54864" marR="54864" marT="27432" marB="18288" anchor="ctr">
                    <a:solidFill>
                      <a:srgbClr val="FFFFFF"/>
                    </a:solidFill>
                    <a:lnL w="6350">
                      <a:solidFill>
                        <a:srgbClr val="D6DCE2"/>
                      </a:solidFill>
                    </a:lnL>
                    <a:lnR w="6350">
                      <a:solidFill>
                        <a:srgbClr val="D6DCE2"/>
                      </a:solidFill>
                    </a:lnR>
                    <a:lnT w="6350">
                      <a:solidFill>
                        <a:srgbClr val="D6DCE2"/>
                      </a:solidFill>
                    </a:lnT>
                    <a:lnB w="6350">
                      <a:solidFill>
                        <a:srgbClr val="D6DCE2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  <a:lnSpc>
                          <a:spcPct val="100000"/>
                        </a:lnSpc>
                      </a:pPr>
                      <a:r>
                        <a:rPr sz="1200" b="0">
                          <a:solidFill>
                            <a:srgbClr val="1C242E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1.000×10^13</a:t>
                      </a:r>
                    </a:p>
                  </a:txBody>
                  <a:tcPr marL="54864" marR="54864" marT="27432" marB="18288" anchor="ctr">
                    <a:solidFill>
                      <a:srgbClr val="FFFFFF"/>
                    </a:solidFill>
                    <a:lnL w="6350">
                      <a:solidFill>
                        <a:srgbClr val="D6DCE2"/>
                      </a:solidFill>
                    </a:lnL>
                    <a:lnR w="6350">
                      <a:solidFill>
                        <a:srgbClr val="D6DCE2"/>
                      </a:solidFill>
                    </a:lnR>
                    <a:lnT w="6350">
                      <a:solidFill>
                        <a:srgbClr val="D6DCE2"/>
                      </a:solidFill>
                    </a:lnT>
                    <a:lnB w="6350">
                      <a:solidFill>
                        <a:srgbClr val="D6DCE2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  <a:lnSpc>
                          <a:spcPct val="100000"/>
                        </a:lnSpc>
                      </a:pPr>
                      <a:r>
                        <a:rPr sz="1200" b="0">
                          <a:solidFill>
                            <a:srgbClr val="1C242E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DeepSeek 未发布 10T，本档是外推</a:t>
                      </a:r>
                    </a:p>
                  </a:txBody>
                  <a:tcPr marL="54864" marR="54864" marT="27432" marB="18288" anchor="ctr">
                    <a:solidFill>
                      <a:srgbClr val="FFFFFF"/>
                    </a:solidFill>
                    <a:lnL w="6350">
                      <a:solidFill>
                        <a:srgbClr val="D6DCE2"/>
                      </a:solidFill>
                    </a:lnL>
                    <a:lnR w="6350">
                      <a:solidFill>
                        <a:srgbClr val="D6DCE2"/>
                      </a:solidFill>
                    </a:lnR>
                    <a:lnT w="6350">
                      <a:solidFill>
                        <a:srgbClr val="D6DCE2"/>
                      </a:solidFill>
                    </a:lnT>
                    <a:lnB w="6350">
                      <a:solidFill>
                        <a:srgbClr val="D6DCE2"/>
                      </a:solidFill>
                    </a:lnB>
                  </a:tcPr>
                </a:tc>
              </a:tr>
              <a:tr h="365760">
                <a:tc>
                  <a:txBody>
                    <a:bodyPr wrap="square"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  <a:lnSpc>
                          <a:spcPct val="100000"/>
                        </a:lnSpc>
                      </a:pPr>
                      <a:r>
                        <a:rPr sz="1200" b="1">
                          <a:solidFill>
                            <a:srgbClr val="0E2A47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路由专家</a:t>
                      </a:r>
                    </a:p>
                  </a:txBody>
                  <a:tcPr marL="54864" marR="54864" marT="27432" marB="18288" anchor="ctr">
                    <a:solidFill>
                      <a:srgbClr val="F4F7FA"/>
                    </a:solidFill>
                    <a:lnL w="6350">
                      <a:solidFill>
                        <a:srgbClr val="D6DCE2"/>
                      </a:solidFill>
                    </a:lnL>
                    <a:lnR w="6350">
                      <a:solidFill>
                        <a:srgbClr val="D6DCE2"/>
                      </a:solidFill>
                    </a:lnR>
                    <a:lnT w="6350">
                      <a:solidFill>
                        <a:srgbClr val="D6DCE2"/>
                      </a:solidFill>
                    </a:lnT>
                    <a:lnB w="6350">
                      <a:solidFill>
                        <a:srgbClr val="D6DCE2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  <a:lnSpc>
                          <a:spcPct val="100000"/>
                        </a:lnSpc>
                      </a:pPr>
                      <a:r>
                        <a:rPr sz="1200" b="0">
                          <a:solidFill>
                            <a:srgbClr val="1C242E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384</a:t>
                      </a:r>
                    </a:p>
                  </a:txBody>
                  <a:tcPr marL="54864" marR="54864" marT="27432" marB="18288" anchor="ctr">
                    <a:solidFill>
                      <a:srgbClr val="FFFFFF"/>
                    </a:solidFill>
                    <a:lnL w="6350">
                      <a:solidFill>
                        <a:srgbClr val="D6DCE2"/>
                      </a:solidFill>
                    </a:lnL>
                    <a:lnR w="6350">
                      <a:solidFill>
                        <a:srgbClr val="D6DCE2"/>
                      </a:solidFill>
                    </a:lnR>
                    <a:lnT w="6350">
                      <a:solidFill>
                        <a:srgbClr val="D6DCE2"/>
                      </a:solidFill>
                    </a:lnT>
                    <a:lnB w="6350">
                      <a:solidFill>
                        <a:srgbClr val="D6DCE2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  <a:lnSpc>
                          <a:spcPct val="100000"/>
                        </a:lnSpc>
                      </a:pPr>
                      <a:r>
                        <a:rPr sz="1200" b="0">
                          <a:solidFill>
                            <a:srgbClr val="1C242E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2469</a:t>
                      </a:r>
                    </a:p>
                  </a:txBody>
                  <a:tcPr marL="54864" marR="54864" marT="27432" marB="18288" anchor="ctr">
                    <a:solidFill>
                      <a:srgbClr val="FFFFFF"/>
                    </a:solidFill>
                    <a:lnL w="6350">
                      <a:solidFill>
                        <a:srgbClr val="D6DCE2"/>
                      </a:solidFill>
                    </a:lnL>
                    <a:lnR w="6350">
                      <a:solidFill>
                        <a:srgbClr val="D6DCE2"/>
                      </a:solidFill>
                    </a:lnR>
                    <a:lnT w="6350">
                      <a:solidFill>
                        <a:srgbClr val="D6DCE2"/>
                      </a:solidFill>
                    </a:lnT>
                    <a:lnB w="6350">
                      <a:solidFill>
                        <a:srgbClr val="D6DCE2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  <a:lnSpc>
                          <a:spcPct val="100000"/>
                        </a:lnSpc>
                      </a:pPr>
                      <a:r>
                        <a:rPr sz="1200" b="0">
                          <a:solidFill>
                            <a:srgbClr val="1C242E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×6.43。增量全部记在专家个数上</a:t>
                      </a:r>
                    </a:p>
                  </a:txBody>
                  <a:tcPr marL="54864" marR="54864" marT="27432" marB="18288" anchor="ctr">
                    <a:solidFill>
                      <a:srgbClr val="FFFFFF"/>
                    </a:solidFill>
                    <a:lnL w="6350">
                      <a:solidFill>
                        <a:srgbClr val="D6DCE2"/>
                      </a:solidFill>
                    </a:lnL>
                    <a:lnR w="6350">
                      <a:solidFill>
                        <a:srgbClr val="D6DCE2"/>
                      </a:solidFill>
                    </a:lnR>
                    <a:lnT w="6350">
                      <a:solidFill>
                        <a:srgbClr val="D6DCE2"/>
                      </a:solidFill>
                    </a:lnT>
                    <a:lnB w="6350">
                      <a:solidFill>
                        <a:srgbClr val="D6DCE2"/>
                      </a:solidFill>
                    </a:lnB>
                  </a:tcPr>
                </a:tc>
              </a:tr>
              <a:tr h="365760">
                <a:tc>
                  <a:txBody>
                    <a:bodyPr wrap="square"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  <a:lnSpc>
                          <a:spcPct val="100000"/>
                        </a:lnSpc>
                      </a:pPr>
                      <a:r>
                        <a:rPr sz="1200" b="1">
                          <a:solidFill>
                            <a:srgbClr val="0E2A47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激活参数</a:t>
                      </a:r>
                    </a:p>
                  </a:txBody>
                  <a:tcPr marL="54864" marR="54864" marT="27432" marB="18288" anchor="ctr">
                    <a:solidFill>
                      <a:srgbClr val="F4F7FA"/>
                    </a:solidFill>
                    <a:lnL w="6350">
                      <a:solidFill>
                        <a:srgbClr val="D6DCE2"/>
                      </a:solidFill>
                    </a:lnL>
                    <a:lnR w="6350">
                      <a:solidFill>
                        <a:srgbClr val="D6DCE2"/>
                      </a:solidFill>
                    </a:lnR>
                    <a:lnT w="6350">
                      <a:solidFill>
                        <a:srgbClr val="D6DCE2"/>
                      </a:solidFill>
                    </a:lnT>
                    <a:lnB w="6350">
                      <a:solidFill>
                        <a:srgbClr val="D6DCE2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  <a:lnSpc>
                          <a:spcPct val="100000"/>
                        </a:lnSpc>
                      </a:pPr>
                      <a:r>
                        <a:rPr sz="1200" b="0">
                          <a:solidFill>
                            <a:srgbClr val="1C242E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4.9×10^10</a:t>
                      </a:r>
                    </a:p>
                  </a:txBody>
                  <a:tcPr marL="54864" marR="54864" marT="27432" marB="18288" anchor="ctr">
                    <a:solidFill>
                      <a:srgbClr val="FFFFFF"/>
                    </a:solidFill>
                    <a:lnL w="6350">
                      <a:solidFill>
                        <a:srgbClr val="D6DCE2"/>
                      </a:solidFill>
                    </a:lnL>
                    <a:lnR w="6350">
                      <a:solidFill>
                        <a:srgbClr val="D6DCE2"/>
                      </a:solidFill>
                    </a:lnR>
                    <a:lnT w="6350">
                      <a:solidFill>
                        <a:srgbClr val="D6DCE2"/>
                      </a:solidFill>
                    </a:lnT>
                    <a:lnB w="6350">
                      <a:solidFill>
                        <a:srgbClr val="D6DCE2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  <a:lnSpc>
                          <a:spcPct val="100000"/>
                        </a:lnSpc>
                      </a:pPr>
                      <a:r>
                        <a:rPr sz="1200" b="0">
                          <a:solidFill>
                            <a:srgbClr val="1C242E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4.9×10^10</a:t>
                      </a:r>
                    </a:p>
                  </a:txBody>
                  <a:tcPr marL="54864" marR="54864" marT="27432" marB="18288" anchor="ctr">
                    <a:solidFill>
                      <a:srgbClr val="FFFFFF"/>
                    </a:solidFill>
                    <a:lnL w="6350">
                      <a:solidFill>
                        <a:srgbClr val="D6DCE2"/>
                      </a:solidFill>
                    </a:lnL>
                    <a:lnR w="6350">
                      <a:solidFill>
                        <a:srgbClr val="D6DCE2"/>
                      </a:solidFill>
                    </a:lnR>
                    <a:lnT w="6350">
                      <a:solidFill>
                        <a:srgbClr val="D6DCE2"/>
                      </a:solidFill>
                    </a:lnT>
                    <a:lnB w="6350">
                      <a:solidFill>
                        <a:srgbClr val="D6DCE2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  <a:lnSpc>
                          <a:spcPct val="100000"/>
                        </a:lnSpc>
                      </a:pPr>
                      <a:r>
                        <a:rPr sz="1200" b="0">
                          <a:solidFill>
                            <a:srgbClr val="1C242E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每 token 仍激活 6 个路由专家 + 1 个共享</a:t>
                      </a:r>
                    </a:p>
                  </a:txBody>
                  <a:tcPr marL="54864" marR="54864" marT="27432" marB="18288" anchor="ctr">
                    <a:solidFill>
                      <a:srgbClr val="FFFFFF"/>
                    </a:solidFill>
                    <a:lnL w="6350">
                      <a:solidFill>
                        <a:srgbClr val="D6DCE2"/>
                      </a:solidFill>
                    </a:lnL>
                    <a:lnR w="6350">
                      <a:solidFill>
                        <a:srgbClr val="D6DCE2"/>
                      </a:solidFill>
                    </a:lnR>
                    <a:lnT w="6350">
                      <a:solidFill>
                        <a:srgbClr val="D6DCE2"/>
                      </a:solidFill>
                    </a:lnT>
                    <a:lnB w="6350">
                      <a:solidFill>
                        <a:srgbClr val="D6DCE2"/>
                      </a:solidFill>
                    </a:lnB>
                  </a:tcPr>
                </a:tc>
              </a:tr>
              <a:tr h="365760">
                <a:tc>
                  <a:txBody>
                    <a:bodyPr wrap="square"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  <a:lnSpc>
                          <a:spcPct val="100000"/>
                        </a:lnSpc>
                      </a:pPr>
                      <a:r>
                        <a:rPr sz="1200" b="1">
                          <a:solidFill>
                            <a:srgbClr val="0E2A47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激活比</a:t>
                      </a:r>
                    </a:p>
                  </a:txBody>
                  <a:tcPr marL="54864" marR="54864" marT="27432" marB="18288" anchor="ctr">
                    <a:solidFill>
                      <a:srgbClr val="F4F7FA"/>
                    </a:solidFill>
                    <a:lnL w="6350">
                      <a:solidFill>
                        <a:srgbClr val="D6DCE2"/>
                      </a:solidFill>
                    </a:lnL>
                    <a:lnR w="6350">
                      <a:solidFill>
                        <a:srgbClr val="D6DCE2"/>
                      </a:solidFill>
                    </a:lnR>
                    <a:lnT w="6350">
                      <a:solidFill>
                        <a:srgbClr val="D6DCE2"/>
                      </a:solidFill>
                    </a:lnT>
                    <a:lnB w="6350">
                      <a:solidFill>
                        <a:srgbClr val="D6DCE2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  <a:lnSpc>
                          <a:spcPct val="100000"/>
                        </a:lnSpc>
                      </a:pPr>
                      <a:r>
                        <a:rPr sz="1200" b="0">
                          <a:solidFill>
                            <a:srgbClr val="1C242E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3.06%</a:t>
                      </a:r>
                    </a:p>
                  </a:txBody>
                  <a:tcPr marL="54864" marR="54864" marT="27432" marB="18288" anchor="ctr">
                    <a:solidFill>
                      <a:srgbClr val="FFFFFF"/>
                    </a:solidFill>
                    <a:lnL w="6350">
                      <a:solidFill>
                        <a:srgbClr val="D6DCE2"/>
                      </a:solidFill>
                    </a:lnL>
                    <a:lnR w="6350">
                      <a:solidFill>
                        <a:srgbClr val="D6DCE2"/>
                      </a:solidFill>
                    </a:lnR>
                    <a:lnT w="6350">
                      <a:solidFill>
                        <a:srgbClr val="D6DCE2"/>
                      </a:solidFill>
                    </a:lnT>
                    <a:lnB w="6350">
                      <a:solidFill>
                        <a:srgbClr val="D6DCE2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  <a:lnSpc>
                          <a:spcPct val="100000"/>
                        </a:lnSpc>
                      </a:pPr>
                      <a:r>
                        <a:rPr sz="1200" b="0">
                          <a:solidFill>
                            <a:srgbClr val="1C242E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0.49%</a:t>
                      </a:r>
                    </a:p>
                  </a:txBody>
                  <a:tcPr marL="54864" marR="54864" marT="27432" marB="18288" anchor="ctr">
                    <a:solidFill>
                      <a:srgbClr val="FFFFFF"/>
                    </a:solidFill>
                    <a:lnL w="6350">
                      <a:solidFill>
                        <a:srgbClr val="D6DCE2"/>
                      </a:solidFill>
                    </a:lnL>
                    <a:lnR w="6350">
                      <a:solidFill>
                        <a:srgbClr val="D6DCE2"/>
                      </a:solidFill>
                    </a:lnR>
                    <a:lnT w="6350">
                      <a:solidFill>
                        <a:srgbClr val="D6DCE2"/>
                      </a:solidFill>
                    </a:lnT>
                    <a:lnB w="6350">
                      <a:solidFill>
                        <a:srgbClr val="D6DCE2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  <a:lnSpc>
                          <a:spcPct val="100000"/>
                        </a:lnSpc>
                      </a:pPr>
                      <a:r>
                        <a:rPr sz="1200" b="0">
                          <a:solidFill>
                            <a:srgbClr val="1C242E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专家表变大，单 token 激活不变</a:t>
                      </a:r>
                    </a:p>
                  </a:txBody>
                  <a:tcPr marL="54864" marR="54864" marT="27432" marB="18288" anchor="ctr">
                    <a:solidFill>
                      <a:srgbClr val="FFFFFF"/>
                    </a:solidFill>
                    <a:lnL w="6350">
                      <a:solidFill>
                        <a:srgbClr val="D6DCE2"/>
                      </a:solidFill>
                    </a:lnL>
                    <a:lnR w="6350">
                      <a:solidFill>
                        <a:srgbClr val="D6DCE2"/>
                      </a:solidFill>
                    </a:lnR>
                    <a:lnT w="6350">
                      <a:solidFill>
                        <a:srgbClr val="D6DCE2"/>
                      </a:solidFill>
                    </a:lnT>
                    <a:lnB w="6350">
                      <a:solidFill>
                        <a:srgbClr val="D6DCE2"/>
                      </a:solidFill>
                    </a:lnB>
                  </a:tcPr>
                </a:tc>
              </a:tr>
              <a:tr h="365760">
                <a:tc>
                  <a:txBody>
                    <a:bodyPr wrap="square"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  <a:lnSpc>
                          <a:spcPct val="100000"/>
                        </a:lnSpc>
                      </a:pPr>
                      <a:r>
                        <a:rPr sz="1200" b="1">
                          <a:solidFill>
                            <a:srgbClr val="0E2A47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FP4 专家表</a:t>
                      </a:r>
                    </a:p>
                  </a:txBody>
                  <a:tcPr marL="54864" marR="54864" marT="27432" marB="18288" anchor="ctr">
                    <a:solidFill>
                      <a:srgbClr val="F4F7FA"/>
                    </a:solidFill>
                    <a:lnL w="6350">
                      <a:solidFill>
                        <a:srgbClr val="D6DCE2"/>
                      </a:solidFill>
                    </a:lnL>
                    <a:lnR w="6350">
                      <a:solidFill>
                        <a:srgbClr val="D6DCE2"/>
                      </a:solidFill>
                    </a:lnR>
                    <a:lnT w="6350">
                      <a:solidFill>
                        <a:srgbClr val="D6DCE2"/>
                      </a:solidFill>
                    </a:lnT>
                    <a:lnB w="6350">
                      <a:solidFill>
                        <a:srgbClr val="D6DCE2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  <a:lnSpc>
                          <a:spcPct val="100000"/>
                        </a:lnSpc>
                      </a:pPr>
                      <a:r>
                        <a:rPr sz="1200" b="0">
                          <a:solidFill>
                            <a:srgbClr val="1C242E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0.774 TB</a:t>
                      </a:r>
                    </a:p>
                  </a:txBody>
                  <a:tcPr marL="54864" marR="54864" marT="27432" marB="18288" anchor="ctr">
                    <a:solidFill>
                      <a:srgbClr val="FFFFFF"/>
                    </a:solidFill>
                    <a:lnL w="6350">
                      <a:solidFill>
                        <a:srgbClr val="D6DCE2"/>
                      </a:solidFill>
                    </a:lnL>
                    <a:lnR w="6350">
                      <a:solidFill>
                        <a:srgbClr val="D6DCE2"/>
                      </a:solidFill>
                    </a:lnR>
                    <a:lnT w="6350">
                      <a:solidFill>
                        <a:srgbClr val="D6DCE2"/>
                      </a:solidFill>
                    </a:lnT>
                    <a:lnB w="6350">
                      <a:solidFill>
                        <a:srgbClr val="D6DCE2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  <a:lnSpc>
                          <a:spcPct val="100000"/>
                        </a:lnSpc>
                      </a:pPr>
                      <a:r>
                        <a:rPr sz="1200" b="0">
                          <a:solidFill>
                            <a:srgbClr val="1C242E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4.975 TB</a:t>
                      </a:r>
                    </a:p>
                  </a:txBody>
                  <a:tcPr marL="54864" marR="54864" marT="27432" marB="18288" anchor="ctr">
                    <a:solidFill>
                      <a:srgbClr val="FFFFFF"/>
                    </a:solidFill>
                    <a:lnL w="6350">
                      <a:solidFill>
                        <a:srgbClr val="D6DCE2"/>
                      </a:solidFill>
                    </a:lnL>
                    <a:lnR w="6350">
                      <a:solidFill>
                        <a:srgbClr val="D6DCE2"/>
                      </a:solidFill>
                    </a:lnR>
                    <a:lnT w="6350">
                      <a:solidFill>
                        <a:srgbClr val="D6DCE2"/>
                      </a:solidFill>
                    </a:lnT>
                    <a:lnB w="6350">
                      <a:solidFill>
                        <a:srgbClr val="D6DCE2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  <a:lnSpc>
                          <a:spcPct val="100000"/>
                        </a:lnSpc>
                      </a:pPr>
                      <a:r>
                        <a:rPr sz="1200" b="0">
                          <a:solidFill>
                            <a:srgbClr val="1C242E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单个专家全层 2.015 GB</a:t>
                      </a:r>
                    </a:p>
                  </a:txBody>
                  <a:tcPr marL="54864" marR="54864" marT="27432" marB="18288" anchor="ctr">
                    <a:solidFill>
                      <a:srgbClr val="FFFFFF"/>
                    </a:solidFill>
                    <a:lnL w="6350">
                      <a:solidFill>
                        <a:srgbClr val="D6DCE2"/>
                      </a:solidFill>
                    </a:lnL>
                    <a:lnR w="6350">
                      <a:solidFill>
                        <a:srgbClr val="D6DCE2"/>
                      </a:solidFill>
                    </a:lnR>
                    <a:lnT w="6350">
                      <a:solidFill>
                        <a:srgbClr val="D6DCE2"/>
                      </a:solidFill>
                    </a:lnT>
                    <a:lnB w="6350">
                      <a:solidFill>
                        <a:srgbClr val="D6DCE2"/>
                      </a:solidFill>
                    </a:lnB>
                  </a:tcPr>
                </a:tc>
              </a:tr>
              <a:tr h="365760">
                <a:tc>
                  <a:txBody>
                    <a:bodyPr wrap="square"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  <a:lnSpc>
                          <a:spcPct val="100000"/>
                        </a:lnSpc>
                      </a:pPr>
                      <a:r>
                        <a:rPr sz="1200" b="1">
                          <a:solidFill>
                            <a:srgbClr val="0E2A47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层 / 隐藏 / 中间维</a:t>
                      </a:r>
                    </a:p>
                  </a:txBody>
                  <a:tcPr marL="54864" marR="54864" marT="27432" marB="18288" anchor="ctr">
                    <a:solidFill>
                      <a:srgbClr val="F4F7FA"/>
                    </a:solidFill>
                    <a:lnL w="6350">
                      <a:solidFill>
                        <a:srgbClr val="D6DCE2"/>
                      </a:solidFill>
                    </a:lnL>
                    <a:lnR w="6350">
                      <a:solidFill>
                        <a:srgbClr val="D6DCE2"/>
                      </a:solidFill>
                    </a:lnR>
                    <a:lnT w="6350">
                      <a:solidFill>
                        <a:srgbClr val="D6DCE2"/>
                      </a:solidFill>
                    </a:lnT>
                    <a:lnB w="6350">
                      <a:solidFill>
                        <a:srgbClr val="D6DCE2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  <a:lnSpc>
                          <a:spcPct val="100000"/>
                        </a:lnSpc>
                      </a:pPr>
                      <a:r>
                        <a:rPr sz="1200" b="0">
                          <a:solidFill>
                            <a:srgbClr val="1C242E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61 / 7168 / 3072</a:t>
                      </a:r>
                    </a:p>
                  </a:txBody>
                  <a:tcPr marL="54864" marR="54864" marT="27432" marB="18288" anchor="ctr">
                    <a:solidFill>
                      <a:srgbClr val="FFFFFF"/>
                    </a:solidFill>
                    <a:lnL w="6350">
                      <a:solidFill>
                        <a:srgbClr val="D6DCE2"/>
                      </a:solidFill>
                    </a:lnL>
                    <a:lnR w="6350">
                      <a:solidFill>
                        <a:srgbClr val="D6DCE2"/>
                      </a:solidFill>
                    </a:lnR>
                    <a:lnT w="6350">
                      <a:solidFill>
                        <a:srgbClr val="D6DCE2"/>
                      </a:solidFill>
                    </a:lnT>
                    <a:lnB w="6350">
                      <a:solidFill>
                        <a:srgbClr val="D6DCE2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  <a:lnSpc>
                          <a:spcPct val="100000"/>
                        </a:lnSpc>
                      </a:pPr>
                      <a:r>
                        <a:rPr sz="1200" b="0">
                          <a:solidFill>
                            <a:srgbClr val="1C242E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同左</a:t>
                      </a:r>
                    </a:p>
                  </a:txBody>
                  <a:tcPr marL="54864" marR="54864" marT="27432" marB="18288" anchor="ctr">
                    <a:solidFill>
                      <a:srgbClr val="FFFFFF"/>
                    </a:solidFill>
                    <a:lnL w="6350">
                      <a:solidFill>
                        <a:srgbClr val="D6DCE2"/>
                      </a:solidFill>
                    </a:lnL>
                    <a:lnR w="6350">
                      <a:solidFill>
                        <a:srgbClr val="D6DCE2"/>
                      </a:solidFill>
                    </a:lnR>
                    <a:lnT w="6350">
                      <a:solidFill>
                        <a:srgbClr val="D6DCE2"/>
                      </a:solidFill>
                    </a:lnT>
                    <a:lnB w="6350">
                      <a:solidFill>
                        <a:srgbClr val="D6DCE2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  <a:lnSpc>
                          <a:spcPct val="100000"/>
                        </a:lnSpc>
                      </a:pPr>
                      <a:r>
                        <a:rPr sz="1200" b="0">
                          <a:solidFill>
                            <a:srgbClr val="1C242E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外推不动这三项</a:t>
                      </a:r>
                    </a:p>
                  </a:txBody>
                  <a:tcPr marL="54864" marR="54864" marT="27432" marB="18288" anchor="ctr">
                    <a:solidFill>
                      <a:srgbClr val="FFFFFF"/>
                    </a:solidFill>
                    <a:lnL w="6350">
                      <a:solidFill>
                        <a:srgbClr val="D6DCE2"/>
                      </a:solidFill>
                    </a:lnL>
                    <a:lnR w="6350">
                      <a:solidFill>
                        <a:srgbClr val="D6DCE2"/>
                      </a:solidFill>
                    </a:lnR>
                    <a:lnT w="6350">
                      <a:solidFill>
                        <a:srgbClr val="D6DCE2"/>
                      </a:solidFill>
                    </a:lnT>
                    <a:lnB w="6350">
                      <a:solidFill>
                        <a:srgbClr val="D6DCE2"/>
                      </a:solidFill>
                    </a:lnB>
                  </a:tcPr>
                </a:tc>
              </a:tr>
              <a:tr h="402336">
                <a:tc>
                  <a:txBody>
                    <a:bodyPr wrap="square"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  <a:lnSpc>
                          <a:spcPct val="100000"/>
                        </a:lnSpc>
                      </a:pPr>
                      <a:r>
                        <a:rPr sz="1200" b="1">
                          <a:solidFill>
                            <a:srgbClr val="0E2A47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注意力</a:t>
                      </a:r>
                    </a:p>
                  </a:txBody>
                  <a:tcPr marL="54864" marR="54864" marT="27432" marB="18288" anchor="ctr">
                    <a:solidFill>
                      <a:srgbClr val="F4F7FA"/>
                    </a:solidFill>
                    <a:lnL w="6350">
                      <a:solidFill>
                        <a:srgbClr val="D6DCE2"/>
                      </a:solidFill>
                    </a:lnL>
                    <a:lnR w="6350">
                      <a:solidFill>
                        <a:srgbClr val="D6DCE2"/>
                      </a:solidFill>
                    </a:lnR>
                    <a:lnT w="6350">
                      <a:solidFill>
                        <a:srgbClr val="D6DCE2"/>
                      </a:solidFill>
                    </a:lnT>
                    <a:lnB w="6350">
                      <a:solidFill>
                        <a:srgbClr val="D6DCE2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  <a:lnSpc>
                          <a:spcPct val="100000"/>
                        </a:lnSpc>
                      </a:pPr>
                      <a:r>
                        <a:rPr sz="1200" b="0">
                          <a:solidFill>
                            <a:srgbClr val="1C242E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CSA m=4，topk=1024</a:t>
                      </a:r>
                    </a:p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  <a:lnSpc>
                          <a:spcPct val="100000"/>
                        </a:lnSpc>
                      </a:pPr>
                      <a:r>
                        <a:rPr sz="1200" b="0">
                          <a:solidFill>
                            <a:srgbClr val="1C242E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HCA m′=128，滑窗 128</a:t>
                      </a:r>
                    </a:p>
                  </a:txBody>
                  <a:tcPr marL="54864" marR="54864" marT="27432" marB="18288" anchor="ctr">
                    <a:solidFill>
                      <a:srgbClr val="FFFFFF"/>
                    </a:solidFill>
                    <a:lnL w="6350">
                      <a:solidFill>
                        <a:srgbClr val="D6DCE2"/>
                      </a:solidFill>
                    </a:lnL>
                    <a:lnR w="6350">
                      <a:solidFill>
                        <a:srgbClr val="D6DCE2"/>
                      </a:solidFill>
                    </a:lnR>
                    <a:lnT w="6350">
                      <a:solidFill>
                        <a:srgbClr val="D6DCE2"/>
                      </a:solidFill>
                    </a:lnT>
                    <a:lnB w="6350">
                      <a:solidFill>
                        <a:srgbClr val="D6DCE2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  <a:lnSpc>
                          <a:spcPct val="100000"/>
                        </a:lnSpc>
                      </a:pPr>
                      <a:r>
                        <a:rPr sz="1200" b="0">
                          <a:solidFill>
                            <a:srgbClr val="1C242E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同左</a:t>
                      </a:r>
                    </a:p>
                  </a:txBody>
                  <a:tcPr marL="54864" marR="54864" marT="27432" marB="18288" anchor="ctr">
                    <a:solidFill>
                      <a:srgbClr val="FFFFFF"/>
                    </a:solidFill>
                    <a:lnL w="6350">
                      <a:solidFill>
                        <a:srgbClr val="D6DCE2"/>
                      </a:solidFill>
                    </a:lnL>
                    <a:lnR w="6350">
                      <a:solidFill>
                        <a:srgbClr val="D6DCE2"/>
                      </a:solidFill>
                    </a:lnR>
                    <a:lnT w="6350">
                      <a:solidFill>
                        <a:srgbClr val="D6DCE2"/>
                      </a:solidFill>
                    </a:lnT>
                    <a:lnB w="6350">
                      <a:solidFill>
                        <a:srgbClr val="D6DCE2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  <a:lnSpc>
                          <a:spcPct val="100000"/>
                        </a:lnSpc>
                      </a:pPr>
                      <a:r>
                        <a:rPr sz="1200" b="0">
                          <a:solidFill>
                            <a:srgbClr val="1C242E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30 层 CSA、31 层 HCA。KV 仍是 4939.5 B/token</a:t>
                      </a:r>
                    </a:p>
                  </a:txBody>
                  <a:tcPr marL="54864" marR="54864" marT="27432" marB="18288" anchor="ctr">
                    <a:solidFill>
                      <a:srgbClr val="FFFFFF"/>
                    </a:solidFill>
                    <a:lnL w="6350">
                      <a:solidFill>
                        <a:srgbClr val="D6DCE2"/>
                      </a:solidFill>
                    </a:lnL>
                    <a:lnR w="6350">
                      <a:solidFill>
                        <a:srgbClr val="D6DCE2"/>
                      </a:solidFill>
                    </a:lnR>
                    <a:lnT w="6350">
                      <a:solidFill>
                        <a:srgbClr val="D6DCE2"/>
                      </a:solidFill>
                    </a:lnT>
                    <a:lnB w="6350">
                      <a:solidFill>
                        <a:srgbClr val="D6DCE2"/>
                      </a:solidFill>
                    </a:lnB>
                  </a:tcPr>
                </a:tc>
              </a:tr>
              <a:tr h="365760">
                <a:tc>
                  <a:txBody>
                    <a:bodyPr wrap="square"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  <a:lnSpc>
                          <a:spcPct val="100000"/>
                        </a:lnSpc>
                      </a:pPr>
                      <a:r>
                        <a:rPr sz="1200" b="1">
                          <a:solidFill>
                            <a:srgbClr val="0E2A47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单 token 专家通信</a:t>
                      </a:r>
                    </a:p>
                  </a:txBody>
                  <a:tcPr marL="54864" marR="54864" marT="27432" marB="18288" anchor="ctr">
                    <a:solidFill>
                      <a:srgbClr val="F4F7FA"/>
                    </a:solidFill>
                    <a:lnL w="6350">
                      <a:solidFill>
                        <a:srgbClr val="D6DCE2"/>
                      </a:solidFill>
                    </a:lnL>
                    <a:lnR w="6350">
                      <a:solidFill>
                        <a:srgbClr val="D6DCE2"/>
                      </a:solidFill>
                    </a:lnR>
                    <a:lnT w="6350">
                      <a:solidFill>
                        <a:srgbClr val="D6DCE2"/>
                      </a:solidFill>
                    </a:lnT>
                    <a:lnB w="6350">
                      <a:solidFill>
                        <a:srgbClr val="D6DCE2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  <a:lnSpc>
                          <a:spcPct val="100000"/>
                        </a:lnSpc>
                      </a:pPr>
                      <a:r>
                        <a:rPr sz="1200" b="0">
                          <a:solidFill>
                            <a:srgbClr val="1C242E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7.87×10^6 字节</a:t>
                      </a:r>
                    </a:p>
                  </a:txBody>
                  <a:tcPr marL="54864" marR="54864" marT="27432" marB="18288" anchor="ctr">
                    <a:solidFill>
                      <a:srgbClr val="FFFFFF"/>
                    </a:solidFill>
                    <a:lnL w="6350">
                      <a:solidFill>
                        <a:srgbClr val="D6DCE2"/>
                      </a:solidFill>
                    </a:lnL>
                    <a:lnR w="6350">
                      <a:solidFill>
                        <a:srgbClr val="D6DCE2"/>
                      </a:solidFill>
                    </a:lnR>
                    <a:lnT w="6350">
                      <a:solidFill>
                        <a:srgbClr val="D6DCE2"/>
                      </a:solidFill>
                    </a:lnT>
                    <a:lnB w="6350">
                      <a:solidFill>
                        <a:srgbClr val="D6DCE2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  <a:lnSpc>
                          <a:spcPct val="100000"/>
                        </a:lnSpc>
                      </a:pPr>
                      <a:r>
                        <a:rPr sz="1200" b="0">
                          <a:solidFill>
                            <a:srgbClr val="1C242E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同左</a:t>
                      </a:r>
                    </a:p>
                  </a:txBody>
                  <a:tcPr marL="54864" marR="54864" marT="27432" marB="18288" anchor="ctr">
                    <a:solidFill>
                      <a:srgbClr val="FFFFFF"/>
                    </a:solidFill>
                    <a:lnL w="6350">
                      <a:solidFill>
                        <a:srgbClr val="D6DCE2"/>
                      </a:solidFill>
                    </a:lnL>
                    <a:lnR w="6350">
                      <a:solidFill>
                        <a:srgbClr val="D6DCE2"/>
                      </a:solidFill>
                    </a:lnR>
                    <a:lnT w="6350">
                      <a:solidFill>
                        <a:srgbClr val="D6DCE2"/>
                      </a:solidFill>
                    </a:lnT>
                    <a:lnB w="6350">
                      <a:solidFill>
                        <a:srgbClr val="D6DCE2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  <a:lnSpc>
                          <a:spcPct val="100000"/>
                        </a:lnSpc>
                      </a:pPr>
                      <a:r>
                        <a:rPr sz="1200" b="0">
                          <a:solidFill>
                            <a:srgbClr val="1C242E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6 × 3 × 7168 × 61，与专家总数无关</a:t>
                      </a:r>
                    </a:p>
                  </a:txBody>
                  <a:tcPr marL="54864" marR="54864" marT="27432" marB="18288" anchor="ctr">
                    <a:solidFill>
                      <a:srgbClr val="FFFFFF"/>
                    </a:solidFill>
                    <a:lnL w="6350">
                      <a:solidFill>
                        <a:srgbClr val="D6DCE2"/>
                      </a:solidFill>
                    </a:lnL>
                    <a:lnR w="6350">
                      <a:solidFill>
                        <a:srgbClr val="D6DCE2"/>
                      </a:solidFill>
                    </a:lnR>
                    <a:lnT w="6350">
                      <a:solidFill>
                        <a:srgbClr val="D6DCE2"/>
                      </a:solidFill>
                    </a:lnT>
                    <a:lnB w="6350">
                      <a:solidFill>
                        <a:srgbClr val="D6DCE2"/>
                      </a:solidFill>
                    </a:lnB>
                  </a:tcPr>
                </a:tc>
              </a:tr>
              <a:tr h="365760">
                <a:tc>
                  <a:txBody>
                    <a:bodyPr wrap="square"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  <a:lnSpc>
                          <a:spcPct val="100000"/>
                        </a:lnSpc>
                      </a:pPr>
                      <a:r>
                        <a:rPr sz="1200" b="1">
                          <a:solidFill>
                            <a:srgbClr val="0E2A47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640 GB 卡下限</a:t>
                      </a:r>
                    </a:p>
                  </a:txBody>
                  <a:tcPr marL="54864" marR="54864" marT="27432" marB="18288" anchor="ctr">
                    <a:solidFill>
                      <a:srgbClr val="F4F7FA"/>
                    </a:solidFill>
                    <a:lnL w="6350">
                      <a:solidFill>
                        <a:srgbClr val="D6DCE2"/>
                      </a:solidFill>
                    </a:lnL>
                    <a:lnR w="6350">
                      <a:solidFill>
                        <a:srgbClr val="D6DCE2"/>
                      </a:solidFill>
                    </a:lnR>
                    <a:lnT w="6350">
                      <a:solidFill>
                        <a:srgbClr val="D6DCE2"/>
                      </a:solidFill>
                    </a:lnT>
                    <a:lnB w="6350">
                      <a:solidFill>
                        <a:srgbClr val="D6DCE2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  <a:lnSpc>
                          <a:spcPct val="100000"/>
                        </a:lnSpc>
                      </a:pPr>
                      <a:r>
                        <a:rPr sz="1200" b="0">
                          <a:solidFill>
                            <a:srgbClr val="1C242E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2 张</a:t>
                      </a:r>
                    </a:p>
                  </a:txBody>
                  <a:tcPr marL="54864" marR="54864" marT="27432" marB="18288" anchor="ctr">
                    <a:solidFill>
                      <a:srgbClr val="FFFFFF"/>
                    </a:solidFill>
                    <a:lnL w="6350">
                      <a:solidFill>
                        <a:srgbClr val="D6DCE2"/>
                      </a:solidFill>
                    </a:lnL>
                    <a:lnR w="6350">
                      <a:solidFill>
                        <a:srgbClr val="D6DCE2"/>
                      </a:solidFill>
                    </a:lnR>
                    <a:lnT w="6350">
                      <a:solidFill>
                        <a:srgbClr val="D6DCE2"/>
                      </a:solidFill>
                    </a:lnT>
                    <a:lnB w="6350">
                      <a:solidFill>
                        <a:srgbClr val="D6DCE2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  <a:lnSpc>
                          <a:spcPct val="100000"/>
                        </a:lnSpc>
                      </a:pPr>
                      <a:r>
                        <a:rPr sz="1200" b="0">
                          <a:solidFill>
                            <a:srgbClr val="1C242E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8 张</a:t>
                      </a:r>
                    </a:p>
                  </a:txBody>
                  <a:tcPr marL="54864" marR="54864" marT="27432" marB="18288" anchor="ctr">
                    <a:solidFill>
                      <a:srgbClr val="FFFFFF"/>
                    </a:solidFill>
                    <a:lnL w="6350">
                      <a:solidFill>
                        <a:srgbClr val="D6DCE2"/>
                      </a:solidFill>
                    </a:lnL>
                    <a:lnR w="6350">
                      <a:solidFill>
                        <a:srgbClr val="D6DCE2"/>
                      </a:solidFill>
                    </a:lnR>
                    <a:lnT w="6350">
                      <a:solidFill>
                        <a:srgbClr val="D6DCE2"/>
                      </a:solidFill>
                    </a:lnT>
                    <a:lnB w="6350">
                      <a:solidFill>
                        <a:srgbClr val="D6DCE2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  <a:lnSpc>
                          <a:spcPct val="100000"/>
                        </a:lnSpc>
                      </a:pPr>
                      <a:r>
                        <a:rPr sz="1200" b="0">
                          <a:solidFill>
                            <a:srgbClr val="1C242E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只按 FP4 专家表。时延页用本档 96 GB × 128 卡</a:t>
                      </a:r>
                    </a:p>
                  </a:txBody>
                  <a:tcPr marL="54864" marR="54864" marT="27432" marB="18288" anchor="ctr">
                    <a:solidFill>
                      <a:srgbClr val="FFFFFF"/>
                    </a:solidFill>
                    <a:lnL w="6350">
                      <a:solidFill>
                        <a:srgbClr val="D6DCE2"/>
                      </a:solidFill>
                    </a:lnL>
                    <a:lnR w="6350">
                      <a:solidFill>
                        <a:srgbClr val="D6DCE2"/>
                      </a:solidFill>
                    </a:lnR>
                    <a:lnT w="6350">
                      <a:solidFill>
                        <a:srgbClr val="D6DCE2"/>
                      </a:solidFill>
                    </a:lnT>
                    <a:lnB w="6350">
                      <a:solidFill>
                        <a:srgbClr val="D6DCE2"/>
                      </a:solidFill>
                    </a:lnB>
                  </a:tcPr>
                </a:tc>
              </a:tr>
            </a:tbl>
          </a:graphicData>
        </a:graphic>
      </p:graphicFrame>
      <p:sp>
        <p:nvSpPr>
          <p:cNvPr id="10" name="Rounded Rectangle 9"/>
          <p:cNvSpPr/>
          <p:nvPr/>
        </p:nvSpPr>
        <p:spPr>
          <a:xfrm>
            <a:off x="384048" y="4956048"/>
            <a:ext cx="11430000" cy="1316736"/>
          </a:xfrm>
          <a:prstGeom prst="roundRect">
            <a:avLst/>
          </a:prstGeom>
          <a:solidFill>
            <a:srgbClr val="F8F1E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30352" y="5010912"/>
            <a:ext cx="11137392" cy="1207008"/>
          </a:xfrm>
          <a:prstGeom prst="rect">
            <a:avLst/>
          </a:prstGeom>
          <a:noFill/>
        </p:spPr>
        <p:txBody>
          <a:bodyPr wrap="square" lIns="0" rIns="0" tIns="0" bIns="0" anchor="ctr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300" b="0">
                <a:solidFill>
                  <a:srgbClr val="7A541C"/>
                </a:solidFill>
                <a:latin typeface="Microsoft YaHei"/>
                <a:ea typeface="Microsoft YaHei"/>
                <a:cs typeface="Microsoft YaHei"/>
              </a:rPr>
              <a:t>外推式：总参数 = 专家数 × 4.030×10^9 + 5.260×10^10。单个专家 = 3 × 7168 × 3072 × 61。</a:t>
            </a:r>
          </a:p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300" b="0">
                <a:solidFill>
                  <a:srgbClr val="7A541C"/>
                </a:solidFill>
                <a:latin typeface="Microsoft YaHei"/>
                <a:ea typeface="Microsoft YaHei"/>
                <a:cs typeface="Microsoft YaHei"/>
              </a:rPr>
              <a:t>本档：96 GB HBM，4 TB/s 取 80% 为 3.20 TB/s。算力 486 T 取 70% 为 340.2 T，注意力和专家共用。H2D 每卡 64 GB/s 取 80% 为 51.2 GB/s，只在 prefill。机内 DDR5 每机 1288.8 GB/s、768 GB。</a:t>
            </a:r>
          </a:p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300" b="0">
                <a:solidFill>
                  <a:srgbClr val="7A541C"/>
                </a:solidFill>
                <a:latin typeface="Microsoft YaHei"/>
                <a:ea typeface="Microsoft YaHei"/>
                <a:cs typeface="Microsoft YaHei"/>
              </a:rPr>
              <a:t>D2D 每卡 3.2 Tb/s = 400 GB/s，取 80% 为 320 GB/s。内存池标称 480 GB/s，被这条 400 GB/s 的口卡住，有效也是 320 GB/s，容量不设上限。P2P 与参数面 400 Gb/s 取 80% 为 40 GB/s。超节点 128 卡，机内 8 卡 fullmesh。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145A9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84048" y="146304"/>
            <a:ext cx="9692640" cy="256032"/>
          </a:xfrm>
          <a:prstGeom prst="rect">
            <a:avLst/>
          </a:prstGeom>
          <a:noFill/>
        </p:spPr>
        <p:txBody>
          <a:bodyPr wrap="square" lIns="0" rIns="0" tIns="0" bIns="0" anchor="ctr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200" b="1">
                <a:solidFill>
                  <a:srgbClr val="145A96"/>
                </a:solidFill>
                <a:latin typeface="Microsoft YaHei"/>
                <a:ea typeface="Microsoft YaHei"/>
                <a:cs typeface="Microsoft YaHei"/>
              </a:rPr>
              <a:t>Prefill    ·    TTFT ≤ 10 秒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84048" y="384048"/>
            <a:ext cx="11430000" cy="384048"/>
          </a:xfrm>
          <a:prstGeom prst="rect">
            <a:avLst/>
          </a:prstGeom>
          <a:noFill/>
        </p:spPr>
        <p:txBody>
          <a:bodyPr wrap="square" lIns="0" rIns="0" tIns="0" bIns="0" anchor="ctr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600" b="1">
                <a:solidFill>
                  <a:srgbClr val="0E2A47"/>
                </a:solidFill>
                <a:latin typeface="Microsoft YaHei"/>
                <a:ea typeface="Microsoft YaHei"/>
                <a:cs typeface="Microsoft YaHei"/>
              </a:rPr>
              <a:t>10 秒对应的最大输入是 0.25×10^6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424160" y="164592"/>
            <a:ext cx="1371600" cy="237744"/>
          </a:xfrm>
          <a:prstGeom prst="rect">
            <a:avLst/>
          </a:prstGeom>
          <a:noFill/>
        </p:spPr>
        <p:txBody>
          <a:bodyPr wrap="square" lIns="0" rIns="0" tIns="0" bIns="0" anchor="ctr"/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1200" b="0">
                <a:solidFill>
                  <a:srgbClr val="5A636E"/>
                </a:solidFill>
                <a:latin typeface="Microsoft YaHei"/>
                <a:ea typeface="Microsoft YaHei"/>
                <a:cs typeface="Microsoft YaHei"/>
              </a:rPr>
              <a:t>2  /  11</a:t>
            </a:r>
          </a:p>
        </p:txBody>
      </p:sp>
      <p:sp>
        <p:nvSpPr>
          <p:cNvPr id="6" name="Rectangle 5"/>
          <p:cNvSpPr/>
          <p:nvPr/>
        </p:nvSpPr>
        <p:spPr>
          <a:xfrm>
            <a:off x="384048" y="6565392"/>
            <a:ext cx="11430000" cy="9144"/>
          </a:xfrm>
          <a:prstGeom prst="rect">
            <a:avLst/>
          </a:prstGeom>
          <a:solidFill>
            <a:srgbClr val="D6DCE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384048" y="6583680"/>
            <a:ext cx="11430000" cy="219456"/>
          </a:xfrm>
          <a:prstGeom prst="rect">
            <a:avLst/>
          </a:prstGeom>
          <a:noFill/>
        </p:spPr>
        <p:txBody>
          <a:bodyPr wrap="square" lIns="0" rIns="0" tIns="0" bIns="0" anchor="ctr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5A636E"/>
                </a:solidFill>
                <a:latin typeface="Microsoft YaHei"/>
                <a:ea typeface="Microsoft YaHei"/>
                <a:cs typeface="Microsoft YaHei"/>
              </a:rPr>
              <a:t>10T 为外推    ·    96 GB / 486 T、一份 128 卡副本    ·    访存与通信 80%    ·    计算 70%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384048" y="841248"/>
            <a:ext cx="11430000" cy="420624"/>
          </a:xfrm>
          <a:prstGeom prst="roundRect">
            <a:avLst/>
          </a:prstGeom>
          <a:solidFill>
            <a:srgbClr val="E7F3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530352" y="841248"/>
            <a:ext cx="11137392" cy="420624"/>
          </a:xfrm>
          <a:prstGeom prst="rect">
            <a:avLst/>
          </a:prstGeom>
          <a:noFill/>
        </p:spPr>
        <p:txBody>
          <a:bodyPr wrap="square" lIns="0" rIns="0" tIns="0" bIns="0" anchor="ctr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300" b="1">
                <a:solidFill>
                  <a:srgbClr val="0E7A76"/>
                </a:solidFill>
                <a:latin typeface="Microsoft YaHei"/>
                <a:ea typeface="Microsoft YaHei"/>
                <a:cs typeface="Microsoft YaHei"/>
              </a:rPr>
              <a:t>冷请求：Attention 9.60 秒（AR 9.60 秒、计算 6.56 秒），MoE 0.40 秒；P→D 3.9 毫秒 全部隐藏。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84048" y="1335024"/>
            <a:ext cx="5669280" cy="219456"/>
          </a:xfrm>
          <a:prstGeom prst="rect">
            <a:avLst/>
          </a:prstGeom>
          <a:noFill/>
        </p:spPr>
        <p:txBody>
          <a:bodyPr wrap="square" lIns="0" rIns="0" tIns="0" bIns="0" anchor="ctr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300" b="1">
                <a:solidFill>
                  <a:srgbClr val="145A96"/>
                </a:solidFill>
                <a:latin typeface="Microsoft YaHei"/>
                <a:ea typeface="Microsoft YaHei"/>
                <a:cs typeface="Microsoft YaHei"/>
              </a:rPr>
              <a:t>并行策略</a:t>
            </a:r>
          </a:p>
        </p:txBody>
      </p:sp>
      <p:graphicFrame>
        <p:nvGraphicFramePr>
          <p:cNvPr id="11" name="Table 10"/>
          <p:cNvGraphicFramePr>
            <a:graphicFrameLocks noGrp="1"/>
          </p:cNvGraphicFramePr>
          <p:nvPr/>
        </p:nvGraphicFramePr>
        <p:xfrm>
          <a:off x="384048" y="1591056"/>
          <a:ext cx="11430000" cy="2157984"/>
        </p:xfrm>
        <a:graphic>
          <a:graphicData uri="http://schemas.openxmlformats.org/drawingml/2006/table">
            <a:tbl>
              <a:tblPr firstRow="1"/>
              <a:tblGrid>
                <a:gridCol w="1417320"/>
                <a:gridCol w="4937760"/>
                <a:gridCol w="5074920"/>
              </a:tblGrid>
              <a:tr h="256032">
                <a:tc>
                  <a:txBody>
                    <a:bodyPr wrap="square"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  <a:lnSpc>
                          <a:spcPct val="100000"/>
                        </a:lnSpc>
                      </a:pPr>
                      <a:r>
                        <a:rPr sz="1200" b="1">
                          <a:solidFill>
                            <a:srgbClr val="FFFFFF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/>
                      </a:r>
                    </a:p>
                  </a:txBody>
                  <a:tcPr marL="54864" marR="54864" marT="27432" marB="18288" anchor="ctr">
                    <a:solidFill>
                      <a:srgbClr val="0E2A47"/>
                    </a:solidFill>
                    <a:lnL w="6350">
                      <a:solidFill>
                        <a:srgbClr val="D6DCE2"/>
                      </a:solidFill>
                    </a:lnL>
                    <a:lnR w="6350">
                      <a:solidFill>
                        <a:srgbClr val="D6DCE2"/>
                      </a:solidFill>
                    </a:lnR>
                    <a:lnT w="6350">
                      <a:solidFill>
                        <a:srgbClr val="D6DCE2"/>
                      </a:solidFill>
                    </a:lnT>
                    <a:lnB w="6350">
                      <a:solidFill>
                        <a:srgbClr val="D6DCE2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  <a:lnSpc>
                          <a:spcPct val="100000"/>
                        </a:lnSpc>
                      </a:pPr>
                      <a:r>
                        <a:rPr sz="1200" b="1">
                          <a:solidFill>
                            <a:srgbClr val="FFFFFF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Attention</a:t>
                      </a:r>
                    </a:p>
                  </a:txBody>
                  <a:tcPr marL="54864" marR="54864" marT="27432" marB="18288" anchor="ctr">
                    <a:solidFill>
                      <a:srgbClr val="0E2A47"/>
                    </a:solidFill>
                    <a:lnL w="6350">
                      <a:solidFill>
                        <a:srgbClr val="D6DCE2"/>
                      </a:solidFill>
                    </a:lnL>
                    <a:lnR w="6350">
                      <a:solidFill>
                        <a:srgbClr val="D6DCE2"/>
                      </a:solidFill>
                    </a:lnR>
                    <a:lnT w="6350">
                      <a:solidFill>
                        <a:srgbClr val="D6DCE2"/>
                      </a:solidFill>
                    </a:lnT>
                    <a:lnB w="6350">
                      <a:solidFill>
                        <a:srgbClr val="D6DCE2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  <a:lnSpc>
                          <a:spcPct val="100000"/>
                        </a:lnSpc>
                      </a:pPr>
                      <a:r>
                        <a:rPr sz="1200" b="1">
                          <a:solidFill>
                            <a:srgbClr val="FFFFFF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MoE</a:t>
                      </a:r>
                    </a:p>
                  </a:txBody>
                  <a:tcPr marL="54864" marR="54864" marT="27432" marB="18288" anchor="ctr">
                    <a:solidFill>
                      <a:srgbClr val="0E2A47"/>
                    </a:solidFill>
                    <a:lnL w="6350">
                      <a:solidFill>
                        <a:srgbClr val="D6DCE2"/>
                      </a:solidFill>
                    </a:lnL>
                    <a:lnR w="6350">
                      <a:solidFill>
                        <a:srgbClr val="D6DCE2"/>
                      </a:solidFill>
                    </a:lnR>
                    <a:lnT w="6350">
                      <a:solidFill>
                        <a:srgbClr val="D6DCE2"/>
                      </a:solidFill>
                    </a:lnT>
                    <a:lnB w="6350">
                      <a:solidFill>
                        <a:srgbClr val="D6DCE2"/>
                      </a:solidFill>
                    </a:lnB>
                  </a:tcPr>
                </a:tc>
              </a:tr>
              <a:tr h="457200">
                <a:tc>
                  <a:txBody>
                    <a:bodyPr wrap="square"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  <a:lnSpc>
                          <a:spcPct val="100000"/>
                        </a:lnSpc>
                      </a:pPr>
                      <a:r>
                        <a:rPr sz="1200" b="1">
                          <a:solidFill>
                            <a:srgbClr val="0E2A47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并行</a:t>
                      </a:r>
                    </a:p>
                  </a:txBody>
                  <a:tcPr marL="54864" marR="54864" marT="27432" marB="18288" anchor="ctr">
                    <a:solidFill>
                      <a:srgbClr val="F4F7FA"/>
                    </a:solidFill>
                    <a:lnL w="6350">
                      <a:solidFill>
                        <a:srgbClr val="D6DCE2"/>
                      </a:solidFill>
                    </a:lnL>
                    <a:lnR w="6350">
                      <a:solidFill>
                        <a:srgbClr val="D6DCE2"/>
                      </a:solidFill>
                    </a:lnR>
                    <a:lnT w="6350">
                      <a:solidFill>
                        <a:srgbClr val="D6DCE2"/>
                      </a:solidFill>
                    </a:lnT>
                    <a:lnB w="6350">
                      <a:solidFill>
                        <a:srgbClr val="D6DCE2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  <a:lnSpc>
                          <a:spcPct val="100000"/>
                        </a:lnSpc>
                      </a:pPr>
                      <a:r>
                        <a:rPr sz="1200" b="0">
                          <a:solidFill>
                            <a:srgbClr val="1C242E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机内 TP=8</a:t>
                      </a:r>
                    </a:p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  <a:lnSpc>
                          <a:spcPct val="100000"/>
                        </a:lnSpc>
                      </a:pPr>
                      <a:r>
                        <a:rPr sz="1200" b="0">
                          <a:solidFill>
                            <a:srgbClr val="1C242E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16 台机器做 DP=16</a:t>
                      </a:r>
                    </a:p>
                  </a:txBody>
                  <a:tcPr marL="54864" marR="54864" marT="27432" marB="18288" anchor="ctr">
                    <a:solidFill>
                      <a:srgbClr val="FFFFFF"/>
                    </a:solidFill>
                    <a:lnL w="6350">
                      <a:solidFill>
                        <a:srgbClr val="D6DCE2"/>
                      </a:solidFill>
                    </a:lnL>
                    <a:lnR w="6350">
                      <a:solidFill>
                        <a:srgbClr val="D6DCE2"/>
                      </a:solidFill>
                    </a:lnR>
                    <a:lnT w="6350">
                      <a:solidFill>
                        <a:srgbClr val="D6DCE2"/>
                      </a:solidFill>
                    </a:lnT>
                    <a:lnB w="6350">
                      <a:solidFill>
                        <a:srgbClr val="D6DCE2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  <a:lnSpc>
                          <a:spcPct val="100000"/>
                        </a:lnSpc>
                      </a:pPr>
                      <a:r>
                        <a:rPr sz="1200" b="0">
                          <a:solidFill>
                            <a:srgbClr val="1C242E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超节点 EP=128</a:t>
                      </a:r>
                    </a:p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  <a:lnSpc>
                          <a:spcPct val="100000"/>
                        </a:lnSpc>
                      </a:pPr>
                      <a:r>
                        <a:rPr sz="1200" b="0">
                          <a:solidFill>
                            <a:srgbClr val="1C242E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一份模型铺满 128 卡</a:t>
                      </a:r>
                    </a:p>
                  </a:txBody>
                  <a:tcPr marL="54864" marR="54864" marT="27432" marB="18288" anchor="ctr">
                    <a:solidFill>
                      <a:srgbClr val="FFFFFF"/>
                    </a:solidFill>
                    <a:lnL w="6350">
                      <a:solidFill>
                        <a:srgbClr val="D6DCE2"/>
                      </a:solidFill>
                    </a:lnL>
                    <a:lnR w="6350">
                      <a:solidFill>
                        <a:srgbClr val="D6DCE2"/>
                      </a:solidFill>
                    </a:lnR>
                    <a:lnT w="6350">
                      <a:solidFill>
                        <a:srgbClr val="D6DCE2"/>
                      </a:solidFill>
                    </a:lnT>
                    <a:lnB w="6350">
                      <a:solidFill>
                        <a:srgbClr val="D6DCE2"/>
                      </a:solidFill>
                    </a:lnB>
                  </a:tcPr>
                </a:tc>
              </a:tr>
              <a:tr h="512064">
                <a:tc>
                  <a:txBody>
                    <a:bodyPr wrap="square"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  <a:lnSpc>
                          <a:spcPct val="100000"/>
                        </a:lnSpc>
                      </a:pPr>
                      <a:r>
                        <a:rPr sz="1200" b="1">
                          <a:solidFill>
                            <a:srgbClr val="0E2A47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通信域</a:t>
                      </a:r>
                    </a:p>
                  </a:txBody>
                  <a:tcPr marL="54864" marR="54864" marT="27432" marB="18288" anchor="ctr">
                    <a:solidFill>
                      <a:srgbClr val="F4F7FA"/>
                    </a:solidFill>
                    <a:lnL w="6350">
                      <a:solidFill>
                        <a:srgbClr val="D6DCE2"/>
                      </a:solidFill>
                    </a:lnL>
                    <a:lnR w="6350">
                      <a:solidFill>
                        <a:srgbClr val="D6DCE2"/>
                      </a:solidFill>
                    </a:lnR>
                    <a:lnT w="6350">
                      <a:solidFill>
                        <a:srgbClr val="D6DCE2"/>
                      </a:solidFill>
                    </a:lnT>
                    <a:lnB w="6350">
                      <a:solidFill>
                        <a:srgbClr val="D6DCE2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  <a:lnSpc>
                          <a:spcPct val="100000"/>
                        </a:lnSpc>
                      </a:pPr>
                      <a:r>
                        <a:rPr sz="1200" b="0">
                          <a:solidFill>
                            <a:srgbClr val="1C242E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8 卡 fullmesh</a:t>
                      </a:r>
                    </a:p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  <a:lnSpc>
                          <a:spcPct val="100000"/>
                        </a:lnSpc>
                      </a:pPr>
                      <a:r>
                        <a:rPr sz="1200" b="0">
                          <a:solidFill>
                            <a:srgbClr val="1C242E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有效 40 GB/s</a:t>
                      </a:r>
                    </a:p>
                  </a:txBody>
                  <a:tcPr marL="54864" marR="54864" marT="27432" marB="18288" anchor="ctr">
                    <a:solidFill>
                      <a:srgbClr val="FFFFFF"/>
                    </a:solidFill>
                    <a:lnL w="6350">
                      <a:solidFill>
                        <a:srgbClr val="D6DCE2"/>
                      </a:solidFill>
                    </a:lnL>
                    <a:lnR w="6350">
                      <a:solidFill>
                        <a:srgbClr val="D6DCE2"/>
                      </a:solidFill>
                    </a:lnR>
                    <a:lnT w="6350">
                      <a:solidFill>
                        <a:srgbClr val="D6DCE2"/>
                      </a:solidFill>
                    </a:lnT>
                    <a:lnB w="6350">
                      <a:solidFill>
                        <a:srgbClr val="D6DCE2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  <a:lnSpc>
                          <a:spcPct val="100000"/>
                        </a:lnSpc>
                      </a:pPr>
                      <a:r>
                        <a:rPr sz="1200" b="0">
                          <a:solidFill>
                            <a:srgbClr val="1C242E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128 卡 D2D，有效 320 GB/s</a:t>
                      </a:r>
                    </a:p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  <a:lnSpc>
                          <a:spcPct val="100000"/>
                        </a:lnSpc>
                      </a:pPr>
                      <a:r>
                        <a:rPr sz="1200" b="0">
                          <a:solidFill>
                            <a:srgbClr val="1C242E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KV 走参数面，有效 40 GB/s</a:t>
                      </a:r>
                    </a:p>
                  </a:txBody>
                  <a:tcPr marL="54864" marR="54864" marT="27432" marB="18288" anchor="ctr">
                    <a:solidFill>
                      <a:srgbClr val="FFFFFF"/>
                    </a:solidFill>
                    <a:lnL w="6350">
                      <a:solidFill>
                        <a:srgbClr val="D6DCE2"/>
                      </a:solidFill>
                    </a:lnL>
                    <a:lnR w="6350">
                      <a:solidFill>
                        <a:srgbClr val="D6DCE2"/>
                      </a:solidFill>
                    </a:lnR>
                    <a:lnT w="6350">
                      <a:solidFill>
                        <a:srgbClr val="D6DCE2"/>
                      </a:solidFill>
                    </a:lnT>
                    <a:lnB w="6350">
                      <a:solidFill>
                        <a:srgbClr val="D6DCE2"/>
                      </a:solidFill>
                    </a:lnB>
                  </a:tcPr>
                </a:tc>
              </a:tr>
              <a:tr h="475488">
                <a:tc>
                  <a:txBody>
                    <a:bodyPr wrap="square"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  <a:lnSpc>
                          <a:spcPct val="100000"/>
                        </a:lnSpc>
                      </a:pPr>
                      <a:r>
                        <a:rPr sz="1200" b="1">
                          <a:solidFill>
                            <a:srgbClr val="0E2A47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每卡权重</a:t>
                      </a:r>
                    </a:p>
                  </a:txBody>
                  <a:tcPr marL="54864" marR="54864" marT="27432" marB="18288" anchor="ctr">
                    <a:solidFill>
                      <a:srgbClr val="F4F7FA"/>
                    </a:solidFill>
                    <a:lnL w="6350">
                      <a:solidFill>
                        <a:srgbClr val="D6DCE2"/>
                      </a:solidFill>
                    </a:lnL>
                    <a:lnR w="6350">
                      <a:solidFill>
                        <a:srgbClr val="D6DCE2"/>
                      </a:solidFill>
                    </a:lnR>
                    <a:lnT w="6350">
                      <a:solidFill>
                        <a:srgbClr val="D6DCE2"/>
                      </a:solidFill>
                    </a:lnT>
                    <a:lnB w="6350">
                      <a:solidFill>
                        <a:srgbClr val="D6DCE2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  <a:lnSpc>
                          <a:spcPct val="100000"/>
                        </a:lnSpc>
                      </a:pPr>
                      <a:r>
                        <a:rPr sz="1200" b="0">
                          <a:solidFill>
                            <a:srgbClr val="1C242E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注意力 19.35 GB / 8</a:t>
                      </a:r>
                    </a:p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  <a:lnSpc>
                          <a:spcPct val="100000"/>
                        </a:lnSpc>
                      </a:pPr>
                      <a:r>
                        <a:rPr sz="1200" b="0">
                          <a:solidFill>
                            <a:srgbClr val="1C242E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= 2.42 GB FP8</a:t>
                      </a:r>
                    </a:p>
                  </a:txBody>
                  <a:tcPr marL="54864" marR="54864" marT="27432" marB="18288" anchor="ctr">
                    <a:solidFill>
                      <a:srgbClr val="FFFFFF"/>
                    </a:solidFill>
                    <a:lnL w="6350">
                      <a:solidFill>
                        <a:srgbClr val="D6DCE2"/>
                      </a:solidFill>
                    </a:lnL>
                    <a:lnR w="6350">
                      <a:solidFill>
                        <a:srgbClr val="D6DCE2"/>
                      </a:solidFill>
                    </a:lnR>
                    <a:lnT w="6350">
                      <a:solidFill>
                        <a:srgbClr val="D6DCE2"/>
                      </a:solidFill>
                    </a:lnT>
                    <a:lnB w="6350">
                      <a:solidFill>
                        <a:srgbClr val="D6DCE2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  <a:lnSpc>
                          <a:spcPct val="100000"/>
                        </a:lnSpc>
                      </a:pPr>
                      <a:r>
                        <a:rPr sz="1200" b="0">
                          <a:solidFill>
                            <a:srgbClr val="1C242E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路由专家 19.3 个，38.9 GB FP4</a:t>
                      </a:r>
                    </a:p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  <a:lnSpc>
                          <a:spcPct val="100000"/>
                        </a:lnSpc>
                      </a:pPr>
                      <a:r>
                        <a:rPr sz="1200" b="0">
                          <a:solidFill>
                            <a:srgbClr val="1C242E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共享专家 4.03 GB，每卡一份</a:t>
                      </a:r>
                    </a:p>
                  </a:txBody>
                  <a:tcPr marL="54864" marR="54864" marT="27432" marB="18288" anchor="ctr">
                    <a:solidFill>
                      <a:srgbClr val="FFFFFF"/>
                    </a:solidFill>
                    <a:lnL w="6350">
                      <a:solidFill>
                        <a:srgbClr val="D6DCE2"/>
                      </a:solidFill>
                    </a:lnL>
                    <a:lnR w="6350">
                      <a:solidFill>
                        <a:srgbClr val="D6DCE2"/>
                      </a:solidFill>
                    </a:lnR>
                    <a:lnT w="6350">
                      <a:solidFill>
                        <a:srgbClr val="D6DCE2"/>
                      </a:solidFill>
                    </a:lnT>
                    <a:lnB w="6350">
                      <a:solidFill>
                        <a:srgbClr val="D6DCE2"/>
                      </a:solidFill>
                    </a:lnB>
                  </a:tcPr>
                </a:tc>
              </a:tr>
              <a:tr h="457200">
                <a:tc>
                  <a:txBody>
                    <a:bodyPr wrap="square"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  <a:lnSpc>
                          <a:spcPct val="100000"/>
                        </a:lnSpc>
                      </a:pPr>
                      <a:r>
                        <a:rPr sz="1200" b="1">
                          <a:solidFill>
                            <a:srgbClr val="0E2A47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本阶段角色</a:t>
                      </a:r>
                    </a:p>
                  </a:txBody>
                  <a:tcPr marL="54864" marR="54864" marT="27432" marB="18288" anchor="ctr">
                    <a:solidFill>
                      <a:srgbClr val="F4F7FA"/>
                    </a:solidFill>
                    <a:lnL w="6350">
                      <a:solidFill>
                        <a:srgbClr val="D6DCE2"/>
                      </a:solidFill>
                    </a:lnL>
                    <a:lnR w="6350">
                      <a:solidFill>
                        <a:srgbClr val="D6DCE2"/>
                      </a:solidFill>
                    </a:lnR>
                    <a:lnT w="6350">
                      <a:solidFill>
                        <a:srgbClr val="D6DCE2"/>
                      </a:solidFill>
                    </a:lnT>
                    <a:lnB w="6350">
                      <a:solidFill>
                        <a:srgbClr val="D6DCE2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  <a:lnSpc>
                          <a:spcPct val="100000"/>
                        </a:lnSpc>
                      </a:pPr>
                      <a:r>
                        <a:rPr sz="1200" b="0">
                          <a:solidFill>
                            <a:srgbClr val="1C242E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Attention 取计算、HBM、AR 的瓶颈</a:t>
                      </a:r>
                    </a:p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  <a:lnSpc>
                          <a:spcPct val="100000"/>
                        </a:lnSpc>
                      </a:pPr>
                      <a:r>
                        <a:rPr sz="1200" b="0">
                          <a:solidFill>
                            <a:srgbClr val="1C242E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这一点由 AR 限制</a:t>
                      </a:r>
                    </a:p>
                  </a:txBody>
                  <a:tcPr marL="54864" marR="54864" marT="27432" marB="18288" anchor="ctr">
                    <a:solidFill>
                      <a:srgbClr val="FFFFFF"/>
                    </a:solidFill>
                    <a:lnL w="6350">
                      <a:solidFill>
                        <a:srgbClr val="D6DCE2"/>
                      </a:solidFill>
                    </a:lnL>
                    <a:lnR w="6350">
                      <a:solidFill>
                        <a:srgbClr val="D6DCE2"/>
                      </a:solidFill>
                    </a:lnR>
                    <a:lnT w="6350">
                      <a:solidFill>
                        <a:srgbClr val="D6DCE2"/>
                      </a:solidFill>
                    </a:lnT>
                    <a:lnB w="6350">
                      <a:solidFill>
                        <a:srgbClr val="D6DCE2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  <a:lnSpc>
                          <a:spcPct val="100000"/>
                        </a:lnSpc>
                      </a:pPr>
                      <a:r>
                        <a:rPr sz="1200" b="0">
                          <a:solidFill>
                            <a:srgbClr val="1C242E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dispatch + 融合专家 kernel + combine</a:t>
                      </a:r>
                    </a:p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  <a:lnSpc>
                          <a:spcPct val="100000"/>
                        </a:lnSpc>
                      </a:pPr>
                      <a:r>
                        <a:rPr sz="1200" b="0">
                          <a:solidFill>
                            <a:srgbClr val="1C242E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到这个长度合计 0.40 秒</a:t>
                      </a:r>
                    </a:p>
                  </a:txBody>
                  <a:tcPr marL="54864" marR="54864" marT="27432" marB="18288" anchor="ctr">
                    <a:solidFill>
                      <a:srgbClr val="FFFFFF"/>
                    </a:solidFill>
                    <a:lnL w="6350">
                      <a:solidFill>
                        <a:srgbClr val="D6DCE2"/>
                      </a:solidFill>
                    </a:lnL>
                    <a:lnR w="6350">
                      <a:solidFill>
                        <a:srgbClr val="D6DCE2"/>
                      </a:solidFill>
                    </a:lnR>
                    <a:lnT w="6350">
                      <a:solidFill>
                        <a:srgbClr val="D6DCE2"/>
                      </a:solidFill>
                    </a:lnT>
                    <a:lnB w="6350">
                      <a:solidFill>
                        <a:srgbClr val="D6DCE2"/>
                      </a:solidFill>
                    </a:lnB>
                  </a:tcPr>
                </a:tc>
              </a:tr>
            </a:tbl>
          </a:graphicData>
        </a:graphic>
      </p:graphicFrame>
      <p:sp>
        <p:nvSpPr>
          <p:cNvPr id="12" name="TextBox 11"/>
          <p:cNvSpPr txBox="1"/>
          <p:nvPr/>
        </p:nvSpPr>
        <p:spPr>
          <a:xfrm>
            <a:off x="384048" y="3895344"/>
            <a:ext cx="11430000" cy="201168"/>
          </a:xfrm>
          <a:prstGeom prst="rect">
            <a:avLst/>
          </a:prstGeom>
          <a:noFill/>
        </p:spPr>
        <p:txBody>
          <a:bodyPr wrap="square" lIns="0" rIns="0" tIns="0" bIns="0" anchor="ctr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300" b="1">
                <a:solidFill>
                  <a:srgbClr val="145A96"/>
                </a:solidFill>
                <a:latin typeface="Microsoft YaHei"/>
                <a:ea typeface="Microsoft YaHei"/>
                <a:cs typeface="Microsoft YaHei"/>
              </a:rPr>
              <a:t>10 秒怎么落到这个输入长度</a:t>
            </a:r>
          </a:p>
        </p:txBody>
      </p:sp>
      <p:graphicFrame>
        <p:nvGraphicFramePr>
          <p:cNvPr id="13" name="Table 12"/>
          <p:cNvGraphicFramePr>
            <a:graphicFrameLocks noGrp="1"/>
          </p:cNvGraphicFramePr>
          <p:nvPr/>
        </p:nvGraphicFramePr>
        <p:xfrm>
          <a:off x="384048" y="4206240"/>
          <a:ext cx="11430000" cy="1938528"/>
        </p:xfrm>
        <a:graphic>
          <a:graphicData uri="http://schemas.openxmlformats.org/drawingml/2006/table">
            <a:tbl>
              <a:tblPr firstRow="1"/>
              <a:tblGrid>
                <a:gridCol w="1554480"/>
                <a:gridCol w="6903720"/>
                <a:gridCol w="2971800"/>
              </a:tblGrid>
              <a:tr h="237744">
                <a:tc>
                  <a:txBody>
                    <a:bodyPr wrap="square"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  <a:lnSpc>
                          <a:spcPct val="100000"/>
                        </a:lnSpc>
                      </a:pPr>
                      <a:r>
                        <a:rPr sz="1200" b="1">
                          <a:solidFill>
                            <a:srgbClr val="FFFFFF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这一笔</a:t>
                      </a:r>
                    </a:p>
                  </a:txBody>
                  <a:tcPr marL="54864" marR="54864" marT="27432" marB="18288" anchor="ctr">
                    <a:solidFill>
                      <a:srgbClr val="0E2A47"/>
                    </a:solidFill>
                    <a:lnL w="6350">
                      <a:solidFill>
                        <a:srgbClr val="D6DCE2"/>
                      </a:solidFill>
                    </a:lnL>
                    <a:lnR w="6350">
                      <a:solidFill>
                        <a:srgbClr val="D6DCE2"/>
                      </a:solidFill>
                    </a:lnR>
                    <a:lnT w="6350">
                      <a:solidFill>
                        <a:srgbClr val="D6DCE2"/>
                      </a:solidFill>
                    </a:lnT>
                    <a:lnB w="6350">
                      <a:solidFill>
                        <a:srgbClr val="D6DCE2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  <a:lnSpc>
                          <a:spcPct val="100000"/>
                        </a:lnSpc>
                      </a:pPr>
                      <a:r>
                        <a:rPr sz="1200" b="1">
                          <a:solidFill>
                            <a:srgbClr val="FFFFFF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算法</a:t>
                      </a:r>
                    </a:p>
                  </a:txBody>
                  <a:tcPr marL="54864" marR="54864" marT="27432" marB="18288" anchor="ctr">
                    <a:solidFill>
                      <a:srgbClr val="0E2A47"/>
                    </a:solidFill>
                    <a:lnL w="6350">
                      <a:solidFill>
                        <a:srgbClr val="D6DCE2"/>
                      </a:solidFill>
                    </a:lnL>
                    <a:lnR w="6350">
                      <a:solidFill>
                        <a:srgbClr val="D6DCE2"/>
                      </a:solidFill>
                    </a:lnR>
                    <a:lnT w="6350">
                      <a:solidFill>
                        <a:srgbClr val="D6DCE2"/>
                      </a:solidFill>
                    </a:lnT>
                    <a:lnB w="6350">
                      <a:solidFill>
                        <a:srgbClr val="D6DCE2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  <a:lnSpc>
                          <a:spcPct val="100000"/>
                        </a:lnSpc>
                      </a:pPr>
                      <a:r>
                        <a:rPr sz="1200" b="1">
                          <a:solidFill>
                            <a:srgbClr val="FFFFFF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S = 0.25×10^6 时</a:t>
                      </a:r>
                    </a:p>
                  </a:txBody>
                  <a:tcPr marL="54864" marR="54864" marT="27432" marB="18288" anchor="ctr">
                    <a:solidFill>
                      <a:srgbClr val="0E2A47"/>
                    </a:solidFill>
                    <a:lnL w="6350">
                      <a:solidFill>
                        <a:srgbClr val="D6DCE2"/>
                      </a:solidFill>
                    </a:lnL>
                    <a:lnR w="6350">
                      <a:solidFill>
                        <a:srgbClr val="D6DCE2"/>
                      </a:solidFill>
                    </a:lnR>
                    <a:lnT w="6350">
                      <a:solidFill>
                        <a:srgbClr val="D6DCE2"/>
                      </a:solidFill>
                    </a:lnT>
                    <a:lnB w="6350">
                      <a:solidFill>
                        <a:srgbClr val="D6DCE2"/>
                      </a:solidFill>
                    </a:lnB>
                  </a:tcPr>
                </a:tc>
              </a:tr>
              <a:tr h="237744">
                <a:tc>
                  <a:txBody>
                    <a:bodyPr wrap="square"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  <a:lnSpc>
                          <a:spcPct val="100000"/>
                        </a:lnSpc>
                      </a:pPr>
                      <a:r>
                        <a:rPr sz="1200" b="1">
                          <a:solidFill>
                            <a:srgbClr val="0E2A47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CSA indexer</a:t>
                      </a:r>
                    </a:p>
                  </a:txBody>
                  <a:tcPr marL="54864" marR="54864" marT="27432" marB="18288" anchor="ctr">
                    <a:solidFill>
                      <a:srgbClr val="F4F7FA"/>
                    </a:solidFill>
                    <a:lnL w="6350">
                      <a:solidFill>
                        <a:srgbClr val="D6DCE2"/>
                      </a:solidFill>
                    </a:lnL>
                    <a:lnR w="6350">
                      <a:solidFill>
                        <a:srgbClr val="D6DCE2"/>
                      </a:solidFill>
                    </a:lnR>
                    <a:lnT w="6350">
                      <a:solidFill>
                        <a:srgbClr val="D6DCE2"/>
                      </a:solidFill>
                    </a:lnT>
                    <a:lnB w="6350">
                      <a:solidFill>
                        <a:srgbClr val="D6DCE2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  <a:lnSpc>
                          <a:spcPct val="100000"/>
                        </a:lnSpc>
                      </a:pPr>
                      <a:r>
                        <a:rPr sz="1200" b="0">
                          <a:solidFill>
                            <a:srgbClr val="1C242E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30 层 × 2048 × S²；TP=8，按 16 行砖</a:t>
                      </a:r>
                    </a:p>
                  </a:txBody>
                  <a:tcPr marL="54864" marR="54864" marT="27432" marB="18288" anchor="ctr">
                    <a:solidFill>
                      <a:srgbClr val="FFFFFF"/>
                    </a:solidFill>
                    <a:lnL w="6350">
                      <a:solidFill>
                        <a:srgbClr val="D6DCE2"/>
                      </a:solidFill>
                    </a:lnL>
                    <a:lnR w="6350">
                      <a:solidFill>
                        <a:srgbClr val="D6DCE2"/>
                      </a:solidFill>
                    </a:lnR>
                    <a:lnT w="6350">
                      <a:solidFill>
                        <a:srgbClr val="D6DCE2"/>
                      </a:solidFill>
                    </a:lnT>
                    <a:lnB w="6350">
                      <a:solidFill>
                        <a:srgbClr val="D6DCE2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  <a:lnSpc>
                          <a:spcPct val="100000"/>
                        </a:lnSpc>
                      </a:pPr>
                      <a:r>
                        <a:rPr sz="1200" b="0">
                          <a:solidFill>
                            <a:srgbClr val="1C242E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1.42 秒</a:t>
                      </a:r>
                    </a:p>
                  </a:txBody>
                  <a:tcPr marL="54864" marR="54864" marT="27432" marB="18288" anchor="ctr">
                    <a:solidFill>
                      <a:srgbClr val="FFFFFF"/>
                    </a:solidFill>
                    <a:lnL w="6350">
                      <a:solidFill>
                        <a:srgbClr val="D6DCE2"/>
                      </a:solidFill>
                    </a:lnL>
                    <a:lnR w="6350">
                      <a:solidFill>
                        <a:srgbClr val="D6DCE2"/>
                      </a:solidFill>
                    </a:lnR>
                    <a:lnT w="6350">
                      <a:solidFill>
                        <a:srgbClr val="D6DCE2"/>
                      </a:solidFill>
                    </a:lnT>
                    <a:lnB w="6350">
                      <a:solidFill>
                        <a:srgbClr val="D6DCE2"/>
                      </a:solidFill>
                    </a:lnB>
                  </a:tcPr>
                </a:tc>
              </a:tr>
              <a:tr h="237744">
                <a:tc>
                  <a:txBody>
                    <a:bodyPr wrap="square"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  <a:lnSpc>
                          <a:spcPct val="100000"/>
                        </a:lnSpc>
                      </a:pPr>
                      <a:r>
                        <a:rPr sz="1200" b="1">
                          <a:solidFill>
                            <a:srgbClr val="0E2A47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HCA</a:t>
                      </a:r>
                    </a:p>
                  </a:txBody>
                  <a:tcPr marL="54864" marR="54864" marT="27432" marB="18288" anchor="ctr">
                    <a:solidFill>
                      <a:srgbClr val="F4F7FA"/>
                    </a:solidFill>
                    <a:lnL w="6350">
                      <a:solidFill>
                        <a:srgbClr val="D6DCE2"/>
                      </a:solidFill>
                    </a:lnL>
                    <a:lnR w="6350">
                      <a:solidFill>
                        <a:srgbClr val="D6DCE2"/>
                      </a:solidFill>
                    </a:lnR>
                    <a:lnT w="6350">
                      <a:solidFill>
                        <a:srgbClr val="D6DCE2"/>
                      </a:solidFill>
                    </a:lnT>
                    <a:lnB w="6350">
                      <a:solidFill>
                        <a:srgbClr val="D6DCE2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  <a:lnSpc>
                          <a:spcPct val="100000"/>
                        </a:lnSpc>
                      </a:pPr>
                      <a:r>
                        <a:rPr sz="1200" b="0">
                          <a:solidFill>
                            <a:srgbClr val="1C242E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31 层 × 1024 × S²；同一个融合 kernel</a:t>
                      </a:r>
                    </a:p>
                  </a:txBody>
                  <a:tcPr marL="54864" marR="54864" marT="27432" marB="18288" anchor="ctr">
                    <a:solidFill>
                      <a:srgbClr val="FFFFFF"/>
                    </a:solidFill>
                    <a:lnL w="6350">
                      <a:solidFill>
                        <a:srgbClr val="D6DCE2"/>
                      </a:solidFill>
                    </a:lnL>
                    <a:lnR w="6350">
                      <a:solidFill>
                        <a:srgbClr val="D6DCE2"/>
                      </a:solidFill>
                    </a:lnR>
                    <a:lnT w="6350">
                      <a:solidFill>
                        <a:srgbClr val="D6DCE2"/>
                      </a:solidFill>
                    </a:lnT>
                    <a:lnB w="6350">
                      <a:solidFill>
                        <a:srgbClr val="D6DCE2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  <a:lnSpc>
                          <a:spcPct val="100000"/>
                        </a:lnSpc>
                      </a:pPr>
                      <a:r>
                        <a:rPr sz="1200" b="0">
                          <a:solidFill>
                            <a:srgbClr val="1C242E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0.73 秒</a:t>
                      </a:r>
                    </a:p>
                  </a:txBody>
                  <a:tcPr marL="54864" marR="54864" marT="27432" marB="18288" anchor="ctr">
                    <a:solidFill>
                      <a:srgbClr val="FFFFFF"/>
                    </a:solidFill>
                    <a:lnL w="6350">
                      <a:solidFill>
                        <a:srgbClr val="D6DCE2"/>
                      </a:solidFill>
                    </a:lnL>
                    <a:lnR w="6350">
                      <a:solidFill>
                        <a:srgbClr val="D6DCE2"/>
                      </a:solidFill>
                    </a:lnR>
                    <a:lnT w="6350">
                      <a:solidFill>
                        <a:srgbClr val="D6DCE2"/>
                      </a:solidFill>
                    </a:lnT>
                    <a:lnB w="6350">
                      <a:solidFill>
                        <a:srgbClr val="D6DCE2"/>
                      </a:solidFill>
                    </a:lnB>
                  </a:tcPr>
                </a:tc>
              </a:tr>
              <a:tr h="237744">
                <a:tc>
                  <a:txBody>
                    <a:bodyPr wrap="square"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  <a:lnSpc>
                          <a:spcPct val="100000"/>
                        </a:lnSpc>
                      </a:pPr>
                      <a:r>
                        <a:rPr sz="1200" b="1">
                          <a:solidFill>
                            <a:srgbClr val="0E2A47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MoE</a:t>
                      </a:r>
                    </a:p>
                  </a:txBody>
                  <a:tcPr marL="54864" marR="54864" marT="27432" marB="18288" anchor="ctr">
                    <a:solidFill>
                      <a:srgbClr val="F4F7FA"/>
                    </a:solidFill>
                    <a:lnL w="6350">
                      <a:solidFill>
                        <a:srgbClr val="D6DCE2"/>
                      </a:solidFill>
                    </a:lnL>
                    <a:lnR w="6350">
                      <a:solidFill>
                        <a:srgbClr val="D6DCE2"/>
                      </a:solidFill>
                    </a:lnR>
                    <a:lnT w="6350">
                      <a:solidFill>
                        <a:srgbClr val="D6DCE2"/>
                      </a:solidFill>
                    </a:lnT>
                    <a:lnB w="6350">
                      <a:solidFill>
                        <a:srgbClr val="D6DCE2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  <a:lnSpc>
                          <a:spcPct val="100000"/>
                        </a:lnSpc>
                      </a:pPr>
                      <a:r>
                        <a:rPr sz="1200" b="0">
                          <a:solidFill>
                            <a:srgbClr val="1C242E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dispatch + max(专家权重, GEMM) + combine</a:t>
                      </a:r>
                    </a:p>
                  </a:txBody>
                  <a:tcPr marL="54864" marR="54864" marT="27432" marB="18288" anchor="ctr">
                    <a:solidFill>
                      <a:srgbClr val="FFFFFF"/>
                    </a:solidFill>
                    <a:lnL w="6350">
                      <a:solidFill>
                        <a:srgbClr val="D6DCE2"/>
                      </a:solidFill>
                    </a:lnL>
                    <a:lnR w="6350">
                      <a:solidFill>
                        <a:srgbClr val="D6DCE2"/>
                      </a:solidFill>
                    </a:lnR>
                    <a:lnT w="6350">
                      <a:solidFill>
                        <a:srgbClr val="D6DCE2"/>
                      </a:solidFill>
                    </a:lnT>
                    <a:lnB w="6350">
                      <a:solidFill>
                        <a:srgbClr val="D6DCE2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  <a:lnSpc>
                          <a:spcPct val="100000"/>
                        </a:lnSpc>
                      </a:pPr>
                      <a:r>
                        <a:rPr sz="1200" b="0">
                          <a:solidFill>
                            <a:srgbClr val="1C242E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0.40 秒</a:t>
                      </a:r>
                    </a:p>
                  </a:txBody>
                  <a:tcPr marL="54864" marR="54864" marT="27432" marB="18288" anchor="ctr">
                    <a:solidFill>
                      <a:srgbClr val="FFFFFF"/>
                    </a:solidFill>
                    <a:lnL w="6350">
                      <a:solidFill>
                        <a:srgbClr val="D6DCE2"/>
                      </a:solidFill>
                    </a:lnL>
                    <a:lnR w="6350">
                      <a:solidFill>
                        <a:srgbClr val="D6DCE2"/>
                      </a:solidFill>
                    </a:lnR>
                    <a:lnT w="6350">
                      <a:solidFill>
                        <a:srgbClr val="D6DCE2"/>
                      </a:solidFill>
                    </a:lnT>
                    <a:lnB w="6350">
                      <a:solidFill>
                        <a:srgbClr val="D6DCE2"/>
                      </a:solidFill>
                    </a:lnB>
                  </a:tcPr>
                </a:tc>
              </a:tr>
              <a:tr h="237744">
                <a:tc>
                  <a:txBody>
                    <a:bodyPr wrap="square"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  <a:lnSpc>
                          <a:spcPct val="100000"/>
                        </a:lnSpc>
                      </a:pPr>
                      <a:r>
                        <a:rPr sz="1200" b="1">
                          <a:solidFill>
                            <a:srgbClr val="0E2A47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投影</a:t>
                      </a:r>
                    </a:p>
                  </a:txBody>
                  <a:tcPr marL="54864" marR="54864" marT="27432" marB="18288" anchor="ctr">
                    <a:solidFill>
                      <a:srgbClr val="F4F7FA"/>
                    </a:solidFill>
                    <a:lnL w="6350">
                      <a:solidFill>
                        <a:srgbClr val="D6DCE2"/>
                      </a:solidFill>
                    </a:lnL>
                    <a:lnR w="6350">
                      <a:solidFill>
                        <a:srgbClr val="D6DCE2"/>
                      </a:solidFill>
                    </a:lnR>
                    <a:lnT w="6350">
                      <a:solidFill>
                        <a:srgbClr val="D6DCE2"/>
                      </a:solidFill>
                    </a:lnT>
                    <a:lnB w="6350">
                      <a:solidFill>
                        <a:srgbClr val="D6DCE2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  <a:lnSpc>
                          <a:spcPct val="100000"/>
                        </a:lnSpc>
                      </a:pPr>
                      <a:r>
                        <a:rPr sz="1200" b="0">
                          <a:solidFill>
                            <a:srgbClr val="1C242E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每 token 3.87×10^10 FLOP；按 TP=8 分担</a:t>
                      </a:r>
                    </a:p>
                  </a:txBody>
                  <a:tcPr marL="54864" marR="54864" marT="27432" marB="18288" anchor="ctr">
                    <a:solidFill>
                      <a:srgbClr val="FFFFFF"/>
                    </a:solidFill>
                    <a:lnL w="6350">
                      <a:solidFill>
                        <a:srgbClr val="D6DCE2"/>
                      </a:solidFill>
                    </a:lnL>
                    <a:lnR w="6350">
                      <a:solidFill>
                        <a:srgbClr val="D6DCE2"/>
                      </a:solidFill>
                    </a:lnR>
                    <a:lnT w="6350">
                      <a:solidFill>
                        <a:srgbClr val="D6DCE2"/>
                      </a:solidFill>
                    </a:lnT>
                    <a:lnB w="6350">
                      <a:solidFill>
                        <a:srgbClr val="D6DCE2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  <a:lnSpc>
                          <a:spcPct val="100000"/>
                        </a:lnSpc>
                      </a:pPr>
                      <a:r>
                        <a:rPr sz="1200" b="0">
                          <a:solidFill>
                            <a:srgbClr val="1C242E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3.57 秒</a:t>
                      </a:r>
                    </a:p>
                  </a:txBody>
                  <a:tcPr marL="54864" marR="54864" marT="27432" marB="18288" anchor="ctr">
                    <a:solidFill>
                      <a:srgbClr val="FFFFFF"/>
                    </a:solidFill>
                    <a:lnL w="6350">
                      <a:solidFill>
                        <a:srgbClr val="D6DCE2"/>
                      </a:solidFill>
                    </a:lnL>
                    <a:lnR w="6350">
                      <a:solidFill>
                        <a:srgbClr val="D6DCE2"/>
                      </a:solidFill>
                    </a:lnR>
                    <a:lnT w="6350">
                      <a:solidFill>
                        <a:srgbClr val="D6DCE2"/>
                      </a:solidFill>
                    </a:lnT>
                    <a:lnB w="6350">
                      <a:solidFill>
                        <a:srgbClr val="D6DCE2"/>
                      </a:solidFill>
                    </a:lnB>
                  </a:tcPr>
                </a:tc>
              </a:tr>
              <a:tr h="237744">
                <a:tc>
                  <a:txBody>
                    <a:bodyPr wrap="square"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  <a:lnSpc>
                          <a:spcPct val="100000"/>
                        </a:lnSpc>
                      </a:pPr>
                      <a:r>
                        <a:rPr sz="1200" b="1">
                          <a:solidFill>
                            <a:srgbClr val="0E2A47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稀疏注意力</a:t>
                      </a:r>
                    </a:p>
                  </a:txBody>
                  <a:tcPr marL="54864" marR="54864" marT="27432" marB="18288" anchor="ctr">
                    <a:solidFill>
                      <a:srgbClr val="F4F7FA"/>
                    </a:solidFill>
                    <a:lnL w="6350">
                      <a:solidFill>
                        <a:srgbClr val="D6DCE2"/>
                      </a:solidFill>
                    </a:lnL>
                    <a:lnR w="6350">
                      <a:solidFill>
                        <a:srgbClr val="D6DCE2"/>
                      </a:solidFill>
                    </a:lnR>
                    <a:lnT w="6350">
                      <a:solidFill>
                        <a:srgbClr val="D6DCE2"/>
                      </a:solidFill>
                    </a:lnT>
                    <a:lnB w="6350">
                      <a:solidFill>
                        <a:srgbClr val="D6DCE2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  <a:lnSpc>
                          <a:spcPct val="100000"/>
                        </a:lnSpc>
                      </a:pPr>
                      <a:r>
                        <a:rPr sz="1200" b="0">
                          <a:solidFill>
                            <a:srgbClr val="1C242E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每 token 看 1024 条压缩 KV + 128 滑窗</a:t>
                      </a:r>
                    </a:p>
                  </a:txBody>
                  <a:tcPr marL="54864" marR="54864" marT="27432" marB="18288" anchor="ctr">
                    <a:solidFill>
                      <a:srgbClr val="FFFFFF"/>
                    </a:solidFill>
                    <a:lnL w="6350">
                      <a:solidFill>
                        <a:srgbClr val="D6DCE2"/>
                      </a:solidFill>
                    </a:lnL>
                    <a:lnR w="6350">
                      <a:solidFill>
                        <a:srgbClr val="D6DCE2"/>
                      </a:solidFill>
                    </a:lnR>
                    <a:lnT w="6350">
                      <a:solidFill>
                        <a:srgbClr val="D6DCE2"/>
                      </a:solidFill>
                    </a:lnT>
                    <a:lnB w="6350">
                      <a:solidFill>
                        <a:srgbClr val="D6DCE2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  <a:lnSpc>
                          <a:spcPct val="100000"/>
                        </a:lnSpc>
                      </a:pPr>
                      <a:r>
                        <a:rPr sz="1200" b="0">
                          <a:solidFill>
                            <a:srgbClr val="1C242E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0.84 秒</a:t>
                      </a:r>
                    </a:p>
                  </a:txBody>
                  <a:tcPr marL="54864" marR="54864" marT="27432" marB="18288" anchor="ctr">
                    <a:solidFill>
                      <a:srgbClr val="FFFFFF"/>
                    </a:solidFill>
                    <a:lnL w="6350">
                      <a:solidFill>
                        <a:srgbClr val="D6DCE2"/>
                      </a:solidFill>
                    </a:lnL>
                    <a:lnR w="6350">
                      <a:solidFill>
                        <a:srgbClr val="D6DCE2"/>
                      </a:solidFill>
                    </a:lnR>
                    <a:lnT w="6350">
                      <a:solidFill>
                        <a:srgbClr val="D6DCE2"/>
                      </a:solidFill>
                    </a:lnT>
                    <a:lnB w="6350">
                      <a:solidFill>
                        <a:srgbClr val="D6DCE2"/>
                      </a:solidFill>
                    </a:lnB>
                  </a:tcPr>
                </a:tc>
              </a:tr>
              <a:tr h="256032">
                <a:tc>
                  <a:txBody>
                    <a:bodyPr wrap="square"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  <a:lnSpc>
                          <a:spcPct val="100000"/>
                        </a:lnSpc>
                      </a:pPr>
                      <a:r>
                        <a:rPr sz="1200" b="1">
                          <a:solidFill>
                            <a:srgbClr val="0E2A47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AR + P→D</a:t>
                      </a:r>
                    </a:p>
                  </a:txBody>
                  <a:tcPr marL="54864" marR="54864" marT="27432" marB="18288" anchor="ctr">
                    <a:solidFill>
                      <a:srgbClr val="F4F7FA"/>
                    </a:solidFill>
                    <a:lnL w="6350">
                      <a:solidFill>
                        <a:srgbClr val="D6DCE2"/>
                      </a:solidFill>
                    </a:lnL>
                    <a:lnR w="6350">
                      <a:solidFill>
                        <a:srgbClr val="D6DCE2"/>
                      </a:solidFill>
                    </a:lnR>
                    <a:lnT w="6350">
                      <a:solidFill>
                        <a:srgbClr val="D6DCE2"/>
                      </a:solidFill>
                    </a:lnT>
                    <a:lnB w="6350">
                      <a:solidFill>
                        <a:srgbClr val="D6DCE2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  <a:lnSpc>
                          <a:spcPct val="100000"/>
                        </a:lnSpc>
                      </a:pPr>
                      <a:r>
                        <a:rPr sz="1200" b="0">
                          <a:solidFill>
                            <a:srgbClr val="1C242E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AR 在 Attention 内取瓶颈；完整 KV 按层发送</a:t>
                      </a:r>
                    </a:p>
                  </a:txBody>
                  <a:tcPr marL="54864" marR="54864" marT="27432" marB="18288" anchor="ctr">
                    <a:solidFill>
                      <a:srgbClr val="FFFFFF"/>
                    </a:solidFill>
                    <a:lnL w="6350">
                      <a:solidFill>
                        <a:srgbClr val="D6DCE2"/>
                      </a:solidFill>
                    </a:lnL>
                    <a:lnR w="6350">
                      <a:solidFill>
                        <a:srgbClr val="D6DCE2"/>
                      </a:solidFill>
                    </a:lnR>
                    <a:lnT w="6350">
                      <a:solidFill>
                        <a:srgbClr val="D6DCE2"/>
                      </a:solidFill>
                    </a:lnT>
                    <a:lnB w="6350">
                      <a:solidFill>
                        <a:srgbClr val="D6DCE2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  <a:lnSpc>
                          <a:spcPct val="100000"/>
                        </a:lnSpc>
                      </a:pPr>
                      <a:r>
                        <a:rPr sz="1200" b="0">
                          <a:solidFill>
                            <a:srgbClr val="1C242E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9.60 秒 + 3.87 毫秒</a:t>
                      </a:r>
                    </a:p>
                  </a:txBody>
                  <a:tcPr marL="54864" marR="54864" marT="27432" marB="18288" anchor="ctr">
                    <a:solidFill>
                      <a:srgbClr val="FFFFFF"/>
                    </a:solidFill>
                    <a:lnL w="6350">
                      <a:solidFill>
                        <a:srgbClr val="D6DCE2"/>
                      </a:solidFill>
                    </a:lnL>
                    <a:lnR w="6350">
                      <a:solidFill>
                        <a:srgbClr val="D6DCE2"/>
                      </a:solidFill>
                    </a:lnR>
                    <a:lnT w="6350">
                      <a:solidFill>
                        <a:srgbClr val="D6DCE2"/>
                      </a:solidFill>
                    </a:lnT>
                    <a:lnB w="6350">
                      <a:solidFill>
                        <a:srgbClr val="D6DCE2"/>
                      </a:solidFill>
                    </a:lnB>
                  </a:tcPr>
                </a:tc>
              </a:tr>
              <a:tr h="256032">
                <a:tc>
                  <a:txBody>
                    <a:bodyPr wrap="square"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  <a:lnSpc>
                          <a:spcPct val="100000"/>
                        </a:lnSpc>
                      </a:pPr>
                      <a:r>
                        <a:rPr sz="1200" b="1">
                          <a:solidFill>
                            <a:srgbClr val="0E2A47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合计</a:t>
                      </a:r>
                    </a:p>
                  </a:txBody>
                  <a:tcPr marL="54864" marR="54864" marT="27432" marB="18288" anchor="ctr">
                    <a:solidFill>
                      <a:srgbClr val="F4F7FA"/>
                    </a:solidFill>
                    <a:lnL w="6350">
                      <a:solidFill>
                        <a:srgbClr val="D6DCE2"/>
                      </a:solidFill>
                    </a:lnL>
                    <a:lnR w="6350">
                      <a:solidFill>
                        <a:srgbClr val="D6DCE2"/>
                      </a:solidFill>
                    </a:lnR>
                    <a:lnT w="6350">
                      <a:solidFill>
                        <a:srgbClr val="D6DCE2"/>
                      </a:solidFill>
                    </a:lnT>
                    <a:lnB w="6350">
                      <a:solidFill>
                        <a:srgbClr val="D6DCE2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  <a:lnSpc>
                          <a:spcPct val="100000"/>
                        </a:lnSpc>
                      </a:pPr>
                      <a:r>
                        <a:rPr sz="1200" b="1">
                          <a:solidFill>
                            <a:srgbClr val="0E2A47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Attention 9.60 秒 + MoE 0.40 秒；P→D 尾巴为 0</a:t>
                      </a:r>
                    </a:p>
                  </a:txBody>
                  <a:tcPr marL="54864" marR="54864" marT="27432" marB="18288" anchor="ctr">
                    <a:solidFill>
                      <a:srgbClr val="F4F7FA"/>
                    </a:solidFill>
                    <a:lnL w="6350">
                      <a:solidFill>
                        <a:srgbClr val="D6DCE2"/>
                      </a:solidFill>
                    </a:lnL>
                    <a:lnR w="6350">
                      <a:solidFill>
                        <a:srgbClr val="D6DCE2"/>
                      </a:solidFill>
                    </a:lnR>
                    <a:lnT w="6350">
                      <a:solidFill>
                        <a:srgbClr val="D6DCE2"/>
                      </a:solidFill>
                    </a:lnT>
                    <a:lnB w="6350">
                      <a:solidFill>
                        <a:srgbClr val="D6DCE2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  <a:lnSpc>
                          <a:spcPct val="100000"/>
                        </a:lnSpc>
                      </a:pPr>
                      <a:r>
                        <a:rPr sz="1200" b="1">
                          <a:solidFill>
                            <a:srgbClr val="0E2A47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10.0 秒</a:t>
                      </a:r>
                    </a:p>
                  </a:txBody>
                  <a:tcPr marL="54864" marR="54864" marT="27432" marB="18288" anchor="ctr">
                    <a:solidFill>
                      <a:srgbClr val="F4F7FA"/>
                    </a:solidFill>
                    <a:lnL w="6350">
                      <a:solidFill>
                        <a:srgbClr val="D6DCE2"/>
                      </a:solidFill>
                    </a:lnL>
                    <a:lnR w="6350">
                      <a:solidFill>
                        <a:srgbClr val="D6DCE2"/>
                      </a:solidFill>
                    </a:lnR>
                    <a:lnT w="6350">
                      <a:solidFill>
                        <a:srgbClr val="D6DCE2"/>
                      </a:solidFill>
                    </a:lnT>
                    <a:lnB w="6350">
                      <a:solidFill>
                        <a:srgbClr val="D6DCE2"/>
                      </a:solidFill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145A9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84048" y="146304"/>
            <a:ext cx="9692640" cy="256032"/>
          </a:xfrm>
          <a:prstGeom prst="rect">
            <a:avLst/>
          </a:prstGeom>
          <a:noFill/>
        </p:spPr>
        <p:txBody>
          <a:bodyPr wrap="square" lIns="0" rIns="0" tIns="0" bIns="0" anchor="ctr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200" b="1">
                <a:solidFill>
                  <a:srgbClr val="145A96"/>
                </a:solidFill>
                <a:latin typeface="Microsoft YaHei"/>
                <a:ea typeface="Microsoft YaHei"/>
                <a:cs typeface="Microsoft YaHei"/>
              </a:rPr>
              <a:t>Prefill    ·    TTFT ≤ 10 秒    ·    KV 命中 90%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84048" y="384048"/>
            <a:ext cx="11430000" cy="384048"/>
          </a:xfrm>
          <a:prstGeom prst="rect">
            <a:avLst/>
          </a:prstGeom>
          <a:noFill/>
        </p:spPr>
        <p:txBody>
          <a:bodyPr wrap="square" lIns="0" rIns="0" tIns="0" bIns="0" anchor="ctr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600" b="1">
                <a:solidFill>
                  <a:srgbClr val="0E2A47"/>
                </a:solidFill>
                <a:latin typeface="Microsoft YaHei"/>
                <a:ea typeface="Microsoft YaHei"/>
                <a:cs typeface="Microsoft YaHei"/>
              </a:rPr>
              <a:t>4K 的 prefill 全局批是 6176，1M 是 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424160" y="164592"/>
            <a:ext cx="1371600" cy="237744"/>
          </a:xfrm>
          <a:prstGeom prst="rect">
            <a:avLst/>
          </a:prstGeom>
          <a:noFill/>
        </p:spPr>
        <p:txBody>
          <a:bodyPr wrap="square" lIns="0" rIns="0" tIns="0" bIns="0" anchor="ctr"/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1200" b="0">
                <a:solidFill>
                  <a:srgbClr val="5A636E"/>
                </a:solidFill>
                <a:latin typeface="Microsoft YaHei"/>
                <a:ea typeface="Microsoft YaHei"/>
                <a:cs typeface="Microsoft YaHei"/>
              </a:rPr>
              <a:t>3  /  11</a:t>
            </a:r>
          </a:p>
        </p:txBody>
      </p:sp>
      <p:sp>
        <p:nvSpPr>
          <p:cNvPr id="6" name="Rectangle 5"/>
          <p:cNvSpPr/>
          <p:nvPr/>
        </p:nvSpPr>
        <p:spPr>
          <a:xfrm>
            <a:off x="384048" y="6565392"/>
            <a:ext cx="11430000" cy="9144"/>
          </a:xfrm>
          <a:prstGeom prst="rect">
            <a:avLst/>
          </a:prstGeom>
          <a:solidFill>
            <a:srgbClr val="D6DCE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384048" y="6583680"/>
            <a:ext cx="11430000" cy="219456"/>
          </a:xfrm>
          <a:prstGeom prst="rect">
            <a:avLst/>
          </a:prstGeom>
          <a:noFill/>
        </p:spPr>
        <p:txBody>
          <a:bodyPr wrap="square" lIns="0" rIns="0" tIns="0" bIns="0" anchor="ctr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5A636E"/>
                </a:solidFill>
                <a:latin typeface="Microsoft YaHei"/>
                <a:ea typeface="Microsoft YaHei"/>
                <a:cs typeface="Microsoft YaHei"/>
              </a:rPr>
              <a:t>10T 为外推    ·    96 GB / 486 T、一份 128 卡副本    ·    访存与通信 80%    ·    计算 70%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384048" y="841248"/>
            <a:ext cx="11430000" cy="420624"/>
          </a:xfrm>
          <a:prstGeom prst="roundRect">
            <a:avLst/>
          </a:prstGeom>
          <a:solidFill>
            <a:srgbClr val="E7F3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530352" y="841248"/>
            <a:ext cx="11137392" cy="420624"/>
          </a:xfrm>
          <a:prstGeom prst="rect">
            <a:avLst/>
          </a:prstGeom>
          <a:noFill/>
        </p:spPr>
        <p:txBody>
          <a:bodyPr wrap="square" lIns="0" rIns="0" tIns="0" bIns="0" anchor="ctr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400" b="1">
                <a:solidFill>
                  <a:srgbClr val="0E7A76"/>
                </a:solidFill>
                <a:latin typeface="Microsoft YaHei"/>
                <a:ea typeface="Microsoft YaHei"/>
                <a:cs typeface="Microsoft YaHei"/>
              </a:rPr>
              <a:t>90% prefix 从主机 DDR 经 H2D 拉入 HBM，只现算 10%。Attention 取拉取、融合 kernel、AR 的瓶颈，再加完整 MoE。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84048" y="1316736"/>
            <a:ext cx="11430000" cy="201168"/>
          </a:xfrm>
          <a:prstGeom prst="rect">
            <a:avLst/>
          </a:prstGeom>
          <a:noFill/>
        </p:spPr>
        <p:txBody>
          <a:bodyPr wrap="square" lIns="0" rIns="0" tIns="0" bIns="0" anchor="ctr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300" b="1">
                <a:solidFill>
                  <a:srgbClr val="145A96"/>
                </a:solidFill>
                <a:latin typeface="Microsoft YaHei"/>
                <a:ea typeface="Microsoft YaHei"/>
                <a:cs typeface="Microsoft YaHei"/>
              </a:rPr>
              <a:t>10 秒在两个端点上怎么加完</a:t>
            </a:r>
          </a:p>
        </p:txBody>
      </p:sp>
      <p:graphicFrame>
        <p:nvGraphicFramePr>
          <p:cNvPr id="11" name="Table 10"/>
          <p:cNvGraphicFramePr>
            <a:graphicFrameLocks noGrp="1"/>
          </p:cNvGraphicFramePr>
          <p:nvPr/>
        </p:nvGraphicFramePr>
        <p:xfrm>
          <a:off x="384048" y="1536192"/>
          <a:ext cx="11430000" cy="2157984"/>
        </p:xfrm>
        <a:graphic>
          <a:graphicData uri="http://schemas.openxmlformats.org/drawingml/2006/table">
            <a:tbl>
              <a:tblPr firstRow="1"/>
              <a:tblGrid>
                <a:gridCol w="1554480"/>
                <a:gridCol w="4709160"/>
                <a:gridCol w="2606040"/>
                <a:gridCol w="2560320"/>
              </a:tblGrid>
              <a:tr h="237744">
                <a:tc>
                  <a:txBody>
                    <a:bodyPr wrap="square"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  <a:lnSpc>
                          <a:spcPct val="100000"/>
                        </a:lnSpc>
                      </a:pPr>
                      <a:r>
                        <a:rPr sz="1200" b="1">
                          <a:solidFill>
                            <a:srgbClr val="FFFFFF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笔</a:t>
                      </a:r>
                    </a:p>
                  </a:txBody>
                  <a:tcPr marL="54864" marR="54864" marT="27432" marB="18288" anchor="ctr">
                    <a:solidFill>
                      <a:srgbClr val="0E2A47"/>
                    </a:solidFill>
                    <a:lnL w="6350">
                      <a:solidFill>
                        <a:srgbClr val="D6DCE2"/>
                      </a:solidFill>
                    </a:lnL>
                    <a:lnR w="6350">
                      <a:solidFill>
                        <a:srgbClr val="D6DCE2"/>
                      </a:solidFill>
                    </a:lnR>
                    <a:lnT w="6350">
                      <a:solidFill>
                        <a:srgbClr val="D6DCE2"/>
                      </a:solidFill>
                    </a:lnT>
                    <a:lnB w="6350">
                      <a:solidFill>
                        <a:srgbClr val="D6DCE2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  <a:lnSpc>
                          <a:spcPct val="100000"/>
                        </a:lnSpc>
                      </a:pPr>
                      <a:r>
                        <a:rPr sz="1200" b="1">
                          <a:solidFill>
                            <a:srgbClr val="FFFFFF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算法</a:t>
                      </a:r>
                    </a:p>
                  </a:txBody>
                  <a:tcPr marL="54864" marR="54864" marT="27432" marB="18288" anchor="ctr">
                    <a:solidFill>
                      <a:srgbClr val="0E2A47"/>
                    </a:solidFill>
                    <a:lnL w="6350">
                      <a:solidFill>
                        <a:srgbClr val="D6DCE2"/>
                      </a:solidFill>
                    </a:lnL>
                    <a:lnR w="6350">
                      <a:solidFill>
                        <a:srgbClr val="D6DCE2"/>
                      </a:solidFill>
                    </a:lnR>
                    <a:lnT w="6350">
                      <a:solidFill>
                        <a:srgbClr val="D6DCE2"/>
                      </a:solidFill>
                    </a:lnT>
                    <a:lnB w="6350">
                      <a:solidFill>
                        <a:srgbClr val="D6DCE2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  <a:lnSpc>
                          <a:spcPct val="100000"/>
                        </a:lnSpc>
                      </a:pPr>
                      <a:r>
                        <a:rPr sz="1200" b="1">
                          <a:solidFill>
                            <a:srgbClr val="FFFFFF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4K，全局批 6176</a:t>
                      </a:r>
                    </a:p>
                  </a:txBody>
                  <a:tcPr marL="54864" marR="54864" marT="27432" marB="18288" anchor="ctr">
                    <a:solidFill>
                      <a:srgbClr val="0E2A47"/>
                    </a:solidFill>
                    <a:lnL w="6350">
                      <a:solidFill>
                        <a:srgbClr val="D6DCE2"/>
                      </a:solidFill>
                    </a:lnL>
                    <a:lnR w="6350">
                      <a:solidFill>
                        <a:srgbClr val="D6DCE2"/>
                      </a:solidFill>
                    </a:lnR>
                    <a:lnT w="6350">
                      <a:solidFill>
                        <a:srgbClr val="D6DCE2"/>
                      </a:solidFill>
                    </a:lnT>
                    <a:lnB w="6350">
                      <a:solidFill>
                        <a:srgbClr val="D6DCE2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  <a:lnSpc>
                          <a:spcPct val="100000"/>
                        </a:lnSpc>
                      </a:pPr>
                      <a:r>
                        <a:rPr sz="1200" b="1">
                          <a:solidFill>
                            <a:srgbClr val="FFFFFF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1M，全局批 6</a:t>
                      </a:r>
                    </a:p>
                  </a:txBody>
                  <a:tcPr marL="54864" marR="54864" marT="27432" marB="18288" anchor="ctr">
                    <a:solidFill>
                      <a:srgbClr val="0E2A47"/>
                    </a:solidFill>
                    <a:lnL w="6350">
                      <a:solidFill>
                        <a:srgbClr val="D6DCE2"/>
                      </a:solidFill>
                    </a:lnL>
                    <a:lnR w="6350">
                      <a:solidFill>
                        <a:srgbClr val="D6DCE2"/>
                      </a:solidFill>
                    </a:lnR>
                    <a:lnT w="6350">
                      <a:solidFill>
                        <a:srgbClr val="D6DCE2"/>
                      </a:solidFill>
                    </a:lnT>
                    <a:lnB w="6350">
                      <a:solidFill>
                        <a:srgbClr val="D6DCE2"/>
                      </a:solidFill>
                    </a:lnB>
                  </a:tcPr>
                </a:tc>
              </a:tr>
              <a:tr h="274320">
                <a:tc>
                  <a:txBody>
                    <a:bodyPr wrap="square"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  <a:lnSpc>
                          <a:spcPct val="100000"/>
                        </a:lnSpc>
                      </a:pPr>
                      <a:r>
                        <a:rPr sz="1200" b="1">
                          <a:solidFill>
                            <a:srgbClr val="0E2A47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现算 token</a:t>
                      </a:r>
                    </a:p>
                  </a:txBody>
                  <a:tcPr marL="54864" marR="54864" marT="27432" marB="18288" anchor="ctr">
                    <a:solidFill>
                      <a:srgbClr val="F4F7FA"/>
                    </a:solidFill>
                    <a:lnL w="6350">
                      <a:solidFill>
                        <a:srgbClr val="D6DCE2"/>
                      </a:solidFill>
                    </a:lnL>
                    <a:lnR w="6350">
                      <a:solidFill>
                        <a:srgbClr val="D6DCE2"/>
                      </a:solidFill>
                    </a:lnR>
                    <a:lnT w="6350">
                      <a:solidFill>
                        <a:srgbClr val="D6DCE2"/>
                      </a:solidFill>
                    </a:lnT>
                    <a:lnB w="6350">
                      <a:solidFill>
                        <a:srgbClr val="D6DCE2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  <a:lnSpc>
                          <a:spcPct val="100000"/>
                        </a:lnSpc>
                      </a:pPr>
                      <a:r>
                        <a:rPr sz="1200" b="0">
                          <a:solidFill>
                            <a:srgbClr val="1C242E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批 × 输入 × 0.1</a:t>
                      </a:r>
                    </a:p>
                  </a:txBody>
                  <a:tcPr marL="54864" marR="54864" marT="27432" marB="18288" anchor="ctr">
                    <a:solidFill>
                      <a:srgbClr val="FFFFFF"/>
                    </a:solidFill>
                    <a:lnL w="6350">
                      <a:solidFill>
                        <a:srgbClr val="D6DCE2"/>
                      </a:solidFill>
                    </a:lnL>
                    <a:lnR w="6350">
                      <a:solidFill>
                        <a:srgbClr val="D6DCE2"/>
                      </a:solidFill>
                    </a:lnR>
                    <a:lnT w="6350">
                      <a:solidFill>
                        <a:srgbClr val="D6DCE2"/>
                      </a:solidFill>
                    </a:lnT>
                    <a:lnB w="6350">
                      <a:solidFill>
                        <a:srgbClr val="D6DCE2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  <a:lnSpc>
                          <a:spcPct val="100000"/>
                        </a:lnSpc>
                      </a:pPr>
                      <a:r>
                        <a:rPr sz="1200" b="0">
                          <a:solidFill>
                            <a:srgbClr val="1C242E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2.53×10^6</a:t>
                      </a:r>
                    </a:p>
                  </a:txBody>
                  <a:tcPr marL="54864" marR="54864" marT="27432" marB="18288" anchor="ctr">
                    <a:solidFill>
                      <a:srgbClr val="FFFFFF"/>
                    </a:solidFill>
                    <a:lnL w="6350">
                      <a:solidFill>
                        <a:srgbClr val="D6DCE2"/>
                      </a:solidFill>
                    </a:lnL>
                    <a:lnR w="6350">
                      <a:solidFill>
                        <a:srgbClr val="D6DCE2"/>
                      </a:solidFill>
                    </a:lnR>
                    <a:lnT w="6350">
                      <a:solidFill>
                        <a:srgbClr val="D6DCE2"/>
                      </a:solidFill>
                    </a:lnT>
                    <a:lnB w="6350">
                      <a:solidFill>
                        <a:srgbClr val="D6DCE2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  <a:lnSpc>
                          <a:spcPct val="100000"/>
                        </a:lnSpc>
                      </a:pPr>
                      <a:r>
                        <a:rPr sz="1200" b="0">
                          <a:solidFill>
                            <a:srgbClr val="1C242E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629.1×10^3</a:t>
                      </a:r>
                    </a:p>
                  </a:txBody>
                  <a:tcPr marL="54864" marR="54864" marT="27432" marB="18288" anchor="ctr">
                    <a:solidFill>
                      <a:srgbClr val="FFFFFF"/>
                    </a:solidFill>
                    <a:lnL w="6350">
                      <a:solidFill>
                        <a:srgbClr val="D6DCE2"/>
                      </a:solidFill>
                    </a:lnL>
                    <a:lnR w="6350">
                      <a:solidFill>
                        <a:srgbClr val="D6DCE2"/>
                      </a:solidFill>
                    </a:lnR>
                    <a:lnT w="6350">
                      <a:solidFill>
                        <a:srgbClr val="D6DCE2"/>
                      </a:solidFill>
                    </a:lnT>
                    <a:lnB w="6350">
                      <a:solidFill>
                        <a:srgbClr val="D6DCE2"/>
                      </a:solidFill>
                    </a:lnB>
                  </a:tcPr>
                </a:tc>
              </a:tr>
              <a:tr h="457200">
                <a:tc>
                  <a:txBody>
                    <a:bodyPr wrap="square"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  <a:lnSpc>
                          <a:spcPct val="100000"/>
                        </a:lnSpc>
                      </a:pPr>
                      <a:r>
                        <a:rPr sz="1200" b="1">
                          <a:solidFill>
                            <a:srgbClr val="0E7A76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机内 allreduce</a:t>
                      </a:r>
                    </a:p>
                  </a:txBody>
                  <a:tcPr marL="54864" marR="54864" marT="27432" marB="18288" anchor="ctr">
                    <a:solidFill>
                      <a:srgbClr val="F4F7FA"/>
                    </a:solidFill>
                    <a:lnL w="6350">
                      <a:solidFill>
                        <a:srgbClr val="D6DCE2"/>
                      </a:solidFill>
                    </a:lnL>
                    <a:lnR w="6350">
                      <a:solidFill>
                        <a:srgbClr val="D6DCE2"/>
                      </a:solidFill>
                    </a:lnR>
                    <a:lnT w="6350">
                      <a:solidFill>
                        <a:srgbClr val="D6DCE2"/>
                      </a:solidFill>
                    </a:lnT>
                    <a:lnB w="6350">
                      <a:solidFill>
                        <a:srgbClr val="D6DCE2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  <a:lnSpc>
                          <a:spcPct val="100000"/>
                        </a:lnSpc>
                      </a:pPr>
                      <a:r>
                        <a:rPr sz="1200" b="1">
                          <a:solidFill>
                            <a:srgbClr val="0E7A76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每组现算 token × 7168 × 2 字节</a:t>
                      </a:r>
                    </a:p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  <a:lnSpc>
                          <a:spcPct val="100000"/>
                        </a:lnSpc>
                      </a:pPr>
                      <a:r>
                        <a:rPr sz="1200" b="1">
                          <a:solidFill>
                            <a:srgbClr val="0E7A76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61 层 × 2×7/8 / 40 GB/s</a:t>
                      </a:r>
                    </a:p>
                  </a:txBody>
                  <a:tcPr marL="54864" marR="54864" marT="27432" marB="18288" anchor="ctr">
                    <a:solidFill>
                      <a:srgbClr val="E7F3F2"/>
                    </a:solidFill>
                    <a:lnL w="6350">
                      <a:solidFill>
                        <a:srgbClr val="D6DCE2"/>
                      </a:solidFill>
                    </a:lnL>
                    <a:lnR w="6350">
                      <a:solidFill>
                        <a:srgbClr val="D6DCE2"/>
                      </a:solidFill>
                    </a:lnR>
                    <a:lnT w="6350">
                      <a:solidFill>
                        <a:srgbClr val="D6DCE2"/>
                      </a:solidFill>
                    </a:lnT>
                    <a:lnB w="6350">
                      <a:solidFill>
                        <a:srgbClr val="D6DCE2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  <a:lnSpc>
                          <a:spcPct val="100000"/>
                        </a:lnSpc>
                      </a:pPr>
                      <a:r>
                        <a:rPr sz="1200" b="1">
                          <a:solidFill>
                            <a:srgbClr val="0E7A76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6.05 秒</a:t>
                      </a:r>
                    </a:p>
                  </a:txBody>
                  <a:tcPr marL="54864" marR="54864" marT="27432" marB="18288" anchor="ctr">
                    <a:solidFill>
                      <a:srgbClr val="E7F3F2"/>
                    </a:solidFill>
                    <a:lnL w="6350">
                      <a:solidFill>
                        <a:srgbClr val="D6DCE2"/>
                      </a:solidFill>
                    </a:lnL>
                    <a:lnR w="6350">
                      <a:solidFill>
                        <a:srgbClr val="D6DCE2"/>
                      </a:solidFill>
                    </a:lnR>
                    <a:lnT w="6350">
                      <a:solidFill>
                        <a:srgbClr val="D6DCE2"/>
                      </a:solidFill>
                    </a:lnT>
                    <a:lnB w="6350">
                      <a:solidFill>
                        <a:srgbClr val="D6DCE2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  <a:lnSpc>
                          <a:spcPct val="100000"/>
                        </a:lnSpc>
                      </a:pPr>
                      <a:r>
                        <a:rPr sz="1200" b="1">
                          <a:solidFill>
                            <a:srgbClr val="0E7A76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4.01 秒</a:t>
                      </a:r>
                    </a:p>
                  </a:txBody>
                  <a:tcPr marL="54864" marR="54864" marT="27432" marB="18288" anchor="ctr">
                    <a:solidFill>
                      <a:srgbClr val="E7F3F2"/>
                    </a:solidFill>
                    <a:lnL w="6350">
                      <a:solidFill>
                        <a:srgbClr val="D6DCE2"/>
                      </a:solidFill>
                    </a:lnL>
                    <a:lnR w="6350">
                      <a:solidFill>
                        <a:srgbClr val="D6DCE2"/>
                      </a:solidFill>
                    </a:lnR>
                    <a:lnT w="6350">
                      <a:solidFill>
                        <a:srgbClr val="D6DCE2"/>
                      </a:solidFill>
                    </a:lnT>
                    <a:lnB w="6350">
                      <a:solidFill>
                        <a:srgbClr val="D6DCE2"/>
                      </a:solidFill>
                    </a:lnB>
                  </a:tcPr>
                </a:tc>
              </a:tr>
              <a:tr h="438912">
                <a:tc>
                  <a:txBody>
                    <a:bodyPr wrap="square"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  <a:lnSpc>
                          <a:spcPct val="100000"/>
                        </a:lnSpc>
                      </a:pPr>
                      <a:r>
                        <a:rPr sz="1200" b="1">
                          <a:solidFill>
                            <a:srgbClr val="0E2A47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注意力计算</a:t>
                      </a:r>
                    </a:p>
                  </a:txBody>
                  <a:tcPr marL="54864" marR="54864" marT="27432" marB="18288" anchor="ctr">
                    <a:solidFill>
                      <a:srgbClr val="F4F7FA"/>
                    </a:solidFill>
                    <a:lnL w="6350">
                      <a:solidFill>
                        <a:srgbClr val="D6DCE2"/>
                      </a:solidFill>
                    </a:lnL>
                    <a:lnR w="6350">
                      <a:solidFill>
                        <a:srgbClr val="D6DCE2"/>
                      </a:solidFill>
                    </a:lnR>
                    <a:lnT w="6350">
                      <a:solidFill>
                        <a:srgbClr val="D6DCE2"/>
                      </a:solidFill>
                    </a:lnT>
                    <a:lnB w="6350">
                      <a:solidFill>
                        <a:srgbClr val="D6DCE2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  <a:lnSpc>
                          <a:spcPct val="100000"/>
                        </a:lnSpc>
                      </a:pPr>
                      <a:r>
                        <a:rPr sz="1200" b="0">
                          <a:solidFill>
                            <a:srgbClr val="1C242E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indexer、HCA、稀疏注意力、投影</a:t>
                      </a:r>
                    </a:p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  <a:lnSpc>
                          <a:spcPct val="100000"/>
                        </a:lnSpc>
                      </a:pPr>
                      <a:r>
                        <a:rPr sz="1200" b="0">
                          <a:solidFill>
                            <a:srgbClr val="1C242E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除以 340.2 T</a:t>
                      </a:r>
                    </a:p>
                  </a:txBody>
                  <a:tcPr marL="54864" marR="54864" marT="27432" marB="18288" anchor="ctr">
                    <a:solidFill>
                      <a:srgbClr val="FFFFFF"/>
                    </a:solidFill>
                    <a:lnL w="6350">
                      <a:solidFill>
                        <a:srgbClr val="D6DCE2"/>
                      </a:solidFill>
                    </a:lnL>
                    <a:lnR w="6350">
                      <a:solidFill>
                        <a:srgbClr val="D6DCE2"/>
                      </a:solidFill>
                    </a:lnR>
                    <a:lnT w="6350">
                      <a:solidFill>
                        <a:srgbClr val="D6DCE2"/>
                      </a:solidFill>
                    </a:lnT>
                    <a:lnB w="6350">
                      <a:solidFill>
                        <a:srgbClr val="D6DCE2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  <a:lnSpc>
                          <a:spcPct val="100000"/>
                        </a:lnSpc>
                      </a:pPr>
                      <a:r>
                        <a:rPr sz="1200" b="0">
                          <a:solidFill>
                            <a:srgbClr val="1C242E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2.82 秒</a:t>
                      </a:r>
                    </a:p>
                  </a:txBody>
                  <a:tcPr marL="54864" marR="54864" marT="27432" marB="18288" anchor="ctr">
                    <a:solidFill>
                      <a:srgbClr val="FFFFFF"/>
                    </a:solidFill>
                    <a:lnL w="6350">
                      <a:solidFill>
                        <a:srgbClr val="D6DCE2"/>
                      </a:solidFill>
                    </a:lnL>
                    <a:lnR w="6350">
                      <a:solidFill>
                        <a:srgbClr val="D6DCE2"/>
                      </a:solidFill>
                    </a:lnR>
                    <a:lnT w="6350">
                      <a:solidFill>
                        <a:srgbClr val="D6DCE2"/>
                      </a:solidFill>
                    </a:lnT>
                    <a:lnB w="6350">
                      <a:solidFill>
                        <a:srgbClr val="D6DCE2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  <a:lnSpc>
                          <a:spcPct val="100000"/>
                        </a:lnSpc>
                      </a:pPr>
                      <a:r>
                        <a:rPr sz="1200" b="0">
                          <a:solidFill>
                            <a:srgbClr val="1C242E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8.99 秒</a:t>
                      </a:r>
                    </a:p>
                  </a:txBody>
                  <a:tcPr marL="54864" marR="54864" marT="27432" marB="18288" anchor="ctr">
                    <a:solidFill>
                      <a:srgbClr val="FFFFFF"/>
                    </a:solidFill>
                    <a:lnL w="6350">
                      <a:solidFill>
                        <a:srgbClr val="D6DCE2"/>
                      </a:solidFill>
                    </a:lnL>
                    <a:lnR w="6350">
                      <a:solidFill>
                        <a:srgbClr val="D6DCE2"/>
                      </a:solidFill>
                    </a:lnR>
                    <a:lnT w="6350">
                      <a:solidFill>
                        <a:srgbClr val="D6DCE2"/>
                      </a:solidFill>
                    </a:lnT>
                    <a:lnB w="6350">
                      <a:solidFill>
                        <a:srgbClr val="D6DCE2"/>
                      </a:solidFill>
                    </a:lnB>
                  </a:tcPr>
                </a:tc>
              </a:tr>
              <a:tr h="457200">
                <a:tc>
                  <a:txBody>
                    <a:bodyPr wrap="square"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  <a:lnSpc>
                          <a:spcPct val="100000"/>
                        </a:lnSpc>
                      </a:pPr>
                      <a:r>
                        <a:rPr sz="1200" b="1">
                          <a:solidFill>
                            <a:srgbClr val="0E2A47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MoE</a:t>
                      </a:r>
                    </a:p>
                  </a:txBody>
                  <a:tcPr marL="54864" marR="54864" marT="27432" marB="18288" anchor="ctr">
                    <a:solidFill>
                      <a:srgbClr val="F4F7FA"/>
                    </a:solidFill>
                    <a:lnL w="6350">
                      <a:solidFill>
                        <a:srgbClr val="D6DCE2"/>
                      </a:solidFill>
                    </a:lnL>
                    <a:lnR w="6350">
                      <a:solidFill>
                        <a:srgbClr val="D6DCE2"/>
                      </a:solidFill>
                    </a:lnR>
                    <a:lnT w="6350">
                      <a:solidFill>
                        <a:srgbClr val="D6DCE2"/>
                      </a:solidFill>
                    </a:lnT>
                    <a:lnB w="6350">
                      <a:solidFill>
                        <a:srgbClr val="D6DCE2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  <a:lnSpc>
                          <a:spcPct val="100000"/>
                        </a:lnSpc>
                      </a:pPr>
                      <a:r>
                        <a:rPr sz="1200" b="0">
                          <a:solidFill>
                            <a:srgbClr val="1C242E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dispatch + max(专家权重, GEMM) + combine</a:t>
                      </a:r>
                    </a:p>
                  </a:txBody>
                  <a:tcPr marL="54864" marR="54864" marT="27432" marB="18288" anchor="ctr">
                    <a:solidFill>
                      <a:srgbClr val="FFFFFF"/>
                    </a:solidFill>
                    <a:lnL w="6350">
                      <a:solidFill>
                        <a:srgbClr val="D6DCE2"/>
                      </a:solidFill>
                    </a:lnL>
                    <a:lnR w="6350">
                      <a:solidFill>
                        <a:srgbClr val="D6DCE2"/>
                      </a:solidFill>
                    </a:lnR>
                    <a:lnT w="6350">
                      <a:solidFill>
                        <a:srgbClr val="D6DCE2"/>
                      </a:solidFill>
                    </a:lnT>
                    <a:lnB w="6350">
                      <a:solidFill>
                        <a:srgbClr val="D6DCE2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  <a:lnSpc>
                          <a:spcPct val="100000"/>
                        </a:lnSpc>
                      </a:pPr>
                      <a:r>
                        <a:rPr sz="1200" b="0">
                          <a:solidFill>
                            <a:srgbClr val="1C242E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3.95 秒</a:t>
                      </a:r>
                    </a:p>
                  </a:txBody>
                  <a:tcPr marL="54864" marR="54864" marT="27432" marB="18288" anchor="ctr">
                    <a:solidFill>
                      <a:srgbClr val="FFFFFF"/>
                    </a:solidFill>
                    <a:lnL w="6350">
                      <a:solidFill>
                        <a:srgbClr val="D6DCE2"/>
                      </a:solidFill>
                    </a:lnL>
                    <a:lnR w="6350">
                      <a:solidFill>
                        <a:srgbClr val="D6DCE2"/>
                      </a:solidFill>
                    </a:lnR>
                    <a:lnT w="6350">
                      <a:solidFill>
                        <a:srgbClr val="D6DCE2"/>
                      </a:solidFill>
                    </a:lnT>
                    <a:lnB w="6350">
                      <a:solidFill>
                        <a:srgbClr val="D6DCE2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  <a:lnSpc>
                          <a:spcPct val="100000"/>
                        </a:lnSpc>
                      </a:pPr>
                      <a:r>
                        <a:rPr sz="1200" b="0">
                          <a:solidFill>
                            <a:srgbClr val="1C242E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0.99 秒</a:t>
                      </a:r>
                    </a:p>
                  </a:txBody>
                  <a:tcPr marL="54864" marR="54864" marT="27432" marB="18288" anchor="ctr">
                    <a:solidFill>
                      <a:srgbClr val="FFFFFF"/>
                    </a:solidFill>
                    <a:lnL w="6350">
                      <a:solidFill>
                        <a:srgbClr val="D6DCE2"/>
                      </a:solidFill>
                    </a:lnL>
                    <a:lnR w="6350">
                      <a:solidFill>
                        <a:srgbClr val="D6DCE2"/>
                      </a:solidFill>
                    </a:lnR>
                    <a:lnT w="6350">
                      <a:solidFill>
                        <a:srgbClr val="D6DCE2"/>
                      </a:solidFill>
                    </a:lnT>
                    <a:lnB w="6350">
                      <a:solidFill>
                        <a:srgbClr val="D6DCE2"/>
                      </a:solidFill>
                    </a:lnB>
                  </a:tcPr>
                </a:tc>
              </a:tr>
              <a:tr h="292608">
                <a:tc>
                  <a:txBody>
                    <a:bodyPr wrap="square"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  <a:lnSpc>
                          <a:spcPct val="100000"/>
                        </a:lnSpc>
                      </a:pPr>
                      <a:r>
                        <a:rPr sz="1200" b="1">
                          <a:solidFill>
                            <a:srgbClr val="0E2A47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相加</a:t>
                      </a:r>
                    </a:p>
                  </a:txBody>
                  <a:tcPr marL="54864" marR="54864" marT="27432" marB="18288" anchor="ctr">
                    <a:solidFill>
                      <a:srgbClr val="F4F7FA"/>
                    </a:solidFill>
                    <a:lnL w="6350">
                      <a:solidFill>
                        <a:srgbClr val="D6DCE2"/>
                      </a:solidFill>
                    </a:lnL>
                    <a:lnR w="6350">
                      <a:solidFill>
                        <a:srgbClr val="D6DCE2"/>
                      </a:solidFill>
                    </a:lnR>
                    <a:lnT w="6350">
                      <a:solidFill>
                        <a:srgbClr val="D6DCE2"/>
                      </a:solidFill>
                    </a:lnT>
                    <a:lnB w="6350">
                      <a:solidFill>
                        <a:srgbClr val="D6DCE2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  <a:lnSpc>
                          <a:spcPct val="100000"/>
                        </a:lnSpc>
                      </a:pPr>
                      <a:r>
                        <a:rPr sz="1200" b="1">
                          <a:solidFill>
                            <a:srgbClr val="0E2A47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Attention 瓶颈 + 完整 MoE；P→D 尾巴为 0</a:t>
                      </a:r>
                    </a:p>
                  </a:txBody>
                  <a:tcPr marL="54864" marR="54864" marT="27432" marB="18288" anchor="ctr">
                    <a:solidFill>
                      <a:srgbClr val="F4F7FA"/>
                    </a:solidFill>
                    <a:lnL w="6350">
                      <a:solidFill>
                        <a:srgbClr val="D6DCE2"/>
                      </a:solidFill>
                    </a:lnL>
                    <a:lnR w="6350">
                      <a:solidFill>
                        <a:srgbClr val="D6DCE2"/>
                      </a:solidFill>
                    </a:lnR>
                    <a:lnT w="6350">
                      <a:solidFill>
                        <a:srgbClr val="D6DCE2"/>
                      </a:solidFill>
                    </a:lnT>
                    <a:lnB w="6350">
                      <a:solidFill>
                        <a:srgbClr val="D6DCE2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  <a:lnSpc>
                          <a:spcPct val="100000"/>
                        </a:lnSpc>
                      </a:pPr>
                      <a:r>
                        <a:rPr sz="1200" b="1">
                          <a:solidFill>
                            <a:srgbClr val="0E2A47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10.0 秒</a:t>
                      </a:r>
                    </a:p>
                  </a:txBody>
                  <a:tcPr marL="54864" marR="54864" marT="27432" marB="18288" anchor="ctr">
                    <a:solidFill>
                      <a:srgbClr val="F4F7FA"/>
                    </a:solidFill>
                    <a:lnL w="6350">
                      <a:solidFill>
                        <a:srgbClr val="D6DCE2"/>
                      </a:solidFill>
                    </a:lnL>
                    <a:lnR w="6350">
                      <a:solidFill>
                        <a:srgbClr val="D6DCE2"/>
                      </a:solidFill>
                    </a:lnR>
                    <a:lnT w="6350">
                      <a:solidFill>
                        <a:srgbClr val="D6DCE2"/>
                      </a:solidFill>
                    </a:lnT>
                    <a:lnB w="6350">
                      <a:solidFill>
                        <a:srgbClr val="D6DCE2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  <a:lnSpc>
                          <a:spcPct val="100000"/>
                        </a:lnSpc>
                      </a:pPr>
                      <a:r>
                        <a:rPr sz="1200" b="1">
                          <a:solidFill>
                            <a:srgbClr val="0E2A47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10.0 秒</a:t>
                      </a:r>
                    </a:p>
                  </a:txBody>
                  <a:tcPr marL="54864" marR="54864" marT="27432" marB="18288" anchor="ctr">
                    <a:solidFill>
                      <a:srgbClr val="F4F7FA"/>
                    </a:solidFill>
                    <a:lnL w="6350">
                      <a:solidFill>
                        <a:srgbClr val="D6DCE2"/>
                      </a:solidFill>
                    </a:lnL>
                    <a:lnR w="6350">
                      <a:solidFill>
                        <a:srgbClr val="D6DCE2"/>
                      </a:solidFill>
                    </a:lnR>
                    <a:lnT w="6350">
                      <a:solidFill>
                        <a:srgbClr val="D6DCE2"/>
                      </a:solidFill>
                    </a:lnT>
                    <a:lnB w="6350">
                      <a:solidFill>
                        <a:srgbClr val="D6DCE2"/>
                      </a:solidFill>
                    </a:lnB>
                  </a:tcPr>
                </a:tc>
              </a:tr>
            </a:tbl>
          </a:graphicData>
        </a:graphic>
      </p:graphicFrame>
      <p:sp>
        <p:nvSpPr>
          <p:cNvPr id="12" name="TextBox 11"/>
          <p:cNvSpPr txBox="1"/>
          <p:nvPr/>
        </p:nvSpPr>
        <p:spPr>
          <a:xfrm>
            <a:off x="384048" y="3822191"/>
            <a:ext cx="11430000" cy="201168"/>
          </a:xfrm>
          <a:prstGeom prst="rect">
            <a:avLst/>
          </a:prstGeom>
          <a:noFill/>
        </p:spPr>
        <p:txBody>
          <a:bodyPr wrap="square" lIns="0" rIns="0" tIns="0" bIns="0" anchor="ctr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300" b="1">
                <a:solidFill>
                  <a:srgbClr val="145A96"/>
                </a:solidFill>
                <a:latin typeface="Microsoft YaHei"/>
                <a:ea typeface="Microsoft YaHei"/>
                <a:cs typeface="Microsoft YaHei"/>
              </a:rPr>
              <a:t>同一条 10 秒，输入从 4K 到 1M</a:t>
            </a:r>
          </a:p>
        </p:txBody>
      </p:sp>
      <p:graphicFrame>
        <p:nvGraphicFramePr>
          <p:cNvPr id="13" name="Table 12"/>
          <p:cNvGraphicFramePr>
            <a:graphicFrameLocks noGrp="1"/>
          </p:cNvGraphicFramePr>
          <p:nvPr/>
        </p:nvGraphicFramePr>
        <p:xfrm>
          <a:off x="384048" y="4114800"/>
          <a:ext cx="11430000" cy="1755648"/>
        </p:xfrm>
        <a:graphic>
          <a:graphicData uri="http://schemas.openxmlformats.org/drawingml/2006/table">
            <a:tbl>
              <a:tblPr firstRow="1"/>
              <a:tblGrid>
                <a:gridCol w="960120"/>
                <a:gridCol w="1417320"/>
                <a:gridCol w="868680"/>
                <a:gridCol w="1554480"/>
                <a:gridCol w="1417320"/>
                <a:gridCol w="1417320"/>
                <a:gridCol w="1691640"/>
                <a:gridCol w="2103120"/>
              </a:tblGrid>
              <a:tr h="219456">
                <a:tc>
                  <a:txBody>
                    <a:bodyPr wrap="square"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  <a:lnSpc>
                          <a:spcPct val="100000"/>
                        </a:lnSpc>
                      </a:pPr>
                      <a:r>
                        <a:rPr sz="1100" b="1">
                          <a:solidFill>
                            <a:srgbClr val="FFFFFF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输入</a:t>
                      </a:r>
                    </a:p>
                  </a:txBody>
                  <a:tcPr marL="54864" marR="54864" marT="27432" marB="18288" anchor="ctr">
                    <a:solidFill>
                      <a:srgbClr val="0E2A47"/>
                    </a:solidFill>
                    <a:lnL w="6350">
                      <a:solidFill>
                        <a:srgbClr val="D6DCE2"/>
                      </a:solidFill>
                    </a:lnL>
                    <a:lnR w="6350">
                      <a:solidFill>
                        <a:srgbClr val="D6DCE2"/>
                      </a:solidFill>
                    </a:lnR>
                    <a:lnT w="6350">
                      <a:solidFill>
                        <a:srgbClr val="D6DCE2"/>
                      </a:solidFill>
                    </a:lnT>
                    <a:lnB w="6350">
                      <a:solidFill>
                        <a:srgbClr val="D6DCE2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  <a:lnSpc>
                          <a:spcPct val="100000"/>
                        </a:lnSpc>
                      </a:pPr>
                      <a:r>
                        <a:rPr sz="1100" b="1">
                          <a:solidFill>
                            <a:srgbClr val="FFFFFF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10 秒全局批</a:t>
                      </a:r>
                    </a:p>
                  </a:txBody>
                  <a:tcPr marL="54864" marR="54864" marT="27432" marB="18288" anchor="ctr">
                    <a:solidFill>
                      <a:srgbClr val="0E2A47"/>
                    </a:solidFill>
                    <a:lnL w="6350">
                      <a:solidFill>
                        <a:srgbClr val="D6DCE2"/>
                      </a:solidFill>
                    </a:lnL>
                    <a:lnR w="6350">
                      <a:solidFill>
                        <a:srgbClr val="D6DCE2"/>
                      </a:solidFill>
                    </a:lnR>
                    <a:lnT w="6350">
                      <a:solidFill>
                        <a:srgbClr val="D6DCE2"/>
                      </a:solidFill>
                    </a:lnT>
                    <a:lnB w="6350">
                      <a:solidFill>
                        <a:srgbClr val="D6DCE2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  <a:lnSpc>
                          <a:spcPct val="100000"/>
                        </a:lnSpc>
                      </a:pPr>
                      <a:r>
                        <a:rPr sz="1100" b="1">
                          <a:solidFill>
                            <a:srgbClr val="FFFFFF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每卡</a:t>
                      </a:r>
                    </a:p>
                  </a:txBody>
                  <a:tcPr marL="54864" marR="54864" marT="27432" marB="18288" anchor="ctr">
                    <a:solidFill>
                      <a:srgbClr val="0E2A47"/>
                    </a:solidFill>
                    <a:lnL w="6350">
                      <a:solidFill>
                        <a:srgbClr val="D6DCE2"/>
                      </a:solidFill>
                    </a:lnL>
                    <a:lnR w="6350">
                      <a:solidFill>
                        <a:srgbClr val="D6DCE2"/>
                      </a:solidFill>
                    </a:lnR>
                    <a:lnT w="6350">
                      <a:solidFill>
                        <a:srgbClr val="D6DCE2"/>
                      </a:solidFill>
                    </a:lnT>
                    <a:lnB w="6350">
                      <a:solidFill>
                        <a:srgbClr val="D6DCE2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  <a:lnSpc>
                          <a:spcPct val="100000"/>
                        </a:lnSpc>
                      </a:pPr>
                      <a:r>
                        <a:rPr sz="1100" b="1">
                          <a:solidFill>
                            <a:srgbClr val="FFFFFF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现算 token</a:t>
                      </a:r>
                    </a:p>
                  </a:txBody>
                  <a:tcPr marL="54864" marR="54864" marT="27432" marB="18288" anchor="ctr">
                    <a:solidFill>
                      <a:srgbClr val="0E2A47"/>
                    </a:solidFill>
                    <a:lnL w="6350">
                      <a:solidFill>
                        <a:srgbClr val="D6DCE2"/>
                      </a:solidFill>
                    </a:lnL>
                    <a:lnR w="6350">
                      <a:solidFill>
                        <a:srgbClr val="D6DCE2"/>
                      </a:solidFill>
                    </a:lnR>
                    <a:lnT w="6350">
                      <a:solidFill>
                        <a:srgbClr val="D6DCE2"/>
                      </a:solidFill>
                    </a:lnT>
                    <a:lnB w="6350">
                      <a:solidFill>
                        <a:srgbClr val="D6DCE2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  <a:lnSpc>
                          <a:spcPct val="100000"/>
                        </a:lnSpc>
                      </a:pPr>
                      <a:r>
                        <a:rPr sz="1100" b="1">
                          <a:solidFill>
                            <a:srgbClr val="FFFFFF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allreduce</a:t>
                      </a:r>
                    </a:p>
                  </a:txBody>
                  <a:tcPr marL="54864" marR="54864" marT="27432" marB="18288" anchor="ctr">
                    <a:solidFill>
                      <a:srgbClr val="0E2A47"/>
                    </a:solidFill>
                    <a:lnL w="6350">
                      <a:solidFill>
                        <a:srgbClr val="D6DCE2"/>
                      </a:solidFill>
                    </a:lnL>
                    <a:lnR w="6350">
                      <a:solidFill>
                        <a:srgbClr val="D6DCE2"/>
                      </a:solidFill>
                    </a:lnR>
                    <a:lnT w="6350">
                      <a:solidFill>
                        <a:srgbClr val="D6DCE2"/>
                      </a:solidFill>
                    </a:lnT>
                    <a:lnB w="6350">
                      <a:solidFill>
                        <a:srgbClr val="D6DCE2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  <a:lnSpc>
                          <a:spcPct val="100000"/>
                        </a:lnSpc>
                      </a:pPr>
                      <a:r>
                        <a:rPr sz="1100" b="1">
                          <a:solidFill>
                            <a:srgbClr val="FFFFFF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MoE</a:t>
                      </a:r>
                    </a:p>
                  </a:txBody>
                  <a:tcPr marL="54864" marR="54864" marT="27432" marB="18288" anchor="ctr">
                    <a:solidFill>
                      <a:srgbClr val="0E2A47"/>
                    </a:solidFill>
                    <a:lnL w="6350">
                      <a:solidFill>
                        <a:srgbClr val="D6DCE2"/>
                      </a:solidFill>
                    </a:lnL>
                    <a:lnR w="6350">
                      <a:solidFill>
                        <a:srgbClr val="D6DCE2"/>
                      </a:solidFill>
                    </a:lnR>
                    <a:lnT w="6350">
                      <a:solidFill>
                        <a:srgbClr val="D6DCE2"/>
                      </a:solidFill>
                    </a:lnT>
                    <a:lnB w="6350">
                      <a:solidFill>
                        <a:srgbClr val="D6DCE2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  <a:lnSpc>
                          <a:spcPct val="100000"/>
                        </a:lnSpc>
                      </a:pPr>
                      <a:r>
                        <a:rPr sz="1100" b="1">
                          <a:solidFill>
                            <a:srgbClr val="FFFFFF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注意力计算</a:t>
                      </a:r>
                    </a:p>
                  </a:txBody>
                  <a:tcPr marL="54864" marR="54864" marT="27432" marB="18288" anchor="ctr">
                    <a:solidFill>
                      <a:srgbClr val="0E2A47"/>
                    </a:solidFill>
                    <a:lnL w="6350">
                      <a:solidFill>
                        <a:srgbClr val="D6DCE2"/>
                      </a:solidFill>
                    </a:lnL>
                    <a:lnR w="6350">
                      <a:solidFill>
                        <a:srgbClr val="D6DCE2"/>
                      </a:solidFill>
                    </a:lnR>
                    <a:lnT w="6350">
                      <a:solidFill>
                        <a:srgbClr val="D6DCE2"/>
                      </a:solidFill>
                    </a:lnT>
                    <a:lnB w="6350">
                      <a:solidFill>
                        <a:srgbClr val="D6DCE2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  <a:lnSpc>
                          <a:spcPct val="100000"/>
                        </a:lnSpc>
                      </a:pPr>
                      <a:r>
                        <a:rPr sz="1100" b="1">
                          <a:solidFill>
                            <a:srgbClr val="FFFFFF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拉 prefix</a:t>
                      </a:r>
                    </a:p>
                  </a:txBody>
                  <a:tcPr marL="54864" marR="54864" marT="27432" marB="18288" anchor="ctr">
                    <a:solidFill>
                      <a:srgbClr val="0E2A47"/>
                    </a:solidFill>
                    <a:lnL w="6350">
                      <a:solidFill>
                        <a:srgbClr val="D6DCE2"/>
                      </a:solidFill>
                    </a:lnL>
                    <a:lnR w="6350">
                      <a:solidFill>
                        <a:srgbClr val="D6DCE2"/>
                      </a:solidFill>
                    </a:lnR>
                    <a:lnT w="6350">
                      <a:solidFill>
                        <a:srgbClr val="D6DCE2"/>
                      </a:solidFill>
                    </a:lnT>
                    <a:lnB w="6350">
                      <a:solidFill>
                        <a:srgbClr val="D6DCE2"/>
                      </a:solidFill>
                    </a:lnB>
                  </a:tcPr>
                </a:tc>
              </a:tr>
              <a:tr h="219456">
                <a:tc>
                  <a:txBody>
                    <a:bodyPr wrap="square"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  <a:lnSpc>
                          <a:spcPct val="100000"/>
                        </a:lnSpc>
                      </a:pPr>
                      <a:r>
                        <a:rPr sz="1100" b="1">
                          <a:solidFill>
                            <a:srgbClr val="0E7A76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4K</a:t>
                      </a:r>
                    </a:p>
                  </a:txBody>
                  <a:tcPr marL="54864" marR="54864" marT="27432" marB="18288" anchor="ctr">
                    <a:solidFill>
                      <a:srgbClr val="F4F7FA"/>
                    </a:solidFill>
                    <a:lnL w="6350">
                      <a:solidFill>
                        <a:srgbClr val="D6DCE2"/>
                      </a:solidFill>
                    </a:lnL>
                    <a:lnR w="6350">
                      <a:solidFill>
                        <a:srgbClr val="D6DCE2"/>
                      </a:solidFill>
                    </a:lnR>
                    <a:lnT w="6350">
                      <a:solidFill>
                        <a:srgbClr val="D6DCE2"/>
                      </a:solidFill>
                    </a:lnT>
                    <a:lnB w="6350">
                      <a:solidFill>
                        <a:srgbClr val="D6DCE2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  <a:lnSpc>
                          <a:spcPct val="100000"/>
                        </a:lnSpc>
                      </a:pPr>
                      <a:r>
                        <a:rPr sz="1100" b="1">
                          <a:solidFill>
                            <a:srgbClr val="0E7A76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6176</a:t>
                      </a:r>
                    </a:p>
                  </a:txBody>
                  <a:tcPr marL="54864" marR="54864" marT="27432" marB="18288" anchor="ctr">
                    <a:solidFill>
                      <a:srgbClr val="E7F3F2"/>
                    </a:solidFill>
                    <a:lnL w="6350">
                      <a:solidFill>
                        <a:srgbClr val="D6DCE2"/>
                      </a:solidFill>
                    </a:lnL>
                    <a:lnR w="6350">
                      <a:solidFill>
                        <a:srgbClr val="D6DCE2"/>
                      </a:solidFill>
                    </a:lnR>
                    <a:lnT w="6350">
                      <a:solidFill>
                        <a:srgbClr val="D6DCE2"/>
                      </a:solidFill>
                    </a:lnT>
                    <a:lnB w="6350">
                      <a:solidFill>
                        <a:srgbClr val="D6DCE2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  <a:lnSpc>
                          <a:spcPct val="100000"/>
                        </a:lnSpc>
                      </a:pPr>
                      <a:r>
                        <a:rPr sz="1100" b="1">
                          <a:solidFill>
                            <a:srgbClr val="0E7A76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48.2</a:t>
                      </a:r>
                    </a:p>
                  </a:txBody>
                  <a:tcPr marL="54864" marR="54864" marT="27432" marB="18288" anchor="ctr">
                    <a:solidFill>
                      <a:srgbClr val="E7F3F2"/>
                    </a:solidFill>
                    <a:lnL w="6350">
                      <a:solidFill>
                        <a:srgbClr val="D6DCE2"/>
                      </a:solidFill>
                    </a:lnL>
                    <a:lnR w="6350">
                      <a:solidFill>
                        <a:srgbClr val="D6DCE2"/>
                      </a:solidFill>
                    </a:lnR>
                    <a:lnT w="6350">
                      <a:solidFill>
                        <a:srgbClr val="D6DCE2"/>
                      </a:solidFill>
                    </a:lnT>
                    <a:lnB w="6350">
                      <a:solidFill>
                        <a:srgbClr val="D6DCE2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  <a:lnSpc>
                          <a:spcPct val="100000"/>
                        </a:lnSpc>
                      </a:pPr>
                      <a:r>
                        <a:rPr sz="1100" b="1">
                          <a:solidFill>
                            <a:srgbClr val="0E7A76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2.53×10^6</a:t>
                      </a:r>
                    </a:p>
                  </a:txBody>
                  <a:tcPr marL="54864" marR="54864" marT="27432" marB="18288" anchor="ctr">
                    <a:solidFill>
                      <a:srgbClr val="E7F3F2"/>
                    </a:solidFill>
                    <a:lnL w="6350">
                      <a:solidFill>
                        <a:srgbClr val="D6DCE2"/>
                      </a:solidFill>
                    </a:lnL>
                    <a:lnR w="6350">
                      <a:solidFill>
                        <a:srgbClr val="D6DCE2"/>
                      </a:solidFill>
                    </a:lnR>
                    <a:lnT w="6350">
                      <a:solidFill>
                        <a:srgbClr val="D6DCE2"/>
                      </a:solidFill>
                    </a:lnT>
                    <a:lnB w="6350">
                      <a:solidFill>
                        <a:srgbClr val="D6DCE2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  <a:lnSpc>
                          <a:spcPct val="100000"/>
                        </a:lnSpc>
                      </a:pPr>
                      <a:r>
                        <a:rPr sz="1100" b="1">
                          <a:solidFill>
                            <a:srgbClr val="0E7A76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6.05 秒</a:t>
                      </a:r>
                    </a:p>
                  </a:txBody>
                  <a:tcPr marL="54864" marR="54864" marT="27432" marB="18288" anchor="ctr">
                    <a:solidFill>
                      <a:srgbClr val="E7F3F2"/>
                    </a:solidFill>
                    <a:lnL w="6350">
                      <a:solidFill>
                        <a:srgbClr val="D6DCE2"/>
                      </a:solidFill>
                    </a:lnL>
                    <a:lnR w="6350">
                      <a:solidFill>
                        <a:srgbClr val="D6DCE2"/>
                      </a:solidFill>
                    </a:lnR>
                    <a:lnT w="6350">
                      <a:solidFill>
                        <a:srgbClr val="D6DCE2"/>
                      </a:solidFill>
                    </a:lnT>
                    <a:lnB w="6350">
                      <a:solidFill>
                        <a:srgbClr val="D6DCE2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  <a:lnSpc>
                          <a:spcPct val="100000"/>
                        </a:lnSpc>
                      </a:pPr>
                      <a:r>
                        <a:rPr sz="1100" b="1">
                          <a:solidFill>
                            <a:srgbClr val="0E7A76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3.95 秒</a:t>
                      </a:r>
                    </a:p>
                  </a:txBody>
                  <a:tcPr marL="54864" marR="54864" marT="27432" marB="18288" anchor="ctr">
                    <a:solidFill>
                      <a:srgbClr val="E7F3F2"/>
                    </a:solidFill>
                    <a:lnL w="6350">
                      <a:solidFill>
                        <a:srgbClr val="D6DCE2"/>
                      </a:solidFill>
                    </a:lnL>
                    <a:lnR w="6350">
                      <a:solidFill>
                        <a:srgbClr val="D6DCE2"/>
                      </a:solidFill>
                    </a:lnR>
                    <a:lnT w="6350">
                      <a:solidFill>
                        <a:srgbClr val="D6DCE2"/>
                      </a:solidFill>
                    </a:lnT>
                    <a:lnB w="6350">
                      <a:solidFill>
                        <a:srgbClr val="D6DCE2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  <a:lnSpc>
                          <a:spcPct val="100000"/>
                        </a:lnSpc>
                      </a:pPr>
                      <a:r>
                        <a:rPr sz="1100" b="1">
                          <a:solidFill>
                            <a:srgbClr val="0E7A76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2.82 秒</a:t>
                      </a:r>
                    </a:p>
                  </a:txBody>
                  <a:tcPr marL="54864" marR="54864" marT="27432" marB="18288" anchor="ctr">
                    <a:solidFill>
                      <a:srgbClr val="E7F3F2"/>
                    </a:solidFill>
                    <a:lnL w="6350">
                      <a:solidFill>
                        <a:srgbClr val="D6DCE2"/>
                      </a:solidFill>
                    </a:lnL>
                    <a:lnR w="6350">
                      <a:solidFill>
                        <a:srgbClr val="D6DCE2"/>
                      </a:solidFill>
                    </a:lnR>
                    <a:lnT w="6350">
                      <a:solidFill>
                        <a:srgbClr val="D6DCE2"/>
                      </a:solidFill>
                    </a:lnT>
                    <a:lnB w="6350">
                      <a:solidFill>
                        <a:srgbClr val="D6DCE2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  <a:lnSpc>
                          <a:spcPct val="100000"/>
                        </a:lnSpc>
                      </a:pPr>
                      <a:r>
                        <a:rPr sz="1100" b="1">
                          <a:solidFill>
                            <a:srgbClr val="0E7A76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17.2 毫秒</a:t>
                      </a:r>
                    </a:p>
                  </a:txBody>
                  <a:tcPr marL="54864" marR="54864" marT="27432" marB="18288" anchor="ctr">
                    <a:solidFill>
                      <a:srgbClr val="E7F3F2"/>
                    </a:solidFill>
                    <a:lnL w="6350">
                      <a:solidFill>
                        <a:srgbClr val="D6DCE2"/>
                      </a:solidFill>
                    </a:lnL>
                    <a:lnR w="6350">
                      <a:solidFill>
                        <a:srgbClr val="D6DCE2"/>
                      </a:solidFill>
                    </a:lnR>
                    <a:lnT w="6350">
                      <a:solidFill>
                        <a:srgbClr val="D6DCE2"/>
                      </a:solidFill>
                    </a:lnT>
                    <a:lnB w="6350">
                      <a:solidFill>
                        <a:srgbClr val="D6DCE2"/>
                      </a:solidFill>
                    </a:lnB>
                  </a:tcPr>
                </a:tc>
              </a:tr>
              <a:tr h="219456">
                <a:tc>
                  <a:txBody>
                    <a:bodyPr wrap="square"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  <a:lnSpc>
                          <a:spcPct val="100000"/>
                        </a:lnSpc>
                      </a:pPr>
                      <a:r>
                        <a:rPr sz="1100" b="1">
                          <a:solidFill>
                            <a:srgbClr val="0E2A47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8K</a:t>
                      </a:r>
                    </a:p>
                  </a:txBody>
                  <a:tcPr marL="54864" marR="54864" marT="27432" marB="18288" anchor="ctr">
                    <a:solidFill>
                      <a:srgbClr val="F4F7FA"/>
                    </a:solidFill>
                    <a:lnL w="6350">
                      <a:solidFill>
                        <a:srgbClr val="D6DCE2"/>
                      </a:solidFill>
                    </a:lnL>
                    <a:lnR w="6350">
                      <a:solidFill>
                        <a:srgbClr val="D6DCE2"/>
                      </a:solidFill>
                    </a:lnR>
                    <a:lnT w="6350">
                      <a:solidFill>
                        <a:srgbClr val="D6DCE2"/>
                      </a:solidFill>
                    </a:lnT>
                    <a:lnB w="6350">
                      <a:solidFill>
                        <a:srgbClr val="D6DCE2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  <a:lnSpc>
                          <a:spcPct val="100000"/>
                        </a:lnSpc>
                      </a:pPr>
                      <a:r>
                        <a:rPr sz="1100" b="0">
                          <a:solidFill>
                            <a:srgbClr val="1C242E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3088</a:t>
                      </a:r>
                    </a:p>
                  </a:txBody>
                  <a:tcPr marL="54864" marR="54864" marT="27432" marB="18288" anchor="ctr">
                    <a:solidFill>
                      <a:srgbClr val="FFFFFF"/>
                    </a:solidFill>
                    <a:lnL w="6350">
                      <a:solidFill>
                        <a:srgbClr val="D6DCE2"/>
                      </a:solidFill>
                    </a:lnL>
                    <a:lnR w="6350">
                      <a:solidFill>
                        <a:srgbClr val="D6DCE2"/>
                      </a:solidFill>
                    </a:lnR>
                    <a:lnT w="6350">
                      <a:solidFill>
                        <a:srgbClr val="D6DCE2"/>
                      </a:solidFill>
                    </a:lnT>
                    <a:lnB w="6350">
                      <a:solidFill>
                        <a:srgbClr val="D6DCE2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  <a:lnSpc>
                          <a:spcPct val="100000"/>
                        </a:lnSpc>
                      </a:pPr>
                      <a:r>
                        <a:rPr sz="1100" b="0">
                          <a:solidFill>
                            <a:srgbClr val="1C242E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24.1</a:t>
                      </a:r>
                    </a:p>
                  </a:txBody>
                  <a:tcPr marL="54864" marR="54864" marT="27432" marB="18288" anchor="ctr">
                    <a:solidFill>
                      <a:srgbClr val="FFFFFF"/>
                    </a:solidFill>
                    <a:lnL w="6350">
                      <a:solidFill>
                        <a:srgbClr val="D6DCE2"/>
                      </a:solidFill>
                    </a:lnL>
                    <a:lnR w="6350">
                      <a:solidFill>
                        <a:srgbClr val="D6DCE2"/>
                      </a:solidFill>
                    </a:lnR>
                    <a:lnT w="6350">
                      <a:solidFill>
                        <a:srgbClr val="D6DCE2"/>
                      </a:solidFill>
                    </a:lnT>
                    <a:lnB w="6350">
                      <a:solidFill>
                        <a:srgbClr val="D6DCE2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  <a:lnSpc>
                          <a:spcPct val="100000"/>
                        </a:lnSpc>
                      </a:pPr>
                      <a:r>
                        <a:rPr sz="1100" b="0">
                          <a:solidFill>
                            <a:srgbClr val="1C242E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2.53×10^6</a:t>
                      </a:r>
                    </a:p>
                  </a:txBody>
                  <a:tcPr marL="54864" marR="54864" marT="27432" marB="18288" anchor="ctr">
                    <a:solidFill>
                      <a:srgbClr val="FFFFFF"/>
                    </a:solidFill>
                    <a:lnL w="6350">
                      <a:solidFill>
                        <a:srgbClr val="D6DCE2"/>
                      </a:solidFill>
                    </a:lnL>
                    <a:lnR w="6350">
                      <a:solidFill>
                        <a:srgbClr val="D6DCE2"/>
                      </a:solidFill>
                    </a:lnR>
                    <a:lnT w="6350">
                      <a:solidFill>
                        <a:srgbClr val="D6DCE2"/>
                      </a:solidFill>
                    </a:lnT>
                    <a:lnB w="6350">
                      <a:solidFill>
                        <a:srgbClr val="D6DCE2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  <a:lnSpc>
                          <a:spcPct val="100000"/>
                        </a:lnSpc>
                      </a:pPr>
                      <a:r>
                        <a:rPr sz="1100" b="0">
                          <a:solidFill>
                            <a:srgbClr val="1C242E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6.05 秒</a:t>
                      </a:r>
                    </a:p>
                  </a:txBody>
                  <a:tcPr marL="54864" marR="54864" marT="27432" marB="18288" anchor="ctr">
                    <a:solidFill>
                      <a:srgbClr val="FFFFFF"/>
                    </a:solidFill>
                    <a:lnL w="6350">
                      <a:solidFill>
                        <a:srgbClr val="D6DCE2"/>
                      </a:solidFill>
                    </a:lnL>
                    <a:lnR w="6350">
                      <a:solidFill>
                        <a:srgbClr val="D6DCE2"/>
                      </a:solidFill>
                    </a:lnR>
                    <a:lnT w="6350">
                      <a:solidFill>
                        <a:srgbClr val="D6DCE2"/>
                      </a:solidFill>
                    </a:lnT>
                    <a:lnB w="6350">
                      <a:solidFill>
                        <a:srgbClr val="D6DCE2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  <a:lnSpc>
                          <a:spcPct val="100000"/>
                        </a:lnSpc>
                      </a:pPr>
                      <a:r>
                        <a:rPr sz="1100" b="0">
                          <a:solidFill>
                            <a:srgbClr val="1C242E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3.95 秒</a:t>
                      </a:r>
                    </a:p>
                  </a:txBody>
                  <a:tcPr marL="54864" marR="54864" marT="27432" marB="18288" anchor="ctr">
                    <a:solidFill>
                      <a:srgbClr val="FFFFFF"/>
                    </a:solidFill>
                    <a:lnL w="6350">
                      <a:solidFill>
                        <a:srgbClr val="D6DCE2"/>
                      </a:solidFill>
                    </a:lnL>
                    <a:lnR w="6350">
                      <a:solidFill>
                        <a:srgbClr val="D6DCE2"/>
                      </a:solidFill>
                    </a:lnR>
                    <a:lnT w="6350">
                      <a:solidFill>
                        <a:srgbClr val="D6DCE2"/>
                      </a:solidFill>
                    </a:lnT>
                    <a:lnB w="6350">
                      <a:solidFill>
                        <a:srgbClr val="D6DCE2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  <a:lnSpc>
                          <a:spcPct val="100000"/>
                        </a:lnSpc>
                      </a:pPr>
                      <a:r>
                        <a:rPr sz="1100" b="0">
                          <a:solidFill>
                            <a:srgbClr val="1C242E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2.86 秒</a:t>
                      </a:r>
                    </a:p>
                  </a:txBody>
                  <a:tcPr marL="54864" marR="54864" marT="27432" marB="18288" anchor="ctr">
                    <a:solidFill>
                      <a:srgbClr val="FFFFFF"/>
                    </a:solidFill>
                    <a:lnL w="6350">
                      <a:solidFill>
                        <a:srgbClr val="D6DCE2"/>
                      </a:solidFill>
                    </a:lnL>
                    <a:lnR w="6350">
                      <a:solidFill>
                        <a:srgbClr val="D6DCE2"/>
                      </a:solidFill>
                    </a:lnR>
                    <a:lnT w="6350">
                      <a:solidFill>
                        <a:srgbClr val="D6DCE2"/>
                      </a:solidFill>
                    </a:lnT>
                    <a:lnB w="6350">
                      <a:solidFill>
                        <a:srgbClr val="D6DCE2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  <a:lnSpc>
                          <a:spcPct val="100000"/>
                        </a:lnSpc>
                      </a:pPr>
                      <a:r>
                        <a:rPr sz="1100" b="0">
                          <a:solidFill>
                            <a:srgbClr val="1C242E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17.2 毫秒</a:t>
                      </a:r>
                    </a:p>
                  </a:txBody>
                  <a:tcPr marL="54864" marR="54864" marT="27432" marB="18288" anchor="ctr">
                    <a:solidFill>
                      <a:srgbClr val="FFFFFF"/>
                    </a:solidFill>
                    <a:lnL w="6350">
                      <a:solidFill>
                        <a:srgbClr val="D6DCE2"/>
                      </a:solidFill>
                    </a:lnL>
                    <a:lnR w="6350">
                      <a:solidFill>
                        <a:srgbClr val="D6DCE2"/>
                      </a:solidFill>
                    </a:lnR>
                    <a:lnT w="6350">
                      <a:solidFill>
                        <a:srgbClr val="D6DCE2"/>
                      </a:solidFill>
                    </a:lnT>
                    <a:lnB w="6350">
                      <a:solidFill>
                        <a:srgbClr val="D6DCE2"/>
                      </a:solidFill>
                    </a:lnB>
                  </a:tcPr>
                </a:tc>
              </a:tr>
              <a:tr h="219456">
                <a:tc>
                  <a:txBody>
                    <a:bodyPr wrap="square"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  <a:lnSpc>
                          <a:spcPct val="100000"/>
                        </a:lnSpc>
                      </a:pPr>
                      <a:r>
                        <a:rPr sz="1100" b="1">
                          <a:solidFill>
                            <a:srgbClr val="0E2A47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32K</a:t>
                      </a:r>
                    </a:p>
                  </a:txBody>
                  <a:tcPr marL="54864" marR="54864" marT="27432" marB="18288" anchor="ctr">
                    <a:solidFill>
                      <a:srgbClr val="F4F7FA"/>
                    </a:solidFill>
                    <a:lnL w="6350">
                      <a:solidFill>
                        <a:srgbClr val="D6DCE2"/>
                      </a:solidFill>
                    </a:lnL>
                    <a:lnR w="6350">
                      <a:solidFill>
                        <a:srgbClr val="D6DCE2"/>
                      </a:solidFill>
                    </a:lnR>
                    <a:lnT w="6350">
                      <a:solidFill>
                        <a:srgbClr val="D6DCE2"/>
                      </a:solidFill>
                    </a:lnT>
                    <a:lnB w="6350">
                      <a:solidFill>
                        <a:srgbClr val="D6DCE2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  <a:lnSpc>
                          <a:spcPct val="100000"/>
                        </a:lnSpc>
                      </a:pPr>
                      <a:r>
                        <a:rPr sz="1100" b="0">
                          <a:solidFill>
                            <a:srgbClr val="1C242E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768</a:t>
                      </a:r>
                    </a:p>
                  </a:txBody>
                  <a:tcPr marL="54864" marR="54864" marT="27432" marB="18288" anchor="ctr">
                    <a:solidFill>
                      <a:srgbClr val="FFFFFF"/>
                    </a:solidFill>
                    <a:lnL w="6350">
                      <a:solidFill>
                        <a:srgbClr val="D6DCE2"/>
                      </a:solidFill>
                    </a:lnL>
                    <a:lnR w="6350">
                      <a:solidFill>
                        <a:srgbClr val="D6DCE2"/>
                      </a:solidFill>
                    </a:lnR>
                    <a:lnT w="6350">
                      <a:solidFill>
                        <a:srgbClr val="D6DCE2"/>
                      </a:solidFill>
                    </a:lnT>
                    <a:lnB w="6350">
                      <a:solidFill>
                        <a:srgbClr val="D6DCE2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  <a:lnSpc>
                          <a:spcPct val="100000"/>
                        </a:lnSpc>
                      </a:pPr>
                      <a:r>
                        <a:rPr sz="1100" b="0">
                          <a:solidFill>
                            <a:srgbClr val="1C242E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6.0</a:t>
                      </a:r>
                    </a:p>
                  </a:txBody>
                  <a:tcPr marL="54864" marR="54864" marT="27432" marB="18288" anchor="ctr">
                    <a:solidFill>
                      <a:srgbClr val="FFFFFF"/>
                    </a:solidFill>
                    <a:lnL w="6350">
                      <a:solidFill>
                        <a:srgbClr val="D6DCE2"/>
                      </a:solidFill>
                    </a:lnL>
                    <a:lnR w="6350">
                      <a:solidFill>
                        <a:srgbClr val="D6DCE2"/>
                      </a:solidFill>
                    </a:lnR>
                    <a:lnT w="6350">
                      <a:solidFill>
                        <a:srgbClr val="D6DCE2"/>
                      </a:solidFill>
                    </a:lnT>
                    <a:lnB w="6350">
                      <a:solidFill>
                        <a:srgbClr val="D6DCE2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  <a:lnSpc>
                          <a:spcPct val="100000"/>
                        </a:lnSpc>
                      </a:pPr>
                      <a:r>
                        <a:rPr sz="1100" b="0">
                          <a:solidFill>
                            <a:srgbClr val="1C242E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2.52×10^6</a:t>
                      </a:r>
                    </a:p>
                  </a:txBody>
                  <a:tcPr marL="54864" marR="54864" marT="27432" marB="18288" anchor="ctr">
                    <a:solidFill>
                      <a:srgbClr val="FFFFFF"/>
                    </a:solidFill>
                    <a:lnL w="6350">
                      <a:solidFill>
                        <a:srgbClr val="D6DCE2"/>
                      </a:solidFill>
                    </a:lnL>
                    <a:lnR w="6350">
                      <a:solidFill>
                        <a:srgbClr val="D6DCE2"/>
                      </a:solidFill>
                    </a:lnR>
                    <a:lnT w="6350">
                      <a:solidFill>
                        <a:srgbClr val="D6DCE2"/>
                      </a:solidFill>
                    </a:lnT>
                    <a:lnB w="6350">
                      <a:solidFill>
                        <a:srgbClr val="D6DCE2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  <a:lnSpc>
                          <a:spcPct val="100000"/>
                        </a:lnSpc>
                      </a:pPr>
                      <a:r>
                        <a:rPr sz="1100" b="0">
                          <a:solidFill>
                            <a:srgbClr val="1C242E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6.02 秒</a:t>
                      </a:r>
                    </a:p>
                  </a:txBody>
                  <a:tcPr marL="54864" marR="54864" marT="27432" marB="18288" anchor="ctr">
                    <a:solidFill>
                      <a:srgbClr val="FFFFFF"/>
                    </a:solidFill>
                    <a:lnL w="6350">
                      <a:solidFill>
                        <a:srgbClr val="D6DCE2"/>
                      </a:solidFill>
                    </a:lnL>
                    <a:lnR w="6350">
                      <a:solidFill>
                        <a:srgbClr val="D6DCE2"/>
                      </a:solidFill>
                    </a:lnR>
                    <a:lnT w="6350">
                      <a:solidFill>
                        <a:srgbClr val="D6DCE2"/>
                      </a:solidFill>
                    </a:lnT>
                    <a:lnB w="6350">
                      <a:solidFill>
                        <a:srgbClr val="D6DCE2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  <a:lnSpc>
                          <a:spcPct val="100000"/>
                        </a:lnSpc>
                      </a:pPr>
                      <a:r>
                        <a:rPr sz="1100" b="0">
                          <a:solidFill>
                            <a:srgbClr val="1C242E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3.93 秒</a:t>
                      </a:r>
                    </a:p>
                  </a:txBody>
                  <a:tcPr marL="54864" marR="54864" marT="27432" marB="18288" anchor="ctr">
                    <a:solidFill>
                      <a:srgbClr val="FFFFFF"/>
                    </a:solidFill>
                    <a:lnL w="6350">
                      <a:solidFill>
                        <a:srgbClr val="D6DCE2"/>
                      </a:solidFill>
                    </a:lnL>
                    <a:lnR w="6350">
                      <a:solidFill>
                        <a:srgbClr val="D6DCE2"/>
                      </a:solidFill>
                    </a:lnR>
                    <a:lnT w="6350">
                      <a:solidFill>
                        <a:srgbClr val="D6DCE2"/>
                      </a:solidFill>
                    </a:lnT>
                    <a:lnB w="6350">
                      <a:solidFill>
                        <a:srgbClr val="D6DCE2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  <a:lnSpc>
                          <a:spcPct val="100000"/>
                        </a:lnSpc>
                      </a:pPr>
                      <a:r>
                        <a:rPr sz="1100" b="0">
                          <a:solidFill>
                            <a:srgbClr val="1C242E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3.10 秒</a:t>
                      </a:r>
                    </a:p>
                  </a:txBody>
                  <a:tcPr marL="54864" marR="54864" marT="27432" marB="18288" anchor="ctr">
                    <a:solidFill>
                      <a:srgbClr val="FFFFFF"/>
                    </a:solidFill>
                    <a:lnL w="6350">
                      <a:solidFill>
                        <a:srgbClr val="D6DCE2"/>
                      </a:solidFill>
                    </a:lnL>
                    <a:lnR w="6350">
                      <a:solidFill>
                        <a:srgbClr val="D6DCE2"/>
                      </a:solidFill>
                    </a:lnR>
                    <a:lnT w="6350">
                      <a:solidFill>
                        <a:srgbClr val="D6DCE2"/>
                      </a:solidFill>
                    </a:lnT>
                    <a:lnB w="6350">
                      <a:solidFill>
                        <a:srgbClr val="D6DCE2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  <a:lnSpc>
                          <a:spcPct val="100000"/>
                        </a:lnSpc>
                      </a:pPr>
                      <a:r>
                        <a:rPr sz="1100" b="0">
                          <a:solidFill>
                            <a:srgbClr val="1C242E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17.1 毫秒</a:t>
                      </a:r>
                    </a:p>
                  </a:txBody>
                  <a:tcPr marL="54864" marR="54864" marT="27432" marB="18288" anchor="ctr">
                    <a:solidFill>
                      <a:srgbClr val="FFFFFF"/>
                    </a:solidFill>
                    <a:lnL w="6350">
                      <a:solidFill>
                        <a:srgbClr val="D6DCE2"/>
                      </a:solidFill>
                    </a:lnL>
                    <a:lnR w="6350">
                      <a:solidFill>
                        <a:srgbClr val="D6DCE2"/>
                      </a:solidFill>
                    </a:lnR>
                    <a:lnT w="6350">
                      <a:solidFill>
                        <a:srgbClr val="D6DCE2"/>
                      </a:solidFill>
                    </a:lnT>
                    <a:lnB w="6350">
                      <a:solidFill>
                        <a:srgbClr val="D6DCE2"/>
                      </a:solidFill>
                    </a:lnB>
                  </a:tcPr>
                </a:tc>
              </a:tr>
              <a:tr h="219456">
                <a:tc>
                  <a:txBody>
                    <a:bodyPr wrap="square"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  <a:lnSpc>
                          <a:spcPct val="100000"/>
                        </a:lnSpc>
                      </a:pPr>
                      <a:r>
                        <a:rPr sz="1100" b="1">
                          <a:solidFill>
                            <a:srgbClr val="0E2A47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128K</a:t>
                      </a:r>
                    </a:p>
                  </a:txBody>
                  <a:tcPr marL="54864" marR="54864" marT="27432" marB="18288" anchor="ctr">
                    <a:solidFill>
                      <a:srgbClr val="F4F7FA"/>
                    </a:solidFill>
                    <a:lnL w="6350">
                      <a:solidFill>
                        <a:srgbClr val="D6DCE2"/>
                      </a:solidFill>
                    </a:lnL>
                    <a:lnR w="6350">
                      <a:solidFill>
                        <a:srgbClr val="D6DCE2"/>
                      </a:solidFill>
                    </a:lnR>
                    <a:lnT w="6350">
                      <a:solidFill>
                        <a:srgbClr val="D6DCE2"/>
                      </a:solidFill>
                    </a:lnT>
                    <a:lnB w="6350">
                      <a:solidFill>
                        <a:srgbClr val="D6DCE2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  <a:lnSpc>
                          <a:spcPct val="100000"/>
                        </a:lnSpc>
                      </a:pPr>
                      <a:r>
                        <a:rPr sz="1100" b="0">
                          <a:solidFill>
                            <a:srgbClr val="1C242E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192</a:t>
                      </a:r>
                    </a:p>
                  </a:txBody>
                  <a:tcPr marL="54864" marR="54864" marT="27432" marB="18288" anchor="ctr">
                    <a:solidFill>
                      <a:srgbClr val="FFFFFF"/>
                    </a:solidFill>
                    <a:lnL w="6350">
                      <a:solidFill>
                        <a:srgbClr val="D6DCE2"/>
                      </a:solidFill>
                    </a:lnL>
                    <a:lnR w="6350">
                      <a:solidFill>
                        <a:srgbClr val="D6DCE2"/>
                      </a:solidFill>
                    </a:lnR>
                    <a:lnT w="6350">
                      <a:solidFill>
                        <a:srgbClr val="D6DCE2"/>
                      </a:solidFill>
                    </a:lnT>
                    <a:lnB w="6350">
                      <a:solidFill>
                        <a:srgbClr val="D6DCE2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  <a:lnSpc>
                          <a:spcPct val="100000"/>
                        </a:lnSpc>
                      </a:pPr>
                      <a:r>
                        <a:rPr sz="1100" b="0">
                          <a:solidFill>
                            <a:srgbClr val="1C242E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1.5</a:t>
                      </a:r>
                    </a:p>
                  </a:txBody>
                  <a:tcPr marL="54864" marR="54864" marT="27432" marB="18288" anchor="ctr">
                    <a:solidFill>
                      <a:srgbClr val="FFFFFF"/>
                    </a:solidFill>
                    <a:lnL w="6350">
                      <a:solidFill>
                        <a:srgbClr val="D6DCE2"/>
                      </a:solidFill>
                    </a:lnL>
                    <a:lnR w="6350">
                      <a:solidFill>
                        <a:srgbClr val="D6DCE2"/>
                      </a:solidFill>
                    </a:lnR>
                    <a:lnT w="6350">
                      <a:solidFill>
                        <a:srgbClr val="D6DCE2"/>
                      </a:solidFill>
                    </a:lnT>
                    <a:lnB w="6350">
                      <a:solidFill>
                        <a:srgbClr val="D6DCE2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  <a:lnSpc>
                          <a:spcPct val="100000"/>
                        </a:lnSpc>
                      </a:pPr>
                      <a:r>
                        <a:rPr sz="1100" b="0">
                          <a:solidFill>
                            <a:srgbClr val="1C242E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2.52×10^6</a:t>
                      </a:r>
                    </a:p>
                  </a:txBody>
                  <a:tcPr marL="54864" marR="54864" marT="27432" marB="18288" anchor="ctr">
                    <a:solidFill>
                      <a:srgbClr val="FFFFFF"/>
                    </a:solidFill>
                    <a:lnL w="6350">
                      <a:solidFill>
                        <a:srgbClr val="D6DCE2"/>
                      </a:solidFill>
                    </a:lnL>
                    <a:lnR w="6350">
                      <a:solidFill>
                        <a:srgbClr val="D6DCE2"/>
                      </a:solidFill>
                    </a:lnR>
                    <a:lnT w="6350">
                      <a:solidFill>
                        <a:srgbClr val="D6DCE2"/>
                      </a:solidFill>
                    </a:lnT>
                    <a:lnB w="6350">
                      <a:solidFill>
                        <a:srgbClr val="D6DCE2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  <a:lnSpc>
                          <a:spcPct val="100000"/>
                        </a:lnSpc>
                      </a:pPr>
                      <a:r>
                        <a:rPr sz="1100" b="0">
                          <a:solidFill>
                            <a:srgbClr val="1C242E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6.02 秒</a:t>
                      </a:r>
                    </a:p>
                  </a:txBody>
                  <a:tcPr marL="54864" marR="54864" marT="27432" marB="18288" anchor="ctr">
                    <a:solidFill>
                      <a:srgbClr val="FFFFFF"/>
                    </a:solidFill>
                    <a:lnL w="6350">
                      <a:solidFill>
                        <a:srgbClr val="D6DCE2"/>
                      </a:solidFill>
                    </a:lnL>
                    <a:lnR w="6350">
                      <a:solidFill>
                        <a:srgbClr val="D6DCE2"/>
                      </a:solidFill>
                    </a:lnR>
                    <a:lnT w="6350">
                      <a:solidFill>
                        <a:srgbClr val="D6DCE2"/>
                      </a:solidFill>
                    </a:lnT>
                    <a:lnB w="6350">
                      <a:solidFill>
                        <a:srgbClr val="D6DCE2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  <a:lnSpc>
                          <a:spcPct val="100000"/>
                        </a:lnSpc>
                      </a:pPr>
                      <a:r>
                        <a:rPr sz="1100" b="0">
                          <a:solidFill>
                            <a:srgbClr val="1C242E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3.93 秒</a:t>
                      </a:r>
                    </a:p>
                  </a:txBody>
                  <a:tcPr marL="54864" marR="54864" marT="27432" marB="18288" anchor="ctr">
                    <a:solidFill>
                      <a:srgbClr val="FFFFFF"/>
                    </a:solidFill>
                    <a:lnL w="6350">
                      <a:solidFill>
                        <a:srgbClr val="D6DCE2"/>
                      </a:solidFill>
                    </a:lnL>
                    <a:lnR w="6350">
                      <a:solidFill>
                        <a:srgbClr val="D6DCE2"/>
                      </a:solidFill>
                    </a:lnR>
                    <a:lnT w="6350">
                      <a:solidFill>
                        <a:srgbClr val="D6DCE2"/>
                      </a:solidFill>
                    </a:lnT>
                    <a:lnB w="6350">
                      <a:solidFill>
                        <a:srgbClr val="D6DCE2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  <a:lnSpc>
                          <a:spcPct val="100000"/>
                        </a:lnSpc>
                      </a:pPr>
                      <a:r>
                        <a:rPr sz="1100" b="0">
                          <a:solidFill>
                            <a:srgbClr val="1C242E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4.10 秒</a:t>
                      </a:r>
                    </a:p>
                  </a:txBody>
                  <a:tcPr marL="54864" marR="54864" marT="27432" marB="18288" anchor="ctr">
                    <a:solidFill>
                      <a:srgbClr val="FFFFFF"/>
                    </a:solidFill>
                    <a:lnL w="6350">
                      <a:solidFill>
                        <a:srgbClr val="D6DCE2"/>
                      </a:solidFill>
                    </a:lnL>
                    <a:lnR w="6350">
                      <a:solidFill>
                        <a:srgbClr val="D6DCE2"/>
                      </a:solidFill>
                    </a:lnR>
                    <a:lnT w="6350">
                      <a:solidFill>
                        <a:srgbClr val="D6DCE2"/>
                      </a:solidFill>
                    </a:lnT>
                    <a:lnB w="6350">
                      <a:solidFill>
                        <a:srgbClr val="D6DCE2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  <a:lnSpc>
                          <a:spcPct val="100000"/>
                        </a:lnSpc>
                      </a:pPr>
                      <a:r>
                        <a:rPr sz="1100" b="0">
                          <a:solidFill>
                            <a:srgbClr val="1C242E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17.1 毫秒</a:t>
                      </a:r>
                    </a:p>
                  </a:txBody>
                  <a:tcPr marL="54864" marR="54864" marT="27432" marB="18288" anchor="ctr">
                    <a:solidFill>
                      <a:srgbClr val="FFFFFF"/>
                    </a:solidFill>
                    <a:lnL w="6350">
                      <a:solidFill>
                        <a:srgbClr val="D6DCE2"/>
                      </a:solidFill>
                    </a:lnL>
                    <a:lnR w="6350">
                      <a:solidFill>
                        <a:srgbClr val="D6DCE2"/>
                      </a:solidFill>
                    </a:lnR>
                    <a:lnT w="6350">
                      <a:solidFill>
                        <a:srgbClr val="D6DCE2"/>
                      </a:solidFill>
                    </a:lnT>
                    <a:lnB w="6350">
                      <a:solidFill>
                        <a:srgbClr val="D6DCE2"/>
                      </a:solidFill>
                    </a:lnB>
                  </a:tcPr>
                </a:tc>
              </a:tr>
              <a:tr h="219456">
                <a:tc>
                  <a:txBody>
                    <a:bodyPr wrap="square"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  <a:lnSpc>
                          <a:spcPct val="100000"/>
                        </a:lnSpc>
                      </a:pPr>
                      <a:r>
                        <a:rPr sz="1100" b="1">
                          <a:solidFill>
                            <a:srgbClr val="0E2A47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256K</a:t>
                      </a:r>
                    </a:p>
                  </a:txBody>
                  <a:tcPr marL="54864" marR="54864" marT="27432" marB="18288" anchor="ctr">
                    <a:solidFill>
                      <a:srgbClr val="F4F7FA"/>
                    </a:solidFill>
                    <a:lnL w="6350">
                      <a:solidFill>
                        <a:srgbClr val="D6DCE2"/>
                      </a:solidFill>
                    </a:lnL>
                    <a:lnR w="6350">
                      <a:solidFill>
                        <a:srgbClr val="D6DCE2"/>
                      </a:solidFill>
                    </a:lnR>
                    <a:lnT w="6350">
                      <a:solidFill>
                        <a:srgbClr val="D6DCE2"/>
                      </a:solidFill>
                    </a:lnT>
                    <a:lnB w="6350">
                      <a:solidFill>
                        <a:srgbClr val="D6DCE2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  <a:lnSpc>
                          <a:spcPct val="100000"/>
                        </a:lnSpc>
                      </a:pPr>
                      <a:r>
                        <a:rPr sz="1100" b="0">
                          <a:solidFill>
                            <a:srgbClr val="1C242E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96</a:t>
                      </a:r>
                    </a:p>
                  </a:txBody>
                  <a:tcPr marL="54864" marR="54864" marT="27432" marB="18288" anchor="ctr">
                    <a:solidFill>
                      <a:srgbClr val="FFFFFF"/>
                    </a:solidFill>
                    <a:lnL w="6350">
                      <a:solidFill>
                        <a:srgbClr val="D6DCE2"/>
                      </a:solidFill>
                    </a:lnL>
                    <a:lnR w="6350">
                      <a:solidFill>
                        <a:srgbClr val="D6DCE2"/>
                      </a:solidFill>
                    </a:lnR>
                    <a:lnT w="6350">
                      <a:solidFill>
                        <a:srgbClr val="D6DCE2"/>
                      </a:solidFill>
                    </a:lnT>
                    <a:lnB w="6350">
                      <a:solidFill>
                        <a:srgbClr val="D6DCE2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  <a:lnSpc>
                          <a:spcPct val="100000"/>
                        </a:lnSpc>
                      </a:pPr>
                      <a:r>
                        <a:rPr sz="1100" b="0">
                          <a:solidFill>
                            <a:srgbClr val="1C242E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0.75</a:t>
                      </a:r>
                    </a:p>
                  </a:txBody>
                  <a:tcPr marL="54864" marR="54864" marT="27432" marB="18288" anchor="ctr">
                    <a:solidFill>
                      <a:srgbClr val="FFFFFF"/>
                    </a:solidFill>
                    <a:lnL w="6350">
                      <a:solidFill>
                        <a:srgbClr val="D6DCE2"/>
                      </a:solidFill>
                    </a:lnL>
                    <a:lnR w="6350">
                      <a:solidFill>
                        <a:srgbClr val="D6DCE2"/>
                      </a:solidFill>
                    </a:lnR>
                    <a:lnT w="6350">
                      <a:solidFill>
                        <a:srgbClr val="D6DCE2"/>
                      </a:solidFill>
                    </a:lnT>
                    <a:lnB w="6350">
                      <a:solidFill>
                        <a:srgbClr val="D6DCE2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  <a:lnSpc>
                          <a:spcPct val="100000"/>
                        </a:lnSpc>
                      </a:pPr>
                      <a:r>
                        <a:rPr sz="1100" b="0">
                          <a:solidFill>
                            <a:srgbClr val="1C242E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2.52×10^6</a:t>
                      </a:r>
                    </a:p>
                  </a:txBody>
                  <a:tcPr marL="54864" marR="54864" marT="27432" marB="18288" anchor="ctr">
                    <a:solidFill>
                      <a:srgbClr val="FFFFFF"/>
                    </a:solidFill>
                    <a:lnL w="6350">
                      <a:solidFill>
                        <a:srgbClr val="D6DCE2"/>
                      </a:solidFill>
                    </a:lnL>
                    <a:lnR w="6350">
                      <a:solidFill>
                        <a:srgbClr val="D6DCE2"/>
                      </a:solidFill>
                    </a:lnR>
                    <a:lnT w="6350">
                      <a:solidFill>
                        <a:srgbClr val="D6DCE2"/>
                      </a:solidFill>
                    </a:lnT>
                    <a:lnB w="6350">
                      <a:solidFill>
                        <a:srgbClr val="D6DCE2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  <a:lnSpc>
                          <a:spcPct val="100000"/>
                        </a:lnSpc>
                      </a:pPr>
                      <a:r>
                        <a:rPr sz="1100" b="0">
                          <a:solidFill>
                            <a:srgbClr val="1C242E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6.02 秒</a:t>
                      </a:r>
                    </a:p>
                  </a:txBody>
                  <a:tcPr marL="54864" marR="54864" marT="27432" marB="18288" anchor="ctr">
                    <a:solidFill>
                      <a:srgbClr val="FFFFFF"/>
                    </a:solidFill>
                    <a:lnL w="6350">
                      <a:solidFill>
                        <a:srgbClr val="D6DCE2"/>
                      </a:solidFill>
                    </a:lnL>
                    <a:lnR w="6350">
                      <a:solidFill>
                        <a:srgbClr val="D6DCE2"/>
                      </a:solidFill>
                    </a:lnR>
                    <a:lnT w="6350">
                      <a:solidFill>
                        <a:srgbClr val="D6DCE2"/>
                      </a:solidFill>
                    </a:lnT>
                    <a:lnB w="6350">
                      <a:solidFill>
                        <a:srgbClr val="D6DCE2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  <a:lnSpc>
                          <a:spcPct val="100000"/>
                        </a:lnSpc>
                      </a:pPr>
                      <a:r>
                        <a:rPr sz="1100" b="0">
                          <a:solidFill>
                            <a:srgbClr val="1C242E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3.93 秒</a:t>
                      </a:r>
                    </a:p>
                  </a:txBody>
                  <a:tcPr marL="54864" marR="54864" marT="27432" marB="18288" anchor="ctr">
                    <a:solidFill>
                      <a:srgbClr val="FFFFFF"/>
                    </a:solidFill>
                    <a:lnL w="6350">
                      <a:solidFill>
                        <a:srgbClr val="D6DCE2"/>
                      </a:solidFill>
                    </a:lnL>
                    <a:lnR w="6350">
                      <a:solidFill>
                        <a:srgbClr val="D6DCE2"/>
                      </a:solidFill>
                    </a:lnR>
                    <a:lnT w="6350">
                      <a:solidFill>
                        <a:srgbClr val="D6DCE2"/>
                      </a:solidFill>
                    </a:lnT>
                    <a:lnB w="6350">
                      <a:solidFill>
                        <a:srgbClr val="D6DCE2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  <a:lnSpc>
                          <a:spcPct val="100000"/>
                        </a:lnSpc>
                      </a:pPr>
                      <a:r>
                        <a:rPr sz="1100" b="0">
                          <a:solidFill>
                            <a:srgbClr val="1C242E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5.44 秒</a:t>
                      </a:r>
                    </a:p>
                  </a:txBody>
                  <a:tcPr marL="54864" marR="54864" marT="27432" marB="18288" anchor="ctr">
                    <a:solidFill>
                      <a:srgbClr val="FFFFFF"/>
                    </a:solidFill>
                    <a:lnL w="6350">
                      <a:solidFill>
                        <a:srgbClr val="D6DCE2"/>
                      </a:solidFill>
                    </a:lnL>
                    <a:lnR w="6350">
                      <a:solidFill>
                        <a:srgbClr val="D6DCE2"/>
                      </a:solidFill>
                    </a:lnR>
                    <a:lnT w="6350">
                      <a:solidFill>
                        <a:srgbClr val="D6DCE2"/>
                      </a:solidFill>
                    </a:lnT>
                    <a:lnB w="6350">
                      <a:solidFill>
                        <a:srgbClr val="D6DCE2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  <a:lnSpc>
                          <a:spcPct val="100000"/>
                        </a:lnSpc>
                      </a:pPr>
                      <a:r>
                        <a:rPr sz="1100" b="0">
                          <a:solidFill>
                            <a:srgbClr val="1C242E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17.1 毫秒</a:t>
                      </a:r>
                    </a:p>
                  </a:txBody>
                  <a:tcPr marL="54864" marR="54864" marT="27432" marB="18288" anchor="ctr">
                    <a:solidFill>
                      <a:srgbClr val="FFFFFF"/>
                    </a:solidFill>
                    <a:lnL w="6350">
                      <a:solidFill>
                        <a:srgbClr val="D6DCE2"/>
                      </a:solidFill>
                    </a:lnL>
                    <a:lnR w="6350">
                      <a:solidFill>
                        <a:srgbClr val="D6DCE2"/>
                      </a:solidFill>
                    </a:lnR>
                    <a:lnT w="6350">
                      <a:solidFill>
                        <a:srgbClr val="D6DCE2"/>
                      </a:solidFill>
                    </a:lnT>
                    <a:lnB w="6350">
                      <a:solidFill>
                        <a:srgbClr val="D6DCE2"/>
                      </a:solidFill>
                    </a:lnB>
                  </a:tcPr>
                </a:tc>
              </a:tr>
              <a:tr h="219456">
                <a:tc>
                  <a:txBody>
                    <a:bodyPr wrap="square"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  <a:lnSpc>
                          <a:spcPct val="100000"/>
                        </a:lnSpc>
                      </a:pPr>
                      <a:r>
                        <a:rPr sz="1100" b="1">
                          <a:solidFill>
                            <a:srgbClr val="0E2A47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512K</a:t>
                      </a:r>
                    </a:p>
                  </a:txBody>
                  <a:tcPr marL="54864" marR="54864" marT="27432" marB="18288" anchor="ctr">
                    <a:solidFill>
                      <a:srgbClr val="F4F7FA"/>
                    </a:solidFill>
                    <a:lnL w="6350">
                      <a:solidFill>
                        <a:srgbClr val="D6DCE2"/>
                      </a:solidFill>
                    </a:lnL>
                    <a:lnR w="6350">
                      <a:solidFill>
                        <a:srgbClr val="D6DCE2"/>
                      </a:solidFill>
                    </a:lnR>
                    <a:lnT w="6350">
                      <a:solidFill>
                        <a:srgbClr val="D6DCE2"/>
                      </a:solidFill>
                    </a:lnT>
                    <a:lnB w="6350">
                      <a:solidFill>
                        <a:srgbClr val="D6DCE2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  <a:lnSpc>
                          <a:spcPct val="100000"/>
                        </a:lnSpc>
                      </a:pPr>
                      <a:r>
                        <a:rPr sz="1100" b="0">
                          <a:solidFill>
                            <a:srgbClr val="1C242E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32</a:t>
                      </a:r>
                    </a:p>
                  </a:txBody>
                  <a:tcPr marL="54864" marR="54864" marT="27432" marB="18288" anchor="ctr">
                    <a:solidFill>
                      <a:srgbClr val="FFFFFF"/>
                    </a:solidFill>
                    <a:lnL w="6350">
                      <a:solidFill>
                        <a:srgbClr val="D6DCE2"/>
                      </a:solidFill>
                    </a:lnL>
                    <a:lnR w="6350">
                      <a:solidFill>
                        <a:srgbClr val="D6DCE2"/>
                      </a:solidFill>
                    </a:lnR>
                    <a:lnT w="6350">
                      <a:solidFill>
                        <a:srgbClr val="D6DCE2"/>
                      </a:solidFill>
                    </a:lnT>
                    <a:lnB w="6350">
                      <a:solidFill>
                        <a:srgbClr val="D6DCE2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  <a:lnSpc>
                          <a:spcPct val="100000"/>
                        </a:lnSpc>
                      </a:pPr>
                      <a:r>
                        <a:rPr sz="1100" b="0">
                          <a:solidFill>
                            <a:srgbClr val="1C242E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0.25</a:t>
                      </a:r>
                    </a:p>
                  </a:txBody>
                  <a:tcPr marL="54864" marR="54864" marT="27432" marB="18288" anchor="ctr">
                    <a:solidFill>
                      <a:srgbClr val="FFFFFF"/>
                    </a:solidFill>
                    <a:lnL w="6350">
                      <a:solidFill>
                        <a:srgbClr val="D6DCE2"/>
                      </a:solidFill>
                    </a:lnL>
                    <a:lnR w="6350">
                      <a:solidFill>
                        <a:srgbClr val="D6DCE2"/>
                      </a:solidFill>
                    </a:lnR>
                    <a:lnT w="6350">
                      <a:solidFill>
                        <a:srgbClr val="D6DCE2"/>
                      </a:solidFill>
                    </a:lnT>
                    <a:lnB w="6350">
                      <a:solidFill>
                        <a:srgbClr val="D6DCE2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  <a:lnSpc>
                          <a:spcPct val="100000"/>
                        </a:lnSpc>
                      </a:pPr>
                      <a:r>
                        <a:rPr sz="1100" b="0">
                          <a:solidFill>
                            <a:srgbClr val="1C242E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1.68×10^6</a:t>
                      </a:r>
                    </a:p>
                  </a:txBody>
                  <a:tcPr marL="54864" marR="54864" marT="27432" marB="18288" anchor="ctr">
                    <a:solidFill>
                      <a:srgbClr val="FFFFFF"/>
                    </a:solidFill>
                    <a:lnL w="6350">
                      <a:solidFill>
                        <a:srgbClr val="D6DCE2"/>
                      </a:solidFill>
                    </a:lnL>
                    <a:lnR w="6350">
                      <a:solidFill>
                        <a:srgbClr val="D6DCE2"/>
                      </a:solidFill>
                    </a:lnR>
                    <a:lnT w="6350">
                      <a:solidFill>
                        <a:srgbClr val="D6DCE2"/>
                      </a:solidFill>
                    </a:lnT>
                    <a:lnB w="6350">
                      <a:solidFill>
                        <a:srgbClr val="D6DCE2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  <a:lnSpc>
                          <a:spcPct val="100000"/>
                        </a:lnSpc>
                      </a:pPr>
                      <a:r>
                        <a:rPr sz="1100" b="0">
                          <a:solidFill>
                            <a:srgbClr val="1C242E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4.01 秒</a:t>
                      </a:r>
                    </a:p>
                  </a:txBody>
                  <a:tcPr marL="54864" marR="54864" marT="27432" marB="18288" anchor="ctr">
                    <a:solidFill>
                      <a:srgbClr val="FFFFFF"/>
                    </a:solidFill>
                    <a:lnL w="6350">
                      <a:solidFill>
                        <a:srgbClr val="D6DCE2"/>
                      </a:solidFill>
                    </a:lnL>
                    <a:lnR w="6350">
                      <a:solidFill>
                        <a:srgbClr val="D6DCE2"/>
                      </a:solidFill>
                    </a:lnR>
                    <a:lnT w="6350">
                      <a:solidFill>
                        <a:srgbClr val="D6DCE2"/>
                      </a:solidFill>
                    </a:lnT>
                    <a:lnB w="6350">
                      <a:solidFill>
                        <a:srgbClr val="D6DCE2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  <a:lnSpc>
                          <a:spcPct val="100000"/>
                        </a:lnSpc>
                      </a:pPr>
                      <a:r>
                        <a:rPr sz="1100" b="0">
                          <a:solidFill>
                            <a:srgbClr val="1C242E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2.62 秒</a:t>
                      </a:r>
                    </a:p>
                  </a:txBody>
                  <a:tcPr marL="54864" marR="54864" marT="27432" marB="18288" anchor="ctr">
                    <a:solidFill>
                      <a:srgbClr val="FFFFFF"/>
                    </a:solidFill>
                    <a:lnL w="6350">
                      <a:solidFill>
                        <a:srgbClr val="D6DCE2"/>
                      </a:solidFill>
                    </a:lnL>
                    <a:lnR w="6350">
                      <a:solidFill>
                        <a:srgbClr val="D6DCE2"/>
                      </a:solidFill>
                    </a:lnR>
                    <a:lnT w="6350">
                      <a:solidFill>
                        <a:srgbClr val="D6DCE2"/>
                      </a:solidFill>
                    </a:lnT>
                    <a:lnB w="6350">
                      <a:solidFill>
                        <a:srgbClr val="D6DCE2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  <a:lnSpc>
                          <a:spcPct val="100000"/>
                        </a:lnSpc>
                      </a:pPr>
                      <a:r>
                        <a:rPr sz="1100" b="0">
                          <a:solidFill>
                            <a:srgbClr val="1C242E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5.42 秒</a:t>
                      </a:r>
                    </a:p>
                  </a:txBody>
                  <a:tcPr marL="54864" marR="54864" marT="27432" marB="18288" anchor="ctr">
                    <a:solidFill>
                      <a:srgbClr val="FFFFFF"/>
                    </a:solidFill>
                    <a:lnL w="6350">
                      <a:solidFill>
                        <a:srgbClr val="D6DCE2"/>
                      </a:solidFill>
                    </a:lnL>
                    <a:lnR w="6350">
                      <a:solidFill>
                        <a:srgbClr val="D6DCE2"/>
                      </a:solidFill>
                    </a:lnR>
                    <a:lnT w="6350">
                      <a:solidFill>
                        <a:srgbClr val="D6DCE2"/>
                      </a:solidFill>
                    </a:lnT>
                    <a:lnB w="6350">
                      <a:solidFill>
                        <a:srgbClr val="D6DCE2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  <a:lnSpc>
                          <a:spcPct val="100000"/>
                        </a:lnSpc>
                      </a:pPr>
                      <a:r>
                        <a:rPr sz="1100" b="0">
                          <a:solidFill>
                            <a:srgbClr val="1C242E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11.4 毫秒</a:t>
                      </a:r>
                    </a:p>
                  </a:txBody>
                  <a:tcPr marL="54864" marR="54864" marT="27432" marB="18288" anchor="ctr">
                    <a:solidFill>
                      <a:srgbClr val="FFFFFF"/>
                    </a:solidFill>
                    <a:lnL w="6350">
                      <a:solidFill>
                        <a:srgbClr val="D6DCE2"/>
                      </a:solidFill>
                    </a:lnL>
                    <a:lnR w="6350">
                      <a:solidFill>
                        <a:srgbClr val="D6DCE2"/>
                      </a:solidFill>
                    </a:lnR>
                    <a:lnT w="6350">
                      <a:solidFill>
                        <a:srgbClr val="D6DCE2"/>
                      </a:solidFill>
                    </a:lnT>
                    <a:lnB w="6350">
                      <a:solidFill>
                        <a:srgbClr val="D6DCE2"/>
                      </a:solidFill>
                    </a:lnB>
                  </a:tcPr>
                </a:tc>
              </a:tr>
              <a:tr h="219456">
                <a:tc>
                  <a:txBody>
                    <a:bodyPr wrap="square"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  <a:lnSpc>
                          <a:spcPct val="100000"/>
                        </a:lnSpc>
                      </a:pPr>
                      <a:r>
                        <a:rPr sz="1100" b="1">
                          <a:solidFill>
                            <a:srgbClr val="0E7A76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1M</a:t>
                      </a:r>
                    </a:p>
                  </a:txBody>
                  <a:tcPr marL="54864" marR="54864" marT="27432" marB="18288" anchor="ctr">
                    <a:solidFill>
                      <a:srgbClr val="F4F7FA"/>
                    </a:solidFill>
                    <a:lnL w="6350">
                      <a:solidFill>
                        <a:srgbClr val="D6DCE2"/>
                      </a:solidFill>
                    </a:lnL>
                    <a:lnR w="6350">
                      <a:solidFill>
                        <a:srgbClr val="D6DCE2"/>
                      </a:solidFill>
                    </a:lnR>
                    <a:lnT w="6350">
                      <a:solidFill>
                        <a:srgbClr val="D6DCE2"/>
                      </a:solidFill>
                    </a:lnT>
                    <a:lnB w="6350">
                      <a:solidFill>
                        <a:srgbClr val="D6DCE2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  <a:lnSpc>
                          <a:spcPct val="100000"/>
                        </a:lnSpc>
                      </a:pPr>
                      <a:r>
                        <a:rPr sz="1100" b="1">
                          <a:solidFill>
                            <a:srgbClr val="0E7A76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6</a:t>
                      </a:r>
                    </a:p>
                  </a:txBody>
                  <a:tcPr marL="54864" marR="54864" marT="27432" marB="18288" anchor="ctr">
                    <a:solidFill>
                      <a:srgbClr val="E7F3F2"/>
                    </a:solidFill>
                    <a:lnL w="6350">
                      <a:solidFill>
                        <a:srgbClr val="D6DCE2"/>
                      </a:solidFill>
                    </a:lnL>
                    <a:lnR w="6350">
                      <a:solidFill>
                        <a:srgbClr val="D6DCE2"/>
                      </a:solidFill>
                    </a:lnR>
                    <a:lnT w="6350">
                      <a:solidFill>
                        <a:srgbClr val="D6DCE2"/>
                      </a:solidFill>
                    </a:lnT>
                    <a:lnB w="6350">
                      <a:solidFill>
                        <a:srgbClr val="D6DCE2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  <a:lnSpc>
                          <a:spcPct val="100000"/>
                        </a:lnSpc>
                      </a:pPr>
                      <a:r>
                        <a:rPr sz="1100" b="1">
                          <a:solidFill>
                            <a:srgbClr val="0E7A76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0.05</a:t>
                      </a:r>
                    </a:p>
                  </a:txBody>
                  <a:tcPr marL="54864" marR="54864" marT="27432" marB="18288" anchor="ctr">
                    <a:solidFill>
                      <a:srgbClr val="E7F3F2"/>
                    </a:solidFill>
                    <a:lnL w="6350">
                      <a:solidFill>
                        <a:srgbClr val="D6DCE2"/>
                      </a:solidFill>
                    </a:lnL>
                    <a:lnR w="6350">
                      <a:solidFill>
                        <a:srgbClr val="D6DCE2"/>
                      </a:solidFill>
                    </a:lnR>
                    <a:lnT w="6350">
                      <a:solidFill>
                        <a:srgbClr val="D6DCE2"/>
                      </a:solidFill>
                    </a:lnT>
                    <a:lnB w="6350">
                      <a:solidFill>
                        <a:srgbClr val="D6DCE2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  <a:lnSpc>
                          <a:spcPct val="100000"/>
                        </a:lnSpc>
                      </a:pPr>
                      <a:r>
                        <a:rPr sz="1100" b="1">
                          <a:solidFill>
                            <a:srgbClr val="0E7A76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629.1×10^3</a:t>
                      </a:r>
                    </a:p>
                  </a:txBody>
                  <a:tcPr marL="54864" marR="54864" marT="27432" marB="18288" anchor="ctr">
                    <a:solidFill>
                      <a:srgbClr val="E7F3F2"/>
                    </a:solidFill>
                    <a:lnL w="6350">
                      <a:solidFill>
                        <a:srgbClr val="D6DCE2"/>
                      </a:solidFill>
                    </a:lnL>
                    <a:lnR w="6350">
                      <a:solidFill>
                        <a:srgbClr val="D6DCE2"/>
                      </a:solidFill>
                    </a:lnR>
                    <a:lnT w="6350">
                      <a:solidFill>
                        <a:srgbClr val="D6DCE2"/>
                      </a:solidFill>
                    </a:lnT>
                    <a:lnB w="6350">
                      <a:solidFill>
                        <a:srgbClr val="D6DCE2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  <a:lnSpc>
                          <a:spcPct val="100000"/>
                        </a:lnSpc>
                      </a:pPr>
                      <a:r>
                        <a:rPr sz="1100" b="1">
                          <a:solidFill>
                            <a:srgbClr val="0E7A76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4.01 秒</a:t>
                      </a:r>
                    </a:p>
                  </a:txBody>
                  <a:tcPr marL="54864" marR="54864" marT="27432" marB="18288" anchor="ctr">
                    <a:solidFill>
                      <a:srgbClr val="E7F3F2"/>
                    </a:solidFill>
                    <a:lnL w="6350">
                      <a:solidFill>
                        <a:srgbClr val="D6DCE2"/>
                      </a:solidFill>
                    </a:lnL>
                    <a:lnR w="6350">
                      <a:solidFill>
                        <a:srgbClr val="D6DCE2"/>
                      </a:solidFill>
                    </a:lnR>
                    <a:lnT w="6350">
                      <a:solidFill>
                        <a:srgbClr val="D6DCE2"/>
                      </a:solidFill>
                    </a:lnT>
                    <a:lnB w="6350">
                      <a:solidFill>
                        <a:srgbClr val="D6DCE2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  <a:lnSpc>
                          <a:spcPct val="100000"/>
                        </a:lnSpc>
                      </a:pPr>
                      <a:r>
                        <a:rPr sz="1100" b="1">
                          <a:solidFill>
                            <a:srgbClr val="0E7A76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0.99 秒</a:t>
                      </a:r>
                    </a:p>
                  </a:txBody>
                  <a:tcPr marL="54864" marR="54864" marT="27432" marB="18288" anchor="ctr">
                    <a:solidFill>
                      <a:srgbClr val="E7F3F2"/>
                    </a:solidFill>
                    <a:lnL w="6350">
                      <a:solidFill>
                        <a:srgbClr val="D6DCE2"/>
                      </a:solidFill>
                    </a:lnL>
                    <a:lnR w="6350">
                      <a:solidFill>
                        <a:srgbClr val="D6DCE2"/>
                      </a:solidFill>
                    </a:lnR>
                    <a:lnT w="6350">
                      <a:solidFill>
                        <a:srgbClr val="D6DCE2"/>
                      </a:solidFill>
                    </a:lnT>
                    <a:lnB w="6350">
                      <a:solidFill>
                        <a:srgbClr val="D6DCE2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  <a:lnSpc>
                          <a:spcPct val="100000"/>
                        </a:lnSpc>
                      </a:pPr>
                      <a:r>
                        <a:rPr sz="1100" b="1">
                          <a:solidFill>
                            <a:srgbClr val="0E7A76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8.99 秒</a:t>
                      </a:r>
                    </a:p>
                  </a:txBody>
                  <a:tcPr marL="54864" marR="54864" marT="27432" marB="18288" anchor="ctr">
                    <a:solidFill>
                      <a:srgbClr val="E7F3F2"/>
                    </a:solidFill>
                    <a:lnL w="6350">
                      <a:solidFill>
                        <a:srgbClr val="D6DCE2"/>
                      </a:solidFill>
                    </a:lnL>
                    <a:lnR w="6350">
                      <a:solidFill>
                        <a:srgbClr val="D6DCE2"/>
                      </a:solidFill>
                    </a:lnR>
                    <a:lnT w="6350">
                      <a:solidFill>
                        <a:srgbClr val="D6DCE2"/>
                      </a:solidFill>
                    </a:lnT>
                    <a:lnB w="6350">
                      <a:solidFill>
                        <a:srgbClr val="D6DCE2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  <a:lnSpc>
                          <a:spcPct val="100000"/>
                        </a:lnSpc>
                      </a:pPr>
                      <a:r>
                        <a:rPr sz="1100" b="1">
                          <a:solidFill>
                            <a:srgbClr val="0E7A76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11.4 毫秒</a:t>
                      </a:r>
                    </a:p>
                  </a:txBody>
                  <a:tcPr marL="54864" marR="54864" marT="27432" marB="18288" anchor="ctr">
                    <a:solidFill>
                      <a:srgbClr val="E7F3F2"/>
                    </a:solidFill>
                    <a:lnL w="6350">
                      <a:solidFill>
                        <a:srgbClr val="D6DCE2"/>
                      </a:solidFill>
                    </a:lnL>
                    <a:lnR w="6350">
                      <a:solidFill>
                        <a:srgbClr val="D6DCE2"/>
                      </a:solidFill>
                    </a:lnR>
                    <a:lnT w="6350">
                      <a:solidFill>
                        <a:srgbClr val="D6DCE2"/>
                      </a:solidFill>
                    </a:lnT>
                    <a:lnB w="6350">
                      <a:solidFill>
                        <a:srgbClr val="D6DCE2"/>
                      </a:solidFill>
                    </a:lnB>
                  </a:tcPr>
                </a:tc>
              </a:tr>
            </a:tbl>
          </a:graphicData>
        </a:graphic>
      </p:graphicFrame>
      <p:sp>
        <p:nvSpPr>
          <p:cNvPr id="14" name="TextBox 13"/>
          <p:cNvSpPr txBox="1"/>
          <p:nvPr/>
        </p:nvSpPr>
        <p:spPr>
          <a:xfrm>
            <a:off x="384048" y="6089904"/>
            <a:ext cx="11430000" cy="256032"/>
          </a:xfrm>
          <a:prstGeom prst="rect">
            <a:avLst/>
          </a:prstGeom>
          <a:noFill/>
        </p:spPr>
        <p:txBody>
          <a:bodyPr wrap="square" lIns="0" rIns="0" tIns="0" bIns="0" anchor="ctr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300" b="0">
                <a:solidFill>
                  <a:srgbClr val="5A636E"/>
                </a:solidFill>
                <a:latin typeface="Microsoft YaHei"/>
                <a:ea typeface="Microsoft YaHei"/>
                <a:cs typeface="Microsoft YaHei"/>
              </a:rPr>
              <a:t>90% prefix 走 H2D：4K 这一批拉取 17.2 毫秒，1M 拉取 11.4 毫秒；均短于 Attention 主瓶颈。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145A9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84048" y="146304"/>
            <a:ext cx="9692640" cy="256032"/>
          </a:xfrm>
          <a:prstGeom prst="rect">
            <a:avLst/>
          </a:prstGeom>
          <a:noFill/>
        </p:spPr>
        <p:txBody>
          <a:bodyPr wrap="square" lIns="0" rIns="0" tIns="0" bIns="0" anchor="ctr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200" b="1">
                <a:solidFill>
                  <a:srgbClr val="145A96"/>
                </a:solidFill>
                <a:latin typeface="Microsoft YaHei"/>
                <a:ea typeface="Microsoft YaHei"/>
                <a:cs typeface="Microsoft YaHei"/>
              </a:rPr>
              <a:t>Decode    ·    TPOT ≤ 10 毫秒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84048" y="384048"/>
            <a:ext cx="11430000" cy="384048"/>
          </a:xfrm>
          <a:prstGeom prst="rect">
            <a:avLst/>
          </a:prstGeom>
          <a:noFill/>
        </p:spPr>
        <p:txBody>
          <a:bodyPr wrap="square" lIns="0" rIns="0" tIns="0" bIns="0" anchor="ctr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600" b="1">
                <a:solidFill>
                  <a:srgbClr val="0E2A47"/>
                </a:solidFill>
                <a:latin typeface="Microsoft YaHei"/>
                <a:ea typeface="Microsoft YaHei"/>
                <a:cs typeface="Microsoft YaHei"/>
              </a:rPr>
              <a:t>10 毫秒、短输入，全局批 201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424160" y="164592"/>
            <a:ext cx="1371600" cy="237744"/>
          </a:xfrm>
          <a:prstGeom prst="rect">
            <a:avLst/>
          </a:prstGeom>
          <a:noFill/>
        </p:spPr>
        <p:txBody>
          <a:bodyPr wrap="square" lIns="0" rIns="0" tIns="0" bIns="0" anchor="ctr"/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1200" b="0">
                <a:solidFill>
                  <a:srgbClr val="5A636E"/>
                </a:solidFill>
                <a:latin typeface="Microsoft YaHei"/>
                <a:ea typeface="Microsoft YaHei"/>
                <a:cs typeface="Microsoft YaHei"/>
              </a:rPr>
              <a:t>4  /  11</a:t>
            </a:r>
          </a:p>
        </p:txBody>
      </p:sp>
      <p:sp>
        <p:nvSpPr>
          <p:cNvPr id="6" name="Rectangle 5"/>
          <p:cNvSpPr/>
          <p:nvPr/>
        </p:nvSpPr>
        <p:spPr>
          <a:xfrm>
            <a:off x="384048" y="6565392"/>
            <a:ext cx="11430000" cy="9144"/>
          </a:xfrm>
          <a:prstGeom prst="rect">
            <a:avLst/>
          </a:prstGeom>
          <a:solidFill>
            <a:srgbClr val="D6DCE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384048" y="6583680"/>
            <a:ext cx="11430000" cy="219456"/>
          </a:xfrm>
          <a:prstGeom prst="rect">
            <a:avLst/>
          </a:prstGeom>
          <a:noFill/>
        </p:spPr>
        <p:txBody>
          <a:bodyPr wrap="square" lIns="0" rIns="0" tIns="0" bIns="0" anchor="ctr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5A636E"/>
                </a:solidFill>
                <a:latin typeface="Microsoft YaHei"/>
                <a:ea typeface="Microsoft YaHei"/>
                <a:cs typeface="Microsoft YaHei"/>
              </a:rPr>
              <a:t>10T 为外推    ·    96 GB / 486 T、一份 128 卡副本    ·    访存与通信 80%    ·    计算 70%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384048" y="841248"/>
            <a:ext cx="11430000" cy="420624"/>
          </a:xfrm>
          <a:prstGeom prst="roundRect">
            <a:avLst/>
          </a:prstGeom>
          <a:solidFill>
            <a:srgbClr val="E7F3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530352" y="841248"/>
            <a:ext cx="11137392" cy="420624"/>
          </a:xfrm>
          <a:prstGeom prst="rect">
            <a:avLst/>
          </a:prstGeom>
          <a:noFill/>
        </p:spPr>
        <p:txBody>
          <a:bodyPr wrap="square" lIns="0" rIns="0" tIns="0" bIns="0" anchor="ctr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400" b="1">
                <a:solidFill>
                  <a:srgbClr val="0E7A76"/>
                </a:solidFill>
                <a:latin typeface="Microsoft YaHei"/>
                <a:ea typeface="Microsoft YaHei"/>
                <a:cs typeface="Microsoft YaHei"/>
              </a:rPr>
              <a:t>读专家 8.65 毫秒，只醒了 11.7 个。机内 allreduce 0.50 毫秒。专家 GEMM 4.83 毫秒。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84048" y="1335024"/>
            <a:ext cx="5486400" cy="219456"/>
          </a:xfrm>
          <a:prstGeom prst="rect">
            <a:avLst/>
          </a:prstGeom>
          <a:noFill/>
        </p:spPr>
        <p:txBody>
          <a:bodyPr wrap="square" lIns="0" rIns="0" tIns="0" bIns="0" anchor="ctr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300" b="1">
                <a:solidFill>
                  <a:srgbClr val="145A96"/>
                </a:solidFill>
                <a:latin typeface="Microsoft YaHei"/>
                <a:ea typeface="Microsoft YaHei"/>
                <a:cs typeface="Microsoft YaHei"/>
              </a:rPr>
              <a:t>并行策略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537960" y="1335024"/>
            <a:ext cx="5212080" cy="219456"/>
          </a:xfrm>
          <a:prstGeom prst="rect">
            <a:avLst/>
          </a:prstGeom>
          <a:noFill/>
        </p:spPr>
        <p:txBody>
          <a:bodyPr wrap="square" lIns="0" rIns="0" tIns="0" bIns="0" anchor="ctr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300" b="1">
                <a:solidFill>
                  <a:srgbClr val="145A96"/>
                </a:solidFill>
                <a:latin typeface="Microsoft YaHei"/>
                <a:ea typeface="Microsoft YaHei"/>
                <a:cs typeface="Microsoft YaHei"/>
              </a:rPr>
              <a:t>短输入（4K）这一步怎么加到 10 毫秒</a:t>
            </a:r>
          </a:p>
        </p:txBody>
      </p:sp>
      <p:graphicFrame>
        <p:nvGraphicFramePr>
          <p:cNvPr id="12" name="Table 11"/>
          <p:cNvGraphicFramePr>
            <a:graphicFrameLocks noGrp="1"/>
          </p:cNvGraphicFramePr>
          <p:nvPr/>
        </p:nvGraphicFramePr>
        <p:xfrm>
          <a:off x="384048" y="1627632"/>
          <a:ext cx="5852160" cy="2414016"/>
        </p:xfrm>
        <a:graphic>
          <a:graphicData uri="http://schemas.openxmlformats.org/drawingml/2006/table">
            <a:tbl>
              <a:tblPr firstRow="1"/>
              <a:tblGrid>
                <a:gridCol w="1051560"/>
                <a:gridCol w="2331720"/>
                <a:gridCol w="2468880"/>
              </a:tblGrid>
              <a:tr h="256032">
                <a:tc>
                  <a:txBody>
                    <a:bodyPr wrap="square"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  <a:lnSpc>
                          <a:spcPct val="100000"/>
                        </a:lnSpc>
                      </a:pPr>
                      <a:r>
                        <a:rPr sz="1200" b="1">
                          <a:solidFill>
                            <a:srgbClr val="FFFFFF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/>
                      </a:r>
                    </a:p>
                  </a:txBody>
                  <a:tcPr marL="54864" marR="54864" marT="27432" marB="18288" anchor="ctr">
                    <a:solidFill>
                      <a:srgbClr val="0E2A47"/>
                    </a:solidFill>
                    <a:lnL w="6350">
                      <a:solidFill>
                        <a:srgbClr val="D6DCE2"/>
                      </a:solidFill>
                    </a:lnL>
                    <a:lnR w="6350">
                      <a:solidFill>
                        <a:srgbClr val="D6DCE2"/>
                      </a:solidFill>
                    </a:lnR>
                    <a:lnT w="6350">
                      <a:solidFill>
                        <a:srgbClr val="D6DCE2"/>
                      </a:solidFill>
                    </a:lnT>
                    <a:lnB w="6350">
                      <a:solidFill>
                        <a:srgbClr val="D6DCE2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  <a:lnSpc>
                          <a:spcPct val="100000"/>
                        </a:lnSpc>
                      </a:pPr>
                      <a:r>
                        <a:rPr sz="1200" b="1">
                          <a:solidFill>
                            <a:srgbClr val="FFFFFF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Attention</a:t>
                      </a:r>
                    </a:p>
                  </a:txBody>
                  <a:tcPr marL="54864" marR="54864" marT="27432" marB="18288" anchor="ctr">
                    <a:solidFill>
                      <a:srgbClr val="0E2A47"/>
                    </a:solidFill>
                    <a:lnL w="6350">
                      <a:solidFill>
                        <a:srgbClr val="D6DCE2"/>
                      </a:solidFill>
                    </a:lnL>
                    <a:lnR w="6350">
                      <a:solidFill>
                        <a:srgbClr val="D6DCE2"/>
                      </a:solidFill>
                    </a:lnR>
                    <a:lnT w="6350">
                      <a:solidFill>
                        <a:srgbClr val="D6DCE2"/>
                      </a:solidFill>
                    </a:lnT>
                    <a:lnB w="6350">
                      <a:solidFill>
                        <a:srgbClr val="D6DCE2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  <a:lnSpc>
                          <a:spcPct val="100000"/>
                        </a:lnSpc>
                      </a:pPr>
                      <a:r>
                        <a:rPr sz="1200" b="1">
                          <a:solidFill>
                            <a:srgbClr val="FFFFFF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MoE</a:t>
                      </a:r>
                    </a:p>
                  </a:txBody>
                  <a:tcPr marL="54864" marR="54864" marT="27432" marB="18288" anchor="ctr">
                    <a:solidFill>
                      <a:srgbClr val="0E2A47"/>
                    </a:solidFill>
                    <a:lnL w="6350">
                      <a:solidFill>
                        <a:srgbClr val="D6DCE2"/>
                      </a:solidFill>
                    </a:lnL>
                    <a:lnR w="6350">
                      <a:solidFill>
                        <a:srgbClr val="D6DCE2"/>
                      </a:solidFill>
                    </a:lnR>
                    <a:lnT w="6350">
                      <a:solidFill>
                        <a:srgbClr val="D6DCE2"/>
                      </a:solidFill>
                    </a:lnT>
                    <a:lnB w="6350">
                      <a:solidFill>
                        <a:srgbClr val="D6DCE2"/>
                      </a:solidFill>
                    </a:lnB>
                  </a:tcPr>
                </a:tc>
              </a:tr>
              <a:tr h="530352">
                <a:tc>
                  <a:txBody>
                    <a:bodyPr wrap="square"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  <a:lnSpc>
                          <a:spcPct val="100000"/>
                        </a:lnSpc>
                      </a:pPr>
                      <a:r>
                        <a:rPr sz="1200" b="1">
                          <a:solidFill>
                            <a:srgbClr val="0E2A47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并行</a:t>
                      </a:r>
                    </a:p>
                  </a:txBody>
                  <a:tcPr marL="54864" marR="54864" marT="27432" marB="18288" anchor="ctr">
                    <a:solidFill>
                      <a:srgbClr val="F4F7FA"/>
                    </a:solidFill>
                    <a:lnL w="6350">
                      <a:solidFill>
                        <a:srgbClr val="D6DCE2"/>
                      </a:solidFill>
                    </a:lnL>
                    <a:lnR w="6350">
                      <a:solidFill>
                        <a:srgbClr val="D6DCE2"/>
                      </a:solidFill>
                    </a:lnR>
                    <a:lnT w="6350">
                      <a:solidFill>
                        <a:srgbClr val="D6DCE2"/>
                      </a:solidFill>
                    </a:lnT>
                    <a:lnB w="6350">
                      <a:solidFill>
                        <a:srgbClr val="D6DCE2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  <a:lnSpc>
                          <a:spcPct val="100000"/>
                        </a:lnSpc>
                      </a:pPr>
                      <a:r>
                        <a:rPr sz="1200" b="0">
                          <a:solidFill>
                            <a:srgbClr val="1C242E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TP=8，DP=16</a:t>
                      </a:r>
                    </a:p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  <a:lnSpc>
                          <a:spcPct val="100000"/>
                        </a:lnSpc>
                      </a:pPr>
                      <a:r>
                        <a:rPr sz="1200" b="0">
                          <a:solidFill>
                            <a:srgbClr val="1C242E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每组 token 数 = ⌈BS / 16⌉</a:t>
                      </a:r>
                    </a:p>
                  </a:txBody>
                  <a:tcPr marL="54864" marR="54864" marT="27432" marB="18288" anchor="ctr">
                    <a:solidFill>
                      <a:srgbClr val="FFFFFF"/>
                    </a:solidFill>
                    <a:lnL w="6350">
                      <a:solidFill>
                        <a:srgbClr val="D6DCE2"/>
                      </a:solidFill>
                    </a:lnL>
                    <a:lnR w="6350">
                      <a:solidFill>
                        <a:srgbClr val="D6DCE2"/>
                      </a:solidFill>
                    </a:lnR>
                    <a:lnT w="6350">
                      <a:solidFill>
                        <a:srgbClr val="D6DCE2"/>
                      </a:solidFill>
                    </a:lnT>
                    <a:lnB w="6350">
                      <a:solidFill>
                        <a:srgbClr val="D6DCE2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  <a:lnSpc>
                          <a:spcPct val="100000"/>
                        </a:lnSpc>
                      </a:pPr>
                      <a:r>
                        <a:rPr sz="1200" b="0">
                          <a:solidFill>
                            <a:srgbClr val="1C242E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EP=128</a:t>
                      </a:r>
                    </a:p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  <a:lnSpc>
                          <a:spcPct val="100000"/>
                        </a:lnSpc>
                      </a:pPr>
                      <a:r>
                        <a:rPr sz="1200" b="0">
                          <a:solidFill>
                            <a:srgbClr val="1C242E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2469 个专家，每卡 19.3 个</a:t>
                      </a:r>
                    </a:p>
                  </a:txBody>
                  <a:tcPr marL="54864" marR="54864" marT="27432" marB="18288" anchor="ctr">
                    <a:solidFill>
                      <a:srgbClr val="FFFFFF"/>
                    </a:solidFill>
                    <a:lnL w="6350">
                      <a:solidFill>
                        <a:srgbClr val="D6DCE2"/>
                      </a:solidFill>
                    </a:lnL>
                    <a:lnR w="6350">
                      <a:solidFill>
                        <a:srgbClr val="D6DCE2"/>
                      </a:solidFill>
                    </a:lnR>
                    <a:lnT w="6350">
                      <a:solidFill>
                        <a:srgbClr val="D6DCE2"/>
                      </a:solidFill>
                    </a:lnT>
                    <a:lnB w="6350">
                      <a:solidFill>
                        <a:srgbClr val="D6DCE2"/>
                      </a:solidFill>
                    </a:lnB>
                  </a:tcPr>
                </a:tc>
              </a:tr>
              <a:tr h="530352">
                <a:tc>
                  <a:txBody>
                    <a:bodyPr wrap="square"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  <a:lnSpc>
                          <a:spcPct val="100000"/>
                        </a:lnSpc>
                      </a:pPr>
                      <a:r>
                        <a:rPr sz="1200" b="1">
                          <a:solidFill>
                            <a:srgbClr val="0E2A47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通信</a:t>
                      </a:r>
                    </a:p>
                  </a:txBody>
                  <a:tcPr marL="54864" marR="54864" marT="27432" marB="18288" anchor="ctr">
                    <a:solidFill>
                      <a:srgbClr val="F4F7FA"/>
                    </a:solidFill>
                    <a:lnL w="6350">
                      <a:solidFill>
                        <a:srgbClr val="D6DCE2"/>
                      </a:solidFill>
                    </a:lnL>
                    <a:lnR w="6350">
                      <a:solidFill>
                        <a:srgbClr val="D6DCE2"/>
                      </a:solidFill>
                    </a:lnR>
                    <a:lnT w="6350">
                      <a:solidFill>
                        <a:srgbClr val="D6DCE2"/>
                      </a:solidFill>
                    </a:lnT>
                    <a:lnB w="6350">
                      <a:solidFill>
                        <a:srgbClr val="D6DCE2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  <a:lnSpc>
                          <a:spcPct val="100000"/>
                        </a:lnSpc>
                      </a:pPr>
                      <a:r>
                        <a:rPr sz="1200" b="0">
                          <a:solidFill>
                            <a:srgbClr val="1C242E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AR 在融合 kernel 后单独加</a:t>
                      </a:r>
                    </a:p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  <a:lnSpc>
                          <a:spcPct val="100000"/>
                        </a:lnSpc>
                      </a:pPr>
                      <a:r>
                        <a:rPr sz="1200" b="0">
                          <a:solidFill>
                            <a:srgbClr val="1C242E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0.50 毫秒</a:t>
                      </a:r>
                    </a:p>
                  </a:txBody>
                  <a:tcPr marL="54864" marR="54864" marT="27432" marB="18288" anchor="ctr">
                    <a:solidFill>
                      <a:srgbClr val="FFFFFF"/>
                    </a:solidFill>
                    <a:lnL w="6350">
                      <a:solidFill>
                        <a:srgbClr val="D6DCE2"/>
                      </a:solidFill>
                    </a:lnL>
                    <a:lnR w="6350">
                      <a:solidFill>
                        <a:srgbClr val="D6DCE2"/>
                      </a:solidFill>
                    </a:lnR>
                    <a:lnT w="6350">
                      <a:solidFill>
                        <a:srgbClr val="D6DCE2"/>
                      </a:solidFill>
                    </a:lnT>
                    <a:lnB w="6350">
                      <a:solidFill>
                        <a:srgbClr val="D6DCE2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  <a:lnSpc>
                          <a:spcPct val="100000"/>
                        </a:lnSpc>
                      </a:pPr>
                      <a:r>
                        <a:rPr sz="1200" b="0">
                          <a:solidFill>
                            <a:srgbClr val="1C242E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dispatch + combine</a:t>
                      </a:r>
                    </a:p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  <a:lnSpc>
                          <a:spcPct val="100000"/>
                        </a:lnSpc>
                      </a:pPr>
                      <a:r>
                        <a:rPr sz="1200" b="0">
                          <a:solidFill>
                            <a:srgbClr val="1C242E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合计 0.08 毫秒</a:t>
                      </a:r>
                    </a:p>
                  </a:txBody>
                  <a:tcPr marL="54864" marR="54864" marT="27432" marB="18288" anchor="ctr">
                    <a:solidFill>
                      <a:srgbClr val="FFFFFF"/>
                    </a:solidFill>
                    <a:lnL w="6350">
                      <a:solidFill>
                        <a:srgbClr val="D6DCE2"/>
                      </a:solidFill>
                    </a:lnL>
                    <a:lnR w="6350">
                      <a:solidFill>
                        <a:srgbClr val="D6DCE2"/>
                      </a:solidFill>
                    </a:lnR>
                    <a:lnT w="6350">
                      <a:solidFill>
                        <a:srgbClr val="D6DCE2"/>
                      </a:solidFill>
                    </a:lnT>
                    <a:lnB w="6350">
                      <a:solidFill>
                        <a:srgbClr val="D6DCE2"/>
                      </a:solidFill>
                    </a:lnB>
                  </a:tcPr>
                </a:tc>
              </a:tr>
              <a:tr h="566928">
                <a:tc>
                  <a:txBody>
                    <a:bodyPr wrap="square"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  <a:lnSpc>
                          <a:spcPct val="100000"/>
                        </a:lnSpc>
                      </a:pPr>
                      <a:r>
                        <a:rPr sz="1200" b="1">
                          <a:solidFill>
                            <a:srgbClr val="0E7A76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访存</a:t>
                      </a:r>
                    </a:p>
                  </a:txBody>
                  <a:tcPr marL="54864" marR="54864" marT="27432" marB="18288" anchor="ctr">
                    <a:solidFill>
                      <a:srgbClr val="F4F7FA"/>
                    </a:solidFill>
                    <a:lnL w="6350">
                      <a:solidFill>
                        <a:srgbClr val="D6DCE2"/>
                      </a:solidFill>
                    </a:lnL>
                    <a:lnR w="6350">
                      <a:solidFill>
                        <a:srgbClr val="D6DCE2"/>
                      </a:solidFill>
                    </a:lnR>
                    <a:lnT w="6350">
                      <a:solidFill>
                        <a:srgbClr val="D6DCE2"/>
                      </a:solidFill>
                    </a:lnT>
                    <a:lnB w="6350">
                      <a:solidFill>
                        <a:srgbClr val="D6DCE2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  <a:lnSpc>
                          <a:spcPct val="100000"/>
                        </a:lnSpc>
                      </a:pPr>
                      <a:r>
                        <a:rPr sz="1200" b="1">
                          <a:solidFill>
                            <a:srgbClr val="0E7A76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全部 KV + 2.42 GB 权重</a:t>
                      </a:r>
                    </a:p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  <a:lnSpc>
                          <a:spcPct val="100000"/>
                        </a:lnSpc>
                      </a:pPr>
                      <a:r>
                        <a:rPr sz="1200" b="1">
                          <a:solidFill>
                            <a:srgbClr val="0E7A76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0.77 毫秒</a:t>
                      </a:r>
                    </a:p>
                  </a:txBody>
                  <a:tcPr marL="54864" marR="54864" marT="27432" marB="18288" anchor="ctr">
                    <a:solidFill>
                      <a:srgbClr val="E7F3F2"/>
                    </a:solidFill>
                    <a:lnL w="6350">
                      <a:solidFill>
                        <a:srgbClr val="D6DCE2"/>
                      </a:solidFill>
                    </a:lnL>
                    <a:lnR w="6350">
                      <a:solidFill>
                        <a:srgbClr val="D6DCE2"/>
                      </a:solidFill>
                    </a:lnR>
                    <a:lnT w="6350">
                      <a:solidFill>
                        <a:srgbClr val="D6DCE2"/>
                      </a:solidFill>
                    </a:lnT>
                    <a:lnB w="6350">
                      <a:solidFill>
                        <a:srgbClr val="D6DCE2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  <a:lnSpc>
                          <a:spcPct val="100000"/>
                        </a:lnSpc>
                      </a:pPr>
                      <a:r>
                        <a:rPr sz="1200" b="1">
                          <a:solidFill>
                            <a:srgbClr val="0E7A76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醒了 11.7 / 19.3 个</a:t>
                      </a:r>
                    </a:p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  <a:lnSpc>
                          <a:spcPct val="100000"/>
                        </a:lnSpc>
                      </a:pPr>
                      <a:r>
                        <a:rPr sz="1200" b="1">
                          <a:solidFill>
                            <a:srgbClr val="0E7A76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读权重 8.65 毫秒</a:t>
                      </a:r>
                    </a:p>
                  </a:txBody>
                  <a:tcPr marL="54864" marR="54864" marT="27432" marB="18288" anchor="ctr">
                    <a:solidFill>
                      <a:srgbClr val="E7F3F2"/>
                    </a:solidFill>
                    <a:lnL w="6350">
                      <a:solidFill>
                        <a:srgbClr val="D6DCE2"/>
                      </a:solidFill>
                    </a:lnL>
                    <a:lnR w="6350">
                      <a:solidFill>
                        <a:srgbClr val="D6DCE2"/>
                      </a:solidFill>
                    </a:lnR>
                    <a:lnT w="6350">
                      <a:solidFill>
                        <a:srgbClr val="D6DCE2"/>
                      </a:solidFill>
                    </a:lnT>
                    <a:lnB w="6350">
                      <a:solidFill>
                        <a:srgbClr val="D6DCE2"/>
                      </a:solidFill>
                    </a:lnB>
                  </a:tcPr>
                </a:tc>
              </a:tr>
              <a:tr h="530352">
                <a:tc>
                  <a:txBody>
                    <a:bodyPr wrap="square"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  <a:lnSpc>
                          <a:spcPct val="100000"/>
                        </a:lnSpc>
                      </a:pPr>
                      <a:r>
                        <a:rPr sz="1200" b="1">
                          <a:solidFill>
                            <a:srgbClr val="0E2A47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计算</a:t>
                      </a:r>
                    </a:p>
                  </a:txBody>
                  <a:tcPr marL="54864" marR="54864" marT="27432" marB="18288" anchor="ctr">
                    <a:solidFill>
                      <a:srgbClr val="F4F7FA"/>
                    </a:solidFill>
                    <a:lnL w="6350">
                      <a:solidFill>
                        <a:srgbClr val="D6DCE2"/>
                      </a:solidFill>
                    </a:lnL>
                    <a:lnR w="6350">
                      <a:solidFill>
                        <a:srgbClr val="D6DCE2"/>
                      </a:solidFill>
                    </a:lnR>
                    <a:lnT w="6350">
                      <a:solidFill>
                        <a:srgbClr val="D6DCE2"/>
                      </a:solidFill>
                    </a:lnT>
                    <a:lnB w="6350">
                      <a:solidFill>
                        <a:srgbClr val="D6DCE2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  <a:lnSpc>
                          <a:spcPct val="100000"/>
                        </a:lnSpc>
                      </a:pPr>
                      <a:r>
                        <a:rPr sz="1200" b="0">
                          <a:solidFill>
                            <a:srgbClr val="1C242E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行数 = ⌈BS / 16⌉</a:t>
                      </a:r>
                    </a:p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  <a:lnSpc>
                          <a:spcPct val="100000"/>
                        </a:lnSpc>
                      </a:pPr>
                      <a:r>
                        <a:rPr sz="1200" b="0">
                          <a:solidFill>
                            <a:srgbClr val="1C242E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融合 kernel 0.29 毫秒</a:t>
                      </a:r>
                    </a:p>
                  </a:txBody>
                  <a:tcPr marL="54864" marR="54864" marT="27432" marB="18288" anchor="ctr">
                    <a:solidFill>
                      <a:srgbClr val="FFFFFF"/>
                    </a:solidFill>
                    <a:lnL w="6350">
                      <a:solidFill>
                        <a:srgbClr val="D6DCE2"/>
                      </a:solidFill>
                    </a:lnL>
                    <a:lnR w="6350">
                      <a:solidFill>
                        <a:srgbClr val="D6DCE2"/>
                      </a:solidFill>
                    </a:lnR>
                    <a:lnT w="6350">
                      <a:solidFill>
                        <a:srgbClr val="D6DCE2"/>
                      </a:solidFill>
                    </a:lnT>
                    <a:lnB w="6350">
                      <a:solidFill>
                        <a:srgbClr val="D6DCE2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  <a:lnSpc>
                          <a:spcPct val="100000"/>
                        </a:lnSpc>
                      </a:pPr>
                      <a:r>
                        <a:rPr sz="1200" b="0">
                          <a:solidFill>
                            <a:srgbClr val="1C242E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逐专家 16 行 padding</a:t>
                      </a:r>
                    </a:p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  <a:lnSpc>
                          <a:spcPct val="100000"/>
                        </a:lnSpc>
                      </a:pPr>
                      <a:r>
                        <a:rPr sz="1200" b="0">
                          <a:solidFill>
                            <a:srgbClr val="1C242E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GEMM 4.83 毫秒</a:t>
                      </a:r>
                    </a:p>
                  </a:txBody>
                  <a:tcPr marL="54864" marR="54864" marT="27432" marB="18288" anchor="ctr">
                    <a:solidFill>
                      <a:srgbClr val="FFFFFF"/>
                    </a:solidFill>
                    <a:lnL w="6350">
                      <a:solidFill>
                        <a:srgbClr val="D6DCE2"/>
                      </a:solidFill>
                    </a:lnL>
                    <a:lnR w="6350">
                      <a:solidFill>
                        <a:srgbClr val="D6DCE2"/>
                      </a:solidFill>
                    </a:lnR>
                    <a:lnT w="6350">
                      <a:solidFill>
                        <a:srgbClr val="D6DCE2"/>
                      </a:solidFill>
                    </a:lnT>
                    <a:lnB w="6350">
                      <a:solidFill>
                        <a:srgbClr val="D6DCE2"/>
                      </a:solidFill>
                    </a:lnB>
                  </a:tcPr>
                </a:tc>
              </a:tr>
            </a:tbl>
          </a:graphicData>
        </a:graphic>
      </p:graphicFrame>
      <p:graphicFrame>
        <p:nvGraphicFramePr>
          <p:cNvPr id="13" name="Table 12"/>
          <p:cNvGraphicFramePr>
            <a:graphicFrameLocks noGrp="1"/>
          </p:cNvGraphicFramePr>
          <p:nvPr/>
        </p:nvGraphicFramePr>
        <p:xfrm>
          <a:off x="6446520" y="1627632"/>
          <a:ext cx="5349240" cy="2560320"/>
        </p:xfrm>
        <a:graphic>
          <a:graphicData uri="http://schemas.openxmlformats.org/drawingml/2006/table">
            <a:tbl>
              <a:tblPr firstRow="1"/>
              <a:tblGrid>
                <a:gridCol w="1097280"/>
                <a:gridCol w="3200400"/>
                <a:gridCol w="1051560"/>
              </a:tblGrid>
              <a:tr h="256032">
                <a:tc>
                  <a:txBody>
                    <a:bodyPr wrap="square"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  <a:lnSpc>
                          <a:spcPct val="100000"/>
                        </a:lnSpc>
                      </a:pPr>
                      <a:r>
                        <a:rPr sz="1200" b="1">
                          <a:solidFill>
                            <a:srgbClr val="FFFFFF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笔</a:t>
                      </a:r>
                    </a:p>
                  </a:txBody>
                  <a:tcPr marL="54864" marR="54864" marT="27432" marB="18288" anchor="ctr">
                    <a:solidFill>
                      <a:srgbClr val="0E2A47"/>
                    </a:solidFill>
                    <a:lnL w="6350">
                      <a:solidFill>
                        <a:srgbClr val="D6DCE2"/>
                      </a:solidFill>
                    </a:lnL>
                    <a:lnR w="6350">
                      <a:solidFill>
                        <a:srgbClr val="D6DCE2"/>
                      </a:solidFill>
                    </a:lnR>
                    <a:lnT w="6350">
                      <a:solidFill>
                        <a:srgbClr val="D6DCE2"/>
                      </a:solidFill>
                    </a:lnT>
                    <a:lnB w="6350">
                      <a:solidFill>
                        <a:srgbClr val="D6DCE2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  <a:lnSpc>
                          <a:spcPct val="100000"/>
                        </a:lnSpc>
                      </a:pPr>
                      <a:r>
                        <a:rPr sz="1200" b="1">
                          <a:solidFill>
                            <a:srgbClr val="FFFFFF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白话</a:t>
                      </a:r>
                    </a:p>
                  </a:txBody>
                  <a:tcPr marL="54864" marR="54864" marT="27432" marB="18288" anchor="ctr">
                    <a:solidFill>
                      <a:srgbClr val="0E2A47"/>
                    </a:solidFill>
                    <a:lnL w="6350">
                      <a:solidFill>
                        <a:srgbClr val="D6DCE2"/>
                      </a:solidFill>
                    </a:lnL>
                    <a:lnR w="6350">
                      <a:solidFill>
                        <a:srgbClr val="D6DCE2"/>
                      </a:solidFill>
                    </a:lnR>
                    <a:lnT w="6350">
                      <a:solidFill>
                        <a:srgbClr val="D6DCE2"/>
                      </a:solidFill>
                    </a:lnT>
                    <a:lnB w="6350">
                      <a:solidFill>
                        <a:srgbClr val="D6DCE2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  <a:lnSpc>
                          <a:spcPct val="100000"/>
                        </a:lnSpc>
                      </a:pPr>
                      <a:r>
                        <a:rPr sz="1200" b="1">
                          <a:solidFill>
                            <a:srgbClr val="FFFFFF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时间</a:t>
                      </a:r>
                    </a:p>
                  </a:txBody>
                  <a:tcPr marL="54864" marR="54864" marT="27432" marB="18288" anchor="ctr">
                    <a:solidFill>
                      <a:srgbClr val="0E2A47"/>
                    </a:solidFill>
                    <a:lnL w="6350">
                      <a:solidFill>
                        <a:srgbClr val="D6DCE2"/>
                      </a:solidFill>
                    </a:lnL>
                    <a:lnR w="6350">
                      <a:solidFill>
                        <a:srgbClr val="D6DCE2"/>
                      </a:solidFill>
                    </a:lnR>
                    <a:lnT w="6350">
                      <a:solidFill>
                        <a:srgbClr val="D6DCE2"/>
                      </a:solidFill>
                    </a:lnT>
                    <a:lnB w="6350">
                      <a:solidFill>
                        <a:srgbClr val="D6DCE2"/>
                      </a:solidFill>
                    </a:lnB>
                  </a:tcPr>
                </a:tc>
              </a:tr>
              <a:tr h="493776">
                <a:tc>
                  <a:txBody>
                    <a:bodyPr wrap="square"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  <a:lnSpc>
                          <a:spcPct val="100000"/>
                        </a:lnSpc>
                      </a:pPr>
                      <a:r>
                        <a:rPr sz="1200" b="1">
                          <a:solidFill>
                            <a:srgbClr val="0E7A76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Attn kernel</a:t>
                      </a:r>
                    </a:p>
                  </a:txBody>
                  <a:tcPr marL="54864" marR="54864" marT="27432" marB="18288" anchor="ctr">
                    <a:solidFill>
                      <a:srgbClr val="F4F7FA"/>
                    </a:solidFill>
                    <a:lnL w="6350">
                      <a:solidFill>
                        <a:srgbClr val="D6DCE2"/>
                      </a:solidFill>
                    </a:lnL>
                    <a:lnR w="6350">
                      <a:solidFill>
                        <a:srgbClr val="D6DCE2"/>
                      </a:solidFill>
                    </a:lnR>
                    <a:lnT w="6350">
                      <a:solidFill>
                        <a:srgbClr val="D6DCE2"/>
                      </a:solidFill>
                    </a:lnT>
                    <a:lnB w="6350">
                      <a:solidFill>
                        <a:srgbClr val="D6DCE2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  <a:lnSpc>
                          <a:spcPct val="100000"/>
                        </a:lnSpc>
                      </a:pPr>
                      <a:r>
                        <a:rPr sz="1200" b="1">
                          <a:solidFill>
                            <a:srgbClr val="0E7A76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max(HBM 0.77, 计算 0.29)</a:t>
                      </a:r>
                    </a:p>
                  </a:txBody>
                  <a:tcPr marL="54864" marR="54864" marT="27432" marB="18288" anchor="ctr">
                    <a:solidFill>
                      <a:srgbClr val="E7F3F2"/>
                    </a:solidFill>
                    <a:lnL w="6350">
                      <a:solidFill>
                        <a:srgbClr val="D6DCE2"/>
                      </a:solidFill>
                    </a:lnL>
                    <a:lnR w="6350">
                      <a:solidFill>
                        <a:srgbClr val="D6DCE2"/>
                      </a:solidFill>
                    </a:lnR>
                    <a:lnT w="6350">
                      <a:solidFill>
                        <a:srgbClr val="D6DCE2"/>
                      </a:solidFill>
                    </a:lnT>
                    <a:lnB w="6350">
                      <a:solidFill>
                        <a:srgbClr val="D6DCE2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  <a:lnSpc>
                          <a:spcPct val="100000"/>
                        </a:lnSpc>
                      </a:pPr>
                      <a:r>
                        <a:rPr sz="1200" b="1">
                          <a:solidFill>
                            <a:srgbClr val="0E7A76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0.77 毫秒</a:t>
                      </a:r>
                    </a:p>
                  </a:txBody>
                  <a:tcPr marL="54864" marR="54864" marT="27432" marB="18288" anchor="ctr">
                    <a:solidFill>
                      <a:srgbClr val="E7F3F2"/>
                    </a:solidFill>
                    <a:lnL w="6350">
                      <a:solidFill>
                        <a:srgbClr val="D6DCE2"/>
                      </a:solidFill>
                    </a:lnL>
                    <a:lnR w="6350">
                      <a:solidFill>
                        <a:srgbClr val="D6DCE2"/>
                      </a:solidFill>
                    </a:lnR>
                    <a:lnT w="6350">
                      <a:solidFill>
                        <a:srgbClr val="D6DCE2"/>
                      </a:solidFill>
                    </a:lnT>
                    <a:lnB w="6350">
                      <a:solidFill>
                        <a:srgbClr val="D6DCE2"/>
                      </a:solidFill>
                    </a:lnB>
                  </a:tcPr>
                </a:tc>
              </a:tr>
              <a:tr h="475488">
                <a:tc>
                  <a:txBody>
                    <a:bodyPr wrap="square"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  <a:lnSpc>
                          <a:spcPct val="100000"/>
                        </a:lnSpc>
                      </a:pPr>
                      <a:r>
                        <a:rPr sz="1200" b="1">
                          <a:solidFill>
                            <a:srgbClr val="0E7A76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AR</a:t>
                      </a:r>
                    </a:p>
                  </a:txBody>
                  <a:tcPr marL="54864" marR="54864" marT="27432" marB="18288" anchor="ctr">
                    <a:solidFill>
                      <a:srgbClr val="F4F7FA"/>
                    </a:solidFill>
                    <a:lnL w="6350">
                      <a:solidFill>
                        <a:srgbClr val="D6DCE2"/>
                      </a:solidFill>
                    </a:lnL>
                    <a:lnR w="6350">
                      <a:solidFill>
                        <a:srgbClr val="D6DCE2"/>
                      </a:solidFill>
                    </a:lnR>
                    <a:lnT w="6350">
                      <a:solidFill>
                        <a:srgbClr val="D6DCE2"/>
                      </a:solidFill>
                    </a:lnT>
                    <a:lnB w="6350">
                      <a:solidFill>
                        <a:srgbClr val="D6DCE2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  <a:lnSpc>
                          <a:spcPct val="100000"/>
                        </a:lnSpc>
                      </a:pPr>
                      <a:r>
                        <a:rPr sz="1200" b="1">
                          <a:solidFill>
                            <a:srgbClr val="0E7A76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每组 13 条；61 层 ring</a:t>
                      </a:r>
                    </a:p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  <a:lnSpc>
                          <a:spcPct val="100000"/>
                        </a:lnSpc>
                      </a:pPr>
                      <a:r>
                        <a:rPr sz="1200" b="1">
                          <a:solidFill>
                            <a:srgbClr val="0E7A76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不假设与 kernel 重叠</a:t>
                      </a:r>
                    </a:p>
                  </a:txBody>
                  <a:tcPr marL="54864" marR="54864" marT="27432" marB="18288" anchor="ctr">
                    <a:solidFill>
                      <a:srgbClr val="E7F3F2"/>
                    </a:solidFill>
                    <a:lnL w="6350">
                      <a:solidFill>
                        <a:srgbClr val="D6DCE2"/>
                      </a:solidFill>
                    </a:lnL>
                    <a:lnR w="6350">
                      <a:solidFill>
                        <a:srgbClr val="D6DCE2"/>
                      </a:solidFill>
                    </a:lnR>
                    <a:lnT w="6350">
                      <a:solidFill>
                        <a:srgbClr val="D6DCE2"/>
                      </a:solidFill>
                    </a:lnT>
                    <a:lnB w="6350">
                      <a:solidFill>
                        <a:srgbClr val="D6DCE2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  <a:lnSpc>
                          <a:spcPct val="100000"/>
                        </a:lnSpc>
                      </a:pPr>
                      <a:r>
                        <a:rPr sz="1200" b="1">
                          <a:solidFill>
                            <a:srgbClr val="0E7A76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0.50 毫秒</a:t>
                      </a:r>
                    </a:p>
                  </a:txBody>
                  <a:tcPr marL="54864" marR="54864" marT="27432" marB="18288" anchor="ctr">
                    <a:solidFill>
                      <a:srgbClr val="E7F3F2"/>
                    </a:solidFill>
                    <a:lnL w="6350">
                      <a:solidFill>
                        <a:srgbClr val="D6DCE2"/>
                      </a:solidFill>
                    </a:lnL>
                    <a:lnR w="6350">
                      <a:solidFill>
                        <a:srgbClr val="D6DCE2"/>
                      </a:solidFill>
                    </a:lnR>
                    <a:lnT w="6350">
                      <a:solidFill>
                        <a:srgbClr val="D6DCE2"/>
                      </a:solidFill>
                    </a:lnT>
                    <a:lnB w="6350">
                      <a:solidFill>
                        <a:srgbClr val="D6DCE2"/>
                      </a:solidFill>
                    </a:lnB>
                  </a:tcPr>
                </a:tc>
              </a:tr>
              <a:tr h="475488">
                <a:tc>
                  <a:txBody>
                    <a:bodyPr wrap="square"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  <a:lnSpc>
                          <a:spcPct val="100000"/>
                        </a:lnSpc>
                      </a:pPr>
                      <a:r>
                        <a:rPr sz="1200" b="1">
                          <a:solidFill>
                            <a:srgbClr val="0E2A47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MoE 通信</a:t>
                      </a:r>
                    </a:p>
                  </a:txBody>
                  <a:tcPr marL="54864" marR="54864" marT="27432" marB="18288" anchor="ctr">
                    <a:solidFill>
                      <a:srgbClr val="F4F7FA"/>
                    </a:solidFill>
                    <a:lnL w="6350">
                      <a:solidFill>
                        <a:srgbClr val="D6DCE2"/>
                      </a:solidFill>
                    </a:lnL>
                    <a:lnR w="6350">
                      <a:solidFill>
                        <a:srgbClr val="D6DCE2"/>
                      </a:solidFill>
                    </a:lnR>
                    <a:lnT w="6350">
                      <a:solidFill>
                        <a:srgbClr val="D6DCE2"/>
                      </a:solidFill>
                    </a:lnT>
                    <a:lnB w="6350">
                      <a:solidFill>
                        <a:srgbClr val="D6DCE2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  <a:lnSpc>
                          <a:spcPct val="100000"/>
                        </a:lnSpc>
                      </a:pPr>
                      <a:r>
                        <a:rPr sz="1200" b="0">
                          <a:solidFill>
                            <a:srgbClr val="1C242E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最忙卡 dispatch + combine</a:t>
                      </a:r>
                    </a:p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  <a:lnSpc>
                          <a:spcPct val="100000"/>
                        </a:lnSpc>
                      </a:pPr>
                      <a:r>
                        <a:rPr sz="1200" b="0">
                          <a:solidFill>
                            <a:srgbClr val="1C242E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两个方向分别统计</a:t>
                      </a:r>
                    </a:p>
                  </a:txBody>
                  <a:tcPr marL="54864" marR="54864" marT="27432" marB="18288" anchor="ctr">
                    <a:solidFill>
                      <a:srgbClr val="FFFFFF"/>
                    </a:solidFill>
                    <a:lnL w="6350">
                      <a:solidFill>
                        <a:srgbClr val="D6DCE2"/>
                      </a:solidFill>
                    </a:lnL>
                    <a:lnR w="6350">
                      <a:solidFill>
                        <a:srgbClr val="D6DCE2"/>
                      </a:solidFill>
                    </a:lnR>
                    <a:lnT w="6350">
                      <a:solidFill>
                        <a:srgbClr val="D6DCE2"/>
                      </a:solidFill>
                    </a:lnT>
                    <a:lnB w="6350">
                      <a:solidFill>
                        <a:srgbClr val="D6DCE2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  <a:lnSpc>
                          <a:spcPct val="100000"/>
                        </a:lnSpc>
                      </a:pPr>
                      <a:r>
                        <a:rPr sz="1200" b="0">
                          <a:solidFill>
                            <a:srgbClr val="1C242E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0.08 毫秒</a:t>
                      </a:r>
                    </a:p>
                  </a:txBody>
                  <a:tcPr marL="54864" marR="54864" marT="27432" marB="18288" anchor="ctr">
                    <a:solidFill>
                      <a:srgbClr val="FFFFFF"/>
                    </a:solidFill>
                    <a:lnL w="6350">
                      <a:solidFill>
                        <a:srgbClr val="D6DCE2"/>
                      </a:solidFill>
                    </a:lnL>
                    <a:lnR w="6350">
                      <a:solidFill>
                        <a:srgbClr val="D6DCE2"/>
                      </a:solidFill>
                    </a:lnR>
                    <a:lnT w="6350">
                      <a:solidFill>
                        <a:srgbClr val="D6DCE2"/>
                      </a:solidFill>
                    </a:lnT>
                    <a:lnB w="6350">
                      <a:solidFill>
                        <a:srgbClr val="D6DCE2"/>
                      </a:solidFill>
                    </a:lnB>
                  </a:tcPr>
                </a:tc>
              </a:tr>
              <a:tr h="475488">
                <a:tc>
                  <a:txBody>
                    <a:bodyPr wrap="square"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  <a:lnSpc>
                          <a:spcPct val="100000"/>
                        </a:lnSpc>
                      </a:pPr>
                      <a:r>
                        <a:rPr sz="1200" b="1">
                          <a:solidFill>
                            <a:srgbClr val="0E2A47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专家 kernel</a:t>
                      </a:r>
                    </a:p>
                  </a:txBody>
                  <a:tcPr marL="54864" marR="54864" marT="27432" marB="18288" anchor="ctr">
                    <a:solidFill>
                      <a:srgbClr val="F4F7FA"/>
                    </a:solidFill>
                    <a:lnL w="6350">
                      <a:solidFill>
                        <a:srgbClr val="D6DCE2"/>
                      </a:solidFill>
                    </a:lnL>
                    <a:lnR w="6350">
                      <a:solidFill>
                        <a:srgbClr val="D6DCE2"/>
                      </a:solidFill>
                    </a:lnR>
                    <a:lnT w="6350">
                      <a:solidFill>
                        <a:srgbClr val="D6DCE2"/>
                      </a:solidFill>
                    </a:lnT>
                    <a:lnB w="6350">
                      <a:solidFill>
                        <a:srgbClr val="D6DCE2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  <a:lnSpc>
                          <a:spcPct val="100000"/>
                        </a:lnSpc>
                      </a:pPr>
                      <a:r>
                        <a:rPr sz="1200" b="0">
                          <a:solidFill>
                            <a:srgbClr val="1C242E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max(读权重 8.65, GEMM 4.83)</a:t>
                      </a:r>
                    </a:p>
                  </a:txBody>
                  <a:tcPr marL="54864" marR="54864" marT="27432" marB="18288" anchor="ctr">
                    <a:solidFill>
                      <a:srgbClr val="FFFFFF"/>
                    </a:solidFill>
                    <a:lnL w="6350">
                      <a:solidFill>
                        <a:srgbClr val="D6DCE2"/>
                      </a:solidFill>
                    </a:lnL>
                    <a:lnR w="6350">
                      <a:solidFill>
                        <a:srgbClr val="D6DCE2"/>
                      </a:solidFill>
                    </a:lnR>
                    <a:lnT w="6350">
                      <a:solidFill>
                        <a:srgbClr val="D6DCE2"/>
                      </a:solidFill>
                    </a:lnT>
                    <a:lnB w="6350">
                      <a:solidFill>
                        <a:srgbClr val="D6DCE2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  <a:lnSpc>
                          <a:spcPct val="100000"/>
                        </a:lnSpc>
                      </a:pPr>
                      <a:r>
                        <a:rPr sz="1200" b="0">
                          <a:solidFill>
                            <a:srgbClr val="1C242E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8.65 毫秒</a:t>
                      </a:r>
                    </a:p>
                  </a:txBody>
                  <a:tcPr marL="54864" marR="54864" marT="27432" marB="18288" anchor="ctr">
                    <a:solidFill>
                      <a:srgbClr val="FFFFFF"/>
                    </a:solidFill>
                    <a:lnL w="6350">
                      <a:solidFill>
                        <a:srgbClr val="D6DCE2"/>
                      </a:solidFill>
                    </a:lnL>
                    <a:lnR w="6350">
                      <a:solidFill>
                        <a:srgbClr val="D6DCE2"/>
                      </a:solidFill>
                    </a:lnR>
                    <a:lnT w="6350">
                      <a:solidFill>
                        <a:srgbClr val="D6DCE2"/>
                      </a:solidFill>
                    </a:lnT>
                    <a:lnB w="6350">
                      <a:solidFill>
                        <a:srgbClr val="D6DCE2"/>
                      </a:solidFill>
                    </a:lnB>
                  </a:tcPr>
                </a:tc>
              </a:tr>
              <a:tr h="384048">
                <a:tc>
                  <a:txBody>
                    <a:bodyPr wrap="square"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  <a:lnSpc>
                          <a:spcPct val="100000"/>
                        </a:lnSpc>
                      </a:pPr>
                      <a:r>
                        <a:rPr sz="1200" b="1">
                          <a:solidFill>
                            <a:srgbClr val="0E2A47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相加</a:t>
                      </a:r>
                    </a:p>
                  </a:txBody>
                  <a:tcPr marL="54864" marR="54864" marT="27432" marB="18288" anchor="ctr">
                    <a:solidFill>
                      <a:srgbClr val="F4F7FA"/>
                    </a:solidFill>
                    <a:lnL w="6350">
                      <a:solidFill>
                        <a:srgbClr val="D6DCE2"/>
                      </a:solidFill>
                    </a:lnL>
                    <a:lnR w="6350">
                      <a:solidFill>
                        <a:srgbClr val="D6DCE2"/>
                      </a:solidFill>
                    </a:lnR>
                    <a:lnT w="6350">
                      <a:solidFill>
                        <a:srgbClr val="D6DCE2"/>
                      </a:solidFill>
                    </a:lnT>
                    <a:lnB w="6350">
                      <a:solidFill>
                        <a:srgbClr val="D6DCE2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  <a:lnSpc>
                          <a:spcPct val="100000"/>
                        </a:lnSpc>
                      </a:pPr>
                      <a:r>
                        <a:rPr sz="1200" b="1">
                          <a:solidFill>
                            <a:srgbClr val="0E2A47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Attention 1.27 + MoE 8.73</a:t>
                      </a:r>
                    </a:p>
                  </a:txBody>
                  <a:tcPr marL="54864" marR="54864" marT="27432" marB="18288" anchor="ctr">
                    <a:solidFill>
                      <a:srgbClr val="F4F7FA"/>
                    </a:solidFill>
                    <a:lnL w="6350">
                      <a:solidFill>
                        <a:srgbClr val="D6DCE2"/>
                      </a:solidFill>
                    </a:lnL>
                    <a:lnR w="6350">
                      <a:solidFill>
                        <a:srgbClr val="D6DCE2"/>
                      </a:solidFill>
                    </a:lnR>
                    <a:lnT w="6350">
                      <a:solidFill>
                        <a:srgbClr val="D6DCE2"/>
                      </a:solidFill>
                    </a:lnT>
                    <a:lnB w="6350">
                      <a:solidFill>
                        <a:srgbClr val="D6DCE2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  <a:lnSpc>
                          <a:spcPct val="100000"/>
                        </a:lnSpc>
                      </a:pPr>
                      <a:r>
                        <a:rPr sz="1200" b="1">
                          <a:solidFill>
                            <a:srgbClr val="0E2A47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10.00 毫秒</a:t>
                      </a:r>
                    </a:p>
                  </a:txBody>
                  <a:tcPr marL="54864" marR="54864" marT="27432" marB="18288" anchor="ctr">
                    <a:solidFill>
                      <a:srgbClr val="F4F7FA"/>
                    </a:solidFill>
                    <a:lnL w="6350">
                      <a:solidFill>
                        <a:srgbClr val="D6DCE2"/>
                      </a:solidFill>
                    </a:lnL>
                    <a:lnR w="6350">
                      <a:solidFill>
                        <a:srgbClr val="D6DCE2"/>
                      </a:solidFill>
                    </a:lnR>
                    <a:lnT w="6350">
                      <a:solidFill>
                        <a:srgbClr val="D6DCE2"/>
                      </a:solidFill>
                    </a:lnT>
                    <a:lnB w="6350">
                      <a:solidFill>
                        <a:srgbClr val="D6DCE2"/>
                      </a:solidFill>
                    </a:lnB>
                  </a:tcPr>
                </a:tc>
              </a:tr>
            </a:tbl>
          </a:graphicData>
        </a:graphic>
      </p:graphicFrame>
      <p:sp>
        <p:nvSpPr>
          <p:cNvPr id="14" name="Rounded Rectangle 13"/>
          <p:cNvSpPr/>
          <p:nvPr/>
        </p:nvSpPr>
        <p:spPr>
          <a:xfrm>
            <a:off x="384048" y="4937760"/>
            <a:ext cx="2788920" cy="1481328"/>
          </a:xfrm>
          <a:prstGeom prst="roundRect">
            <a:avLst/>
          </a:prstGeom>
          <a:solidFill>
            <a:srgbClr val="F4F7FA"/>
          </a:solidFill>
          <a:ln w="12700">
            <a:solidFill>
              <a:srgbClr val="D6DCE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530352" y="5010912"/>
            <a:ext cx="2514600" cy="237744"/>
          </a:xfrm>
          <a:prstGeom prst="rect">
            <a:avLst/>
          </a:prstGeom>
          <a:noFill/>
        </p:spPr>
        <p:txBody>
          <a:bodyPr wrap="square" lIns="0" rIns="0" tIns="0" bIns="0" anchor="ctr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200" b="1">
                <a:solidFill>
                  <a:srgbClr val="5A636E"/>
                </a:solidFill>
                <a:latin typeface="Microsoft YaHei"/>
                <a:ea typeface="Microsoft YaHei"/>
                <a:cs typeface="Microsoft YaHei"/>
              </a:rPr>
              <a:t>4K – 8K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30352" y="5248656"/>
            <a:ext cx="2514600" cy="457200"/>
          </a:xfrm>
          <a:prstGeom prst="rect">
            <a:avLst/>
          </a:prstGeom>
          <a:noFill/>
        </p:spPr>
        <p:txBody>
          <a:bodyPr wrap="square" lIns="0" rIns="0" tIns="0" bIns="0" anchor="ctr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800" b="1">
                <a:solidFill>
                  <a:srgbClr val="0E7A76"/>
                </a:solidFill>
                <a:latin typeface="Microsoft YaHei"/>
                <a:ea typeface="Microsoft YaHei"/>
                <a:cs typeface="Microsoft YaHei"/>
              </a:rPr>
              <a:t>201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30352" y="5724144"/>
            <a:ext cx="2514600" cy="585216"/>
          </a:xfrm>
          <a:prstGeom prst="rect">
            <a:avLst/>
          </a:prstGeom>
          <a:noFill/>
        </p:spPr>
        <p:txBody>
          <a:bodyPr wrap="square" lIns="0" rIns="0" tIns="0" bIns="0" anchor="ctr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300" b="0">
                <a:solidFill>
                  <a:srgbClr val="1C242E"/>
                </a:solidFill>
                <a:latin typeface="Microsoft YaHei"/>
                <a:ea typeface="Microsoft YaHei"/>
                <a:cs typeface="Microsoft YaHei"/>
              </a:rPr>
              <a:t>全局批，每卡 1.6 条</a:t>
            </a:r>
          </a:p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300" b="0">
                <a:solidFill>
                  <a:srgbClr val="1C242E"/>
                </a:solidFill>
                <a:latin typeface="Microsoft YaHei"/>
                <a:ea typeface="Microsoft YaHei"/>
                <a:cs typeface="Microsoft YaHei"/>
              </a:rPr>
              <a:t>全在 HBM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3310128" y="4937760"/>
            <a:ext cx="2788920" cy="1481328"/>
          </a:xfrm>
          <a:prstGeom prst="roundRect">
            <a:avLst/>
          </a:prstGeom>
          <a:solidFill>
            <a:srgbClr val="F4F7FA"/>
          </a:solidFill>
          <a:ln w="12700">
            <a:solidFill>
              <a:srgbClr val="D6DCE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3456432" y="5010912"/>
            <a:ext cx="2514600" cy="237744"/>
          </a:xfrm>
          <a:prstGeom prst="rect">
            <a:avLst/>
          </a:prstGeom>
          <a:noFill/>
        </p:spPr>
        <p:txBody>
          <a:bodyPr wrap="square" lIns="0" rIns="0" tIns="0" bIns="0" anchor="ctr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200" b="1">
                <a:solidFill>
                  <a:srgbClr val="5A636E"/>
                </a:solidFill>
                <a:latin typeface="Microsoft YaHei"/>
                <a:ea typeface="Microsoft YaHei"/>
                <a:cs typeface="Microsoft YaHei"/>
              </a:rPr>
              <a:t>128K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456432" y="5248656"/>
            <a:ext cx="2514600" cy="457200"/>
          </a:xfrm>
          <a:prstGeom prst="rect">
            <a:avLst/>
          </a:prstGeom>
          <a:noFill/>
        </p:spPr>
        <p:txBody>
          <a:bodyPr wrap="square" lIns="0" rIns="0" tIns="0" bIns="0" anchor="ctr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800" b="1">
                <a:solidFill>
                  <a:srgbClr val="0E7A76"/>
                </a:solidFill>
                <a:latin typeface="Microsoft YaHei"/>
                <a:ea typeface="Microsoft YaHei"/>
                <a:cs typeface="Microsoft YaHei"/>
              </a:rPr>
              <a:t>199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3456432" y="5724144"/>
            <a:ext cx="2514600" cy="585216"/>
          </a:xfrm>
          <a:prstGeom prst="rect">
            <a:avLst/>
          </a:prstGeom>
          <a:noFill/>
        </p:spPr>
        <p:txBody>
          <a:bodyPr wrap="square" lIns="0" rIns="0" tIns="0" bIns="0" anchor="ctr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300" b="0">
                <a:solidFill>
                  <a:srgbClr val="1C242E"/>
                </a:solidFill>
                <a:latin typeface="Microsoft YaHei"/>
                <a:ea typeface="Microsoft YaHei"/>
                <a:cs typeface="Microsoft YaHei"/>
              </a:rPr>
              <a:t>全局批，每卡 1.6 条</a:t>
            </a:r>
          </a:p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300" b="0">
                <a:solidFill>
                  <a:srgbClr val="1C242E"/>
                </a:solidFill>
                <a:latin typeface="Microsoft YaHei"/>
                <a:ea typeface="Microsoft YaHei"/>
                <a:cs typeface="Microsoft YaHei"/>
              </a:rPr>
              <a:t>全在 HBM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6236208" y="4937760"/>
            <a:ext cx="2788920" cy="1481328"/>
          </a:xfrm>
          <a:prstGeom prst="roundRect">
            <a:avLst/>
          </a:prstGeom>
          <a:solidFill>
            <a:srgbClr val="F4F7FA"/>
          </a:solidFill>
          <a:ln w="12700">
            <a:solidFill>
              <a:srgbClr val="D6DCE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6382512" y="5010912"/>
            <a:ext cx="2514600" cy="237744"/>
          </a:xfrm>
          <a:prstGeom prst="rect">
            <a:avLst/>
          </a:prstGeom>
          <a:noFill/>
        </p:spPr>
        <p:txBody>
          <a:bodyPr wrap="square" lIns="0" rIns="0" tIns="0" bIns="0" anchor="ctr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200" b="1">
                <a:solidFill>
                  <a:srgbClr val="5A636E"/>
                </a:solidFill>
                <a:latin typeface="Microsoft YaHei"/>
                <a:ea typeface="Microsoft YaHei"/>
                <a:cs typeface="Microsoft YaHei"/>
              </a:rPr>
              <a:t>1M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382512" y="5248656"/>
            <a:ext cx="2514600" cy="457200"/>
          </a:xfrm>
          <a:prstGeom prst="rect">
            <a:avLst/>
          </a:prstGeom>
          <a:noFill/>
        </p:spPr>
        <p:txBody>
          <a:bodyPr wrap="square" lIns="0" rIns="0" tIns="0" bIns="0" anchor="ctr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800" b="1">
                <a:solidFill>
                  <a:srgbClr val="0E7A76"/>
                </a:solidFill>
                <a:latin typeface="Microsoft YaHei"/>
                <a:ea typeface="Microsoft YaHei"/>
                <a:cs typeface="Microsoft YaHei"/>
              </a:rPr>
              <a:t>173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382512" y="5724144"/>
            <a:ext cx="2514600" cy="585216"/>
          </a:xfrm>
          <a:prstGeom prst="rect">
            <a:avLst/>
          </a:prstGeom>
          <a:noFill/>
        </p:spPr>
        <p:txBody>
          <a:bodyPr wrap="square" lIns="0" rIns="0" tIns="0" bIns="0" anchor="ctr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300" b="0">
                <a:solidFill>
                  <a:srgbClr val="1C242E"/>
                </a:solidFill>
                <a:latin typeface="Microsoft YaHei"/>
                <a:ea typeface="Microsoft YaHei"/>
                <a:cs typeface="Microsoft YaHei"/>
              </a:rPr>
              <a:t>全局批，每卡 1.4 条</a:t>
            </a:r>
          </a:p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300" b="0">
                <a:solidFill>
                  <a:srgbClr val="1C242E"/>
                </a:solidFill>
                <a:latin typeface="Microsoft YaHei"/>
                <a:ea typeface="Microsoft YaHei"/>
                <a:cs typeface="Microsoft YaHei"/>
              </a:rPr>
              <a:t>全在 HBM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9162288" y="4937760"/>
            <a:ext cx="2788920" cy="1481328"/>
          </a:xfrm>
          <a:prstGeom prst="roundRect">
            <a:avLst/>
          </a:prstGeom>
          <a:solidFill>
            <a:srgbClr val="F4F7FA"/>
          </a:solidFill>
          <a:ln w="12700">
            <a:solidFill>
              <a:srgbClr val="D6DCE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9308592" y="5010912"/>
            <a:ext cx="2514600" cy="237744"/>
          </a:xfrm>
          <a:prstGeom prst="rect">
            <a:avLst/>
          </a:prstGeom>
          <a:noFill/>
        </p:spPr>
        <p:txBody>
          <a:bodyPr wrap="square" lIns="0" rIns="0" tIns="0" bIns="0" anchor="ctr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200" b="1">
                <a:solidFill>
                  <a:srgbClr val="5A636E"/>
                </a:solidFill>
                <a:latin typeface="Microsoft YaHei"/>
                <a:ea typeface="Microsoft YaHei"/>
                <a:cs typeface="Microsoft YaHei"/>
              </a:rPr>
              <a:t>0.25×10^6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9308592" y="5248656"/>
            <a:ext cx="2514600" cy="457200"/>
          </a:xfrm>
          <a:prstGeom prst="rect">
            <a:avLst/>
          </a:prstGeom>
          <a:noFill/>
        </p:spPr>
        <p:txBody>
          <a:bodyPr wrap="square" lIns="0" rIns="0" tIns="0" bIns="0" anchor="ctr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800" b="1">
                <a:solidFill>
                  <a:srgbClr val="0E7A76"/>
                </a:solidFill>
                <a:latin typeface="Microsoft YaHei"/>
                <a:ea typeface="Microsoft YaHei"/>
                <a:cs typeface="Microsoft YaHei"/>
              </a:rPr>
              <a:t>197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9308592" y="5724144"/>
            <a:ext cx="2514600" cy="585216"/>
          </a:xfrm>
          <a:prstGeom prst="rect">
            <a:avLst/>
          </a:prstGeom>
          <a:noFill/>
        </p:spPr>
        <p:txBody>
          <a:bodyPr wrap="square" lIns="0" rIns="0" tIns="0" bIns="0" anchor="ctr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300" b="0">
                <a:solidFill>
                  <a:srgbClr val="1C242E"/>
                </a:solidFill>
                <a:latin typeface="Microsoft YaHei"/>
                <a:ea typeface="Microsoft YaHei"/>
                <a:cs typeface="Microsoft YaHei"/>
              </a:rPr>
              <a:t>全局批，每卡 1.5 条</a:t>
            </a:r>
          </a:p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300" b="0">
                <a:solidFill>
                  <a:srgbClr val="1C242E"/>
                </a:solidFill>
                <a:latin typeface="Microsoft YaHei"/>
                <a:ea typeface="Microsoft YaHei"/>
                <a:cs typeface="Microsoft YaHei"/>
              </a:rPr>
              <a:t>全在 HBM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145A9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84048" y="146304"/>
            <a:ext cx="9692640" cy="256032"/>
          </a:xfrm>
          <a:prstGeom prst="rect">
            <a:avLst/>
          </a:prstGeom>
          <a:noFill/>
        </p:spPr>
        <p:txBody>
          <a:bodyPr wrap="square" lIns="0" rIns="0" tIns="0" bIns="0" anchor="ctr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200" b="1">
                <a:solidFill>
                  <a:srgbClr val="145A96"/>
                </a:solidFill>
                <a:latin typeface="Microsoft YaHei"/>
                <a:ea typeface="Microsoft YaHei"/>
                <a:cs typeface="Microsoft YaHei"/>
              </a:rPr>
              <a:t>Decode    ·    TPOT ≤ 30 毫秒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84048" y="384048"/>
            <a:ext cx="11430000" cy="384048"/>
          </a:xfrm>
          <a:prstGeom prst="rect">
            <a:avLst/>
          </a:prstGeom>
          <a:noFill/>
        </p:spPr>
        <p:txBody>
          <a:bodyPr wrap="square" lIns="0" rIns="0" tIns="0" bIns="0" anchor="ctr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600" b="1">
                <a:solidFill>
                  <a:srgbClr val="0E2A47"/>
                </a:solidFill>
                <a:latin typeface="Microsoft YaHei"/>
                <a:ea typeface="Microsoft YaHei"/>
                <a:cs typeface="Microsoft YaHei"/>
              </a:rPr>
              <a:t>30 毫秒、短输入，全局批 4352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424160" y="164592"/>
            <a:ext cx="1371600" cy="237744"/>
          </a:xfrm>
          <a:prstGeom prst="rect">
            <a:avLst/>
          </a:prstGeom>
          <a:noFill/>
        </p:spPr>
        <p:txBody>
          <a:bodyPr wrap="square" lIns="0" rIns="0" tIns="0" bIns="0" anchor="ctr"/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1200" b="0">
                <a:solidFill>
                  <a:srgbClr val="5A636E"/>
                </a:solidFill>
                <a:latin typeface="Microsoft YaHei"/>
                <a:ea typeface="Microsoft YaHei"/>
                <a:cs typeface="Microsoft YaHei"/>
              </a:rPr>
              <a:t>5  /  11</a:t>
            </a:r>
          </a:p>
        </p:txBody>
      </p:sp>
      <p:sp>
        <p:nvSpPr>
          <p:cNvPr id="6" name="Rectangle 5"/>
          <p:cNvSpPr/>
          <p:nvPr/>
        </p:nvSpPr>
        <p:spPr>
          <a:xfrm>
            <a:off x="384048" y="6565392"/>
            <a:ext cx="11430000" cy="9144"/>
          </a:xfrm>
          <a:prstGeom prst="rect">
            <a:avLst/>
          </a:prstGeom>
          <a:solidFill>
            <a:srgbClr val="D6DCE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384048" y="6583680"/>
            <a:ext cx="11430000" cy="219456"/>
          </a:xfrm>
          <a:prstGeom prst="rect">
            <a:avLst/>
          </a:prstGeom>
          <a:noFill/>
        </p:spPr>
        <p:txBody>
          <a:bodyPr wrap="square" lIns="0" rIns="0" tIns="0" bIns="0" anchor="ctr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5A636E"/>
                </a:solidFill>
                <a:latin typeface="Microsoft YaHei"/>
                <a:ea typeface="Microsoft YaHei"/>
                <a:cs typeface="Microsoft YaHei"/>
              </a:rPr>
              <a:t>10T 为外推    ·    96 GB / 486 T、一份 128 卡副本    ·    访存与通信 80%    ·    计算 70%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384048" y="841248"/>
            <a:ext cx="11430000" cy="420624"/>
          </a:xfrm>
          <a:prstGeom prst="roundRect">
            <a:avLst/>
          </a:prstGeom>
          <a:solidFill>
            <a:srgbClr val="E7F3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530352" y="841248"/>
            <a:ext cx="11137392" cy="420624"/>
          </a:xfrm>
          <a:prstGeom prst="rect">
            <a:avLst/>
          </a:prstGeom>
          <a:noFill/>
        </p:spPr>
        <p:txBody>
          <a:bodyPr wrap="square" lIns="0" rIns="0" tIns="0" bIns="0" anchor="ctr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400" b="1">
                <a:solidFill>
                  <a:srgbClr val="0E7A76"/>
                </a:solidFill>
                <a:latin typeface="Microsoft YaHei"/>
                <a:ea typeface="Microsoft YaHei"/>
                <a:cs typeface="Microsoft YaHei"/>
              </a:rPr>
              <a:t>专家整卡读完 13.40 毫秒，机内 allreduce 10.41 毫秒。D2D 上的 EP 1.27 毫秒。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84048" y="1335024"/>
            <a:ext cx="5669280" cy="219456"/>
          </a:xfrm>
          <a:prstGeom prst="rect">
            <a:avLst/>
          </a:prstGeom>
          <a:noFill/>
        </p:spPr>
        <p:txBody>
          <a:bodyPr wrap="square" lIns="0" rIns="0" tIns="0" bIns="0" anchor="ctr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300" b="1">
                <a:solidFill>
                  <a:srgbClr val="145A96"/>
                </a:solidFill>
                <a:latin typeface="Microsoft YaHei"/>
                <a:ea typeface="Microsoft YaHei"/>
                <a:cs typeface="Microsoft YaHei"/>
              </a:rPr>
              <a:t>并行策略    ·    和 10 毫秒同一份切分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537960" y="1335024"/>
            <a:ext cx="5212080" cy="219456"/>
          </a:xfrm>
          <a:prstGeom prst="rect">
            <a:avLst/>
          </a:prstGeom>
          <a:noFill/>
        </p:spPr>
        <p:txBody>
          <a:bodyPr wrap="square" lIns="0" rIns="0" tIns="0" bIns="0" anchor="ctr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300" b="1">
                <a:solidFill>
                  <a:srgbClr val="145A96"/>
                </a:solidFill>
                <a:latin typeface="Microsoft YaHei"/>
                <a:ea typeface="Microsoft YaHei"/>
                <a:cs typeface="Microsoft YaHei"/>
              </a:rPr>
              <a:t>短输入、全局批 4352，这一步怎么加</a:t>
            </a:r>
          </a:p>
        </p:txBody>
      </p:sp>
      <p:graphicFrame>
        <p:nvGraphicFramePr>
          <p:cNvPr id="12" name="Table 11"/>
          <p:cNvGraphicFramePr>
            <a:graphicFrameLocks noGrp="1"/>
          </p:cNvGraphicFramePr>
          <p:nvPr/>
        </p:nvGraphicFramePr>
        <p:xfrm>
          <a:off x="384048" y="1627632"/>
          <a:ext cx="5852160" cy="2414016"/>
        </p:xfrm>
        <a:graphic>
          <a:graphicData uri="http://schemas.openxmlformats.org/drawingml/2006/table">
            <a:tbl>
              <a:tblPr firstRow="1"/>
              <a:tblGrid>
                <a:gridCol w="1051560"/>
                <a:gridCol w="2331720"/>
                <a:gridCol w="2468880"/>
              </a:tblGrid>
              <a:tr h="256032">
                <a:tc>
                  <a:txBody>
                    <a:bodyPr wrap="square"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  <a:lnSpc>
                          <a:spcPct val="100000"/>
                        </a:lnSpc>
                      </a:pPr>
                      <a:r>
                        <a:rPr sz="1200" b="1">
                          <a:solidFill>
                            <a:srgbClr val="FFFFFF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/>
                      </a:r>
                    </a:p>
                  </a:txBody>
                  <a:tcPr marL="54864" marR="54864" marT="27432" marB="18288" anchor="ctr">
                    <a:solidFill>
                      <a:srgbClr val="0E2A47"/>
                    </a:solidFill>
                    <a:lnL w="6350">
                      <a:solidFill>
                        <a:srgbClr val="D6DCE2"/>
                      </a:solidFill>
                    </a:lnL>
                    <a:lnR w="6350">
                      <a:solidFill>
                        <a:srgbClr val="D6DCE2"/>
                      </a:solidFill>
                    </a:lnR>
                    <a:lnT w="6350">
                      <a:solidFill>
                        <a:srgbClr val="D6DCE2"/>
                      </a:solidFill>
                    </a:lnT>
                    <a:lnB w="6350">
                      <a:solidFill>
                        <a:srgbClr val="D6DCE2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  <a:lnSpc>
                          <a:spcPct val="100000"/>
                        </a:lnSpc>
                      </a:pPr>
                      <a:r>
                        <a:rPr sz="1200" b="1">
                          <a:solidFill>
                            <a:srgbClr val="FFFFFF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Attention</a:t>
                      </a:r>
                    </a:p>
                  </a:txBody>
                  <a:tcPr marL="54864" marR="54864" marT="27432" marB="18288" anchor="ctr">
                    <a:solidFill>
                      <a:srgbClr val="0E2A47"/>
                    </a:solidFill>
                    <a:lnL w="6350">
                      <a:solidFill>
                        <a:srgbClr val="D6DCE2"/>
                      </a:solidFill>
                    </a:lnL>
                    <a:lnR w="6350">
                      <a:solidFill>
                        <a:srgbClr val="D6DCE2"/>
                      </a:solidFill>
                    </a:lnR>
                    <a:lnT w="6350">
                      <a:solidFill>
                        <a:srgbClr val="D6DCE2"/>
                      </a:solidFill>
                    </a:lnT>
                    <a:lnB w="6350">
                      <a:solidFill>
                        <a:srgbClr val="D6DCE2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  <a:lnSpc>
                          <a:spcPct val="100000"/>
                        </a:lnSpc>
                      </a:pPr>
                      <a:r>
                        <a:rPr sz="1200" b="1">
                          <a:solidFill>
                            <a:srgbClr val="FFFFFF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MoE</a:t>
                      </a:r>
                    </a:p>
                  </a:txBody>
                  <a:tcPr marL="54864" marR="54864" marT="27432" marB="18288" anchor="ctr">
                    <a:solidFill>
                      <a:srgbClr val="0E2A47"/>
                    </a:solidFill>
                    <a:lnL w="6350">
                      <a:solidFill>
                        <a:srgbClr val="D6DCE2"/>
                      </a:solidFill>
                    </a:lnL>
                    <a:lnR w="6350">
                      <a:solidFill>
                        <a:srgbClr val="D6DCE2"/>
                      </a:solidFill>
                    </a:lnR>
                    <a:lnT w="6350">
                      <a:solidFill>
                        <a:srgbClr val="D6DCE2"/>
                      </a:solidFill>
                    </a:lnT>
                    <a:lnB w="6350">
                      <a:solidFill>
                        <a:srgbClr val="D6DCE2"/>
                      </a:solidFill>
                    </a:lnB>
                  </a:tcPr>
                </a:tc>
              </a:tr>
              <a:tr h="530352">
                <a:tc>
                  <a:txBody>
                    <a:bodyPr wrap="square"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  <a:lnSpc>
                          <a:spcPct val="100000"/>
                        </a:lnSpc>
                      </a:pPr>
                      <a:r>
                        <a:rPr sz="1200" b="1">
                          <a:solidFill>
                            <a:srgbClr val="0E2A47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并行</a:t>
                      </a:r>
                    </a:p>
                  </a:txBody>
                  <a:tcPr marL="54864" marR="54864" marT="27432" marB="18288" anchor="ctr">
                    <a:solidFill>
                      <a:srgbClr val="F4F7FA"/>
                    </a:solidFill>
                    <a:lnL w="6350">
                      <a:solidFill>
                        <a:srgbClr val="D6DCE2"/>
                      </a:solidFill>
                    </a:lnL>
                    <a:lnR w="6350">
                      <a:solidFill>
                        <a:srgbClr val="D6DCE2"/>
                      </a:solidFill>
                    </a:lnR>
                    <a:lnT w="6350">
                      <a:solidFill>
                        <a:srgbClr val="D6DCE2"/>
                      </a:solidFill>
                    </a:lnT>
                    <a:lnB w="6350">
                      <a:solidFill>
                        <a:srgbClr val="D6DCE2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  <a:lnSpc>
                          <a:spcPct val="100000"/>
                        </a:lnSpc>
                      </a:pPr>
                      <a:r>
                        <a:rPr sz="1200" b="0">
                          <a:solidFill>
                            <a:srgbClr val="1C242E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仍是 TP=8，DP=16</a:t>
                      </a:r>
                    </a:p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  <a:lnSpc>
                          <a:spcPct val="100000"/>
                        </a:lnSpc>
                      </a:pPr>
                      <a:r>
                        <a:rPr sz="1200" b="0">
                          <a:solidFill>
                            <a:srgbClr val="1C242E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4352 / 16 = 272 条 / 组</a:t>
                      </a:r>
                    </a:p>
                  </a:txBody>
                  <a:tcPr marL="54864" marR="54864" marT="27432" marB="18288" anchor="ctr">
                    <a:solidFill>
                      <a:srgbClr val="FFFFFF"/>
                    </a:solidFill>
                    <a:lnL w="6350">
                      <a:solidFill>
                        <a:srgbClr val="D6DCE2"/>
                      </a:solidFill>
                    </a:lnL>
                    <a:lnR w="6350">
                      <a:solidFill>
                        <a:srgbClr val="D6DCE2"/>
                      </a:solidFill>
                    </a:lnR>
                    <a:lnT w="6350">
                      <a:solidFill>
                        <a:srgbClr val="D6DCE2"/>
                      </a:solidFill>
                    </a:lnT>
                    <a:lnB w="6350">
                      <a:solidFill>
                        <a:srgbClr val="D6DCE2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  <a:lnSpc>
                          <a:spcPct val="100000"/>
                        </a:lnSpc>
                      </a:pPr>
                      <a:r>
                        <a:rPr sz="1200" b="0">
                          <a:solidFill>
                            <a:srgbClr val="1C242E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仍是 EP=128</a:t>
                      </a:r>
                    </a:p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  <a:lnSpc>
                          <a:spcPct val="100000"/>
                        </a:lnSpc>
                      </a:pPr>
                      <a:r>
                        <a:rPr sz="1200" b="0">
                          <a:solidFill>
                            <a:srgbClr val="1C242E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每卡 19.3 个专家全醒</a:t>
                      </a:r>
                    </a:p>
                  </a:txBody>
                  <a:tcPr marL="54864" marR="54864" marT="27432" marB="18288" anchor="ctr">
                    <a:solidFill>
                      <a:srgbClr val="FFFFFF"/>
                    </a:solidFill>
                    <a:lnL w="6350">
                      <a:solidFill>
                        <a:srgbClr val="D6DCE2"/>
                      </a:solidFill>
                    </a:lnL>
                    <a:lnR w="6350">
                      <a:solidFill>
                        <a:srgbClr val="D6DCE2"/>
                      </a:solidFill>
                    </a:lnR>
                    <a:lnT w="6350">
                      <a:solidFill>
                        <a:srgbClr val="D6DCE2"/>
                      </a:solidFill>
                    </a:lnT>
                    <a:lnB w="6350">
                      <a:solidFill>
                        <a:srgbClr val="D6DCE2"/>
                      </a:solidFill>
                    </a:lnB>
                  </a:tcPr>
                </a:tc>
              </a:tr>
              <a:tr h="530352">
                <a:tc>
                  <a:txBody>
                    <a:bodyPr wrap="square"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  <a:lnSpc>
                          <a:spcPct val="100000"/>
                        </a:lnSpc>
                      </a:pPr>
                      <a:r>
                        <a:rPr sz="1200" b="1">
                          <a:solidFill>
                            <a:srgbClr val="0E7A76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通信</a:t>
                      </a:r>
                    </a:p>
                  </a:txBody>
                  <a:tcPr marL="54864" marR="54864" marT="27432" marB="18288" anchor="ctr">
                    <a:solidFill>
                      <a:srgbClr val="F4F7FA"/>
                    </a:solidFill>
                    <a:lnL w="6350">
                      <a:solidFill>
                        <a:srgbClr val="D6DCE2"/>
                      </a:solidFill>
                    </a:lnL>
                    <a:lnR w="6350">
                      <a:solidFill>
                        <a:srgbClr val="D6DCE2"/>
                      </a:solidFill>
                    </a:lnR>
                    <a:lnT w="6350">
                      <a:solidFill>
                        <a:srgbClr val="D6DCE2"/>
                      </a:solidFill>
                    </a:lnT>
                    <a:lnB w="6350">
                      <a:solidFill>
                        <a:srgbClr val="D6DCE2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  <a:lnSpc>
                          <a:spcPct val="100000"/>
                        </a:lnSpc>
                      </a:pPr>
                      <a:r>
                        <a:rPr sz="1200" b="1">
                          <a:solidFill>
                            <a:srgbClr val="0E7A76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AR 在融合 kernel 后单独加</a:t>
                      </a:r>
                    </a:p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  <a:lnSpc>
                          <a:spcPct val="100000"/>
                        </a:lnSpc>
                      </a:pPr>
                      <a:r>
                        <a:rPr sz="1200" b="1">
                          <a:solidFill>
                            <a:srgbClr val="0E7A76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这一档不能隐藏</a:t>
                      </a:r>
                    </a:p>
                  </a:txBody>
                  <a:tcPr marL="54864" marR="54864" marT="27432" marB="18288" anchor="ctr">
                    <a:solidFill>
                      <a:srgbClr val="E7F3F2"/>
                    </a:solidFill>
                    <a:lnL w="6350">
                      <a:solidFill>
                        <a:srgbClr val="D6DCE2"/>
                      </a:solidFill>
                    </a:lnL>
                    <a:lnR w="6350">
                      <a:solidFill>
                        <a:srgbClr val="D6DCE2"/>
                      </a:solidFill>
                    </a:lnR>
                    <a:lnT w="6350">
                      <a:solidFill>
                        <a:srgbClr val="D6DCE2"/>
                      </a:solidFill>
                    </a:lnT>
                    <a:lnB w="6350">
                      <a:solidFill>
                        <a:srgbClr val="D6DCE2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  <a:lnSpc>
                          <a:spcPct val="100000"/>
                        </a:lnSpc>
                      </a:pPr>
                      <a:r>
                        <a:rPr sz="1200" b="1">
                          <a:solidFill>
                            <a:srgbClr val="0E7A76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dispatch + combine 走 320 GB/s</a:t>
                      </a:r>
                    </a:p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  <a:lnSpc>
                          <a:spcPct val="100000"/>
                        </a:lnSpc>
                      </a:pPr>
                      <a:r>
                        <a:rPr sz="1200" b="1">
                          <a:solidFill>
                            <a:srgbClr val="0E7A76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合计 1.27 毫秒</a:t>
                      </a:r>
                    </a:p>
                  </a:txBody>
                  <a:tcPr marL="54864" marR="54864" marT="27432" marB="18288" anchor="ctr">
                    <a:solidFill>
                      <a:srgbClr val="E7F3F2"/>
                    </a:solidFill>
                    <a:lnL w="6350">
                      <a:solidFill>
                        <a:srgbClr val="D6DCE2"/>
                      </a:solidFill>
                    </a:lnL>
                    <a:lnR w="6350">
                      <a:solidFill>
                        <a:srgbClr val="D6DCE2"/>
                      </a:solidFill>
                    </a:lnR>
                    <a:lnT w="6350">
                      <a:solidFill>
                        <a:srgbClr val="D6DCE2"/>
                      </a:solidFill>
                    </a:lnT>
                    <a:lnB w="6350">
                      <a:solidFill>
                        <a:srgbClr val="D6DCE2"/>
                      </a:solidFill>
                    </a:lnB>
                  </a:tcPr>
                </a:tc>
              </a:tr>
              <a:tr h="566928">
                <a:tc>
                  <a:txBody>
                    <a:bodyPr wrap="square"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  <a:lnSpc>
                          <a:spcPct val="100000"/>
                        </a:lnSpc>
                      </a:pPr>
                      <a:r>
                        <a:rPr sz="1200" b="1">
                          <a:solidFill>
                            <a:srgbClr val="0E2A47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访存</a:t>
                      </a:r>
                    </a:p>
                  </a:txBody>
                  <a:tcPr marL="54864" marR="54864" marT="27432" marB="18288" anchor="ctr">
                    <a:solidFill>
                      <a:srgbClr val="F4F7FA"/>
                    </a:solidFill>
                    <a:lnL w="6350">
                      <a:solidFill>
                        <a:srgbClr val="D6DCE2"/>
                      </a:solidFill>
                    </a:lnL>
                    <a:lnR w="6350">
                      <a:solidFill>
                        <a:srgbClr val="D6DCE2"/>
                      </a:solidFill>
                    </a:lnR>
                    <a:lnT w="6350">
                      <a:solidFill>
                        <a:srgbClr val="D6DCE2"/>
                      </a:solidFill>
                    </a:lnT>
                    <a:lnB w="6350">
                      <a:solidFill>
                        <a:srgbClr val="D6DCE2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  <a:lnSpc>
                          <a:spcPct val="100000"/>
                        </a:lnSpc>
                      </a:pPr>
                      <a:r>
                        <a:rPr sz="1200" b="0">
                          <a:solidFill>
                            <a:srgbClr val="1C242E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短输入全在 HBM</a:t>
                      </a:r>
                    </a:p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  <a:lnSpc>
                          <a:spcPct val="100000"/>
                        </a:lnSpc>
                      </a:pPr>
                      <a:r>
                        <a:rPr sz="1200" b="0">
                          <a:solidFill>
                            <a:srgbClr val="1C242E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放不下走每卡内存池 320 GB/s</a:t>
                      </a:r>
                    </a:p>
                  </a:txBody>
                  <a:tcPr marL="54864" marR="54864" marT="27432" marB="18288" anchor="ctr">
                    <a:solidFill>
                      <a:srgbClr val="FFFFFF"/>
                    </a:solidFill>
                    <a:lnL w="6350">
                      <a:solidFill>
                        <a:srgbClr val="D6DCE2"/>
                      </a:solidFill>
                    </a:lnL>
                    <a:lnR w="6350">
                      <a:solidFill>
                        <a:srgbClr val="D6DCE2"/>
                      </a:solidFill>
                    </a:lnR>
                    <a:lnT w="6350">
                      <a:solidFill>
                        <a:srgbClr val="D6DCE2"/>
                      </a:solidFill>
                    </a:lnT>
                    <a:lnB w="6350">
                      <a:solidFill>
                        <a:srgbClr val="D6DCE2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  <a:lnSpc>
                          <a:spcPct val="100000"/>
                        </a:lnSpc>
                      </a:pPr>
                      <a:r>
                        <a:rPr sz="1200" b="0">
                          <a:solidFill>
                            <a:srgbClr val="1C242E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38.9 GB 路由 + 4.03 GB 共享</a:t>
                      </a:r>
                    </a:p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  <a:lnSpc>
                          <a:spcPct val="100000"/>
                        </a:lnSpc>
                      </a:pPr>
                      <a:r>
                        <a:rPr sz="1200" b="0">
                          <a:solidFill>
                            <a:srgbClr val="1C242E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/ 3.20 TB/s = 13.40 毫秒</a:t>
                      </a:r>
                    </a:p>
                  </a:txBody>
                  <a:tcPr marL="54864" marR="54864" marT="27432" marB="18288" anchor="ctr">
                    <a:solidFill>
                      <a:srgbClr val="FFFFFF"/>
                    </a:solidFill>
                    <a:lnL w="6350">
                      <a:solidFill>
                        <a:srgbClr val="D6DCE2"/>
                      </a:solidFill>
                    </a:lnL>
                    <a:lnR w="6350">
                      <a:solidFill>
                        <a:srgbClr val="D6DCE2"/>
                      </a:solidFill>
                    </a:lnR>
                    <a:lnT w="6350">
                      <a:solidFill>
                        <a:srgbClr val="D6DCE2"/>
                      </a:solidFill>
                    </a:lnT>
                    <a:lnB w="6350">
                      <a:solidFill>
                        <a:srgbClr val="D6DCE2"/>
                      </a:solidFill>
                    </a:lnB>
                  </a:tcPr>
                </a:tc>
              </a:tr>
              <a:tr h="530352">
                <a:tc>
                  <a:txBody>
                    <a:bodyPr wrap="square"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  <a:lnSpc>
                          <a:spcPct val="100000"/>
                        </a:lnSpc>
                      </a:pPr>
                      <a:r>
                        <a:rPr sz="1200" b="1">
                          <a:solidFill>
                            <a:srgbClr val="0E2A47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计算</a:t>
                      </a:r>
                    </a:p>
                  </a:txBody>
                  <a:tcPr marL="54864" marR="54864" marT="27432" marB="18288" anchor="ctr">
                    <a:solidFill>
                      <a:srgbClr val="F4F7FA"/>
                    </a:solidFill>
                    <a:lnL w="6350">
                      <a:solidFill>
                        <a:srgbClr val="D6DCE2"/>
                      </a:solidFill>
                    </a:lnL>
                    <a:lnR w="6350">
                      <a:solidFill>
                        <a:srgbClr val="D6DCE2"/>
                      </a:solidFill>
                    </a:lnR>
                    <a:lnT w="6350">
                      <a:solidFill>
                        <a:srgbClr val="D6DCE2"/>
                      </a:solidFill>
                    </a:lnT>
                    <a:lnB w="6350">
                      <a:solidFill>
                        <a:srgbClr val="D6DCE2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  <a:lnSpc>
                          <a:spcPct val="100000"/>
                        </a:lnSpc>
                      </a:pPr>
                      <a:r>
                        <a:rPr sz="1200" b="0">
                          <a:solidFill>
                            <a:srgbClr val="1C242E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注意力计算 4.85 毫秒</a:t>
                      </a:r>
                    </a:p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  <a:lnSpc>
                          <a:spcPct val="100000"/>
                        </a:lnSpc>
                      </a:pPr>
                      <a:r>
                        <a:rPr sz="1200" b="0">
                          <a:solidFill>
                            <a:srgbClr val="1C242E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短于 allreduce</a:t>
                      </a:r>
                    </a:p>
                  </a:txBody>
                  <a:tcPr marL="54864" marR="54864" marT="27432" marB="18288" anchor="ctr">
                    <a:solidFill>
                      <a:srgbClr val="FFFFFF"/>
                    </a:solidFill>
                    <a:lnL w="6350">
                      <a:solidFill>
                        <a:srgbClr val="D6DCE2"/>
                      </a:solidFill>
                    </a:lnL>
                    <a:lnR w="6350">
                      <a:solidFill>
                        <a:srgbClr val="D6DCE2"/>
                      </a:solidFill>
                    </a:lnR>
                    <a:lnT w="6350">
                      <a:solidFill>
                        <a:srgbClr val="D6DCE2"/>
                      </a:solidFill>
                    </a:lnT>
                    <a:lnB w="6350">
                      <a:solidFill>
                        <a:srgbClr val="D6DCE2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  <a:lnSpc>
                          <a:spcPct val="100000"/>
                        </a:lnSpc>
                      </a:pPr>
                      <a:r>
                        <a:rPr sz="1200" b="0">
                          <a:solidFill>
                            <a:srgbClr val="1C242E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每专家约 12.1 token</a:t>
                      </a:r>
                    </a:p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  <a:lnSpc>
                          <a:spcPct val="100000"/>
                        </a:lnSpc>
                      </a:pPr>
                      <a:r>
                        <a:rPr sz="1200" b="0">
                          <a:solidFill>
                            <a:srgbClr val="1C242E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16 行砖，效率 75%，8.45 毫秒</a:t>
                      </a:r>
                    </a:p>
                  </a:txBody>
                  <a:tcPr marL="54864" marR="54864" marT="27432" marB="18288" anchor="ctr">
                    <a:solidFill>
                      <a:srgbClr val="FFFFFF"/>
                    </a:solidFill>
                    <a:lnL w="6350">
                      <a:solidFill>
                        <a:srgbClr val="D6DCE2"/>
                      </a:solidFill>
                    </a:lnL>
                    <a:lnR w="6350">
                      <a:solidFill>
                        <a:srgbClr val="D6DCE2"/>
                      </a:solidFill>
                    </a:lnR>
                    <a:lnT w="6350">
                      <a:solidFill>
                        <a:srgbClr val="D6DCE2"/>
                      </a:solidFill>
                    </a:lnT>
                    <a:lnB w="6350">
                      <a:solidFill>
                        <a:srgbClr val="D6DCE2"/>
                      </a:solidFill>
                    </a:lnB>
                  </a:tcPr>
                </a:tc>
              </a:tr>
            </a:tbl>
          </a:graphicData>
        </a:graphic>
      </p:graphicFrame>
      <p:graphicFrame>
        <p:nvGraphicFramePr>
          <p:cNvPr id="13" name="Table 12"/>
          <p:cNvGraphicFramePr>
            <a:graphicFrameLocks noGrp="1"/>
          </p:cNvGraphicFramePr>
          <p:nvPr/>
        </p:nvGraphicFramePr>
        <p:xfrm>
          <a:off x="6446520" y="1627632"/>
          <a:ext cx="5349240" cy="2542032"/>
        </p:xfrm>
        <a:graphic>
          <a:graphicData uri="http://schemas.openxmlformats.org/drawingml/2006/table">
            <a:tbl>
              <a:tblPr firstRow="1"/>
              <a:tblGrid>
                <a:gridCol w="1143000"/>
                <a:gridCol w="3154680"/>
                <a:gridCol w="1051560"/>
              </a:tblGrid>
              <a:tr h="256032">
                <a:tc>
                  <a:txBody>
                    <a:bodyPr wrap="square"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  <a:lnSpc>
                          <a:spcPct val="100000"/>
                        </a:lnSpc>
                      </a:pPr>
                      <a:r>
                        <a:rPr sz="1200" b="1">
                          <a:solidFill>
                            <a:srgbClr val="FFFFFF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笔</a:t>
                      </a:r>
                    </a:p>
                  </a:txBody>
                  <a:tcPr marL="54864" marR="54864" marT="27432" marB="18288" anchor="ctr">
                    <a:solidFill>
                      <a:srgbClr val="0E2A47"/>
                    </a:solidFill>
                    <a:lnL w="6350">
                      <a:solidFill>
                        <a:srgbClr val="D6DCE2"/>
                      </a:solidFill>
                    </a:lnL>
                    <a:lnR w="6350">
                      <a:solidFill>
                        <a:srgbClr val="D6DCE2"/>
                      </a:solidFill>
                    </a:lnR>
                    <a:lnT w="6350">
                      <a:solidFill>
                        <a:srgbClr val="D6DCE2"/>
                      </a:solidFill>
                    </a:lnT>
                    <a:lnB w="6350">
                      <a:solidFill>
                        <a:srgbClr val="D6DCE2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  <a:lnSpc>
                          <a:spcPct val="100000"/>
                        </a:lnSpc>
                      </a:pPr>
                      <a:r>
                        <a:rPr sz="1200" b="1">
                          <a:solidFill>
                            <a:srgbClr val="FFFFFF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白话</a:t>
                      </a:r>
                    </a:p>
                  </a:txBody>
                  <a:tcPr marL="54864" marR="54864" marT="27432" marB="18288" anchor="ctr">
                    <a:solidFill>
                      <a:srgbClr val="0E2A47"/>
                    </a:solidFill>
                    <a:lnL w="6350">
                      <a:solidFill>
                        <a:srgbClr val="D6DCE2"/>
                      </a:solidFill>
                    </a:lnL>
                    <a:lnR w="6350">
                      <a:solidFill>
                        <a:srgbClr val="D6DCE2"/>
                      </a:solidFill>
                    </a:lnR>
                    <a:lnT w="6350">
                      <a:solidFill>
                        <a:srgbClr val="D6DCE2"/>
                      </a:solidFill>
                    </a:lnT>
                    <a:lnB w="6350">
                      <a:solidFill>
                        <a:srgbClr val="D6DCE2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  <a:lnSpc>
                          <a:spcPct val="100000"/>
                        </a:lnSpc>
                      </a:pPr>
                      <a:r>
                        <a:rPr sz="1200" b="1">
                          <a:solidFill>
                            <a:srgbClr val="FFFFFF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时间</a:t>
                      </a:r>
                    </a:p>
                  </a:txBody>
                  <a:tcPr marL="54864" marR="54864" marT="27432" marB="18288" anchor="ctr">
                    <a:solidFill>
                      <a:srgbClr val="0E2A47"/>
                    </a:solidFill>
                    <a:lnL w="6350">
                      <a:solidFill>
                        <a:srgbClr val="D6DCE2"/>
                      </a:solidFill>
                    </a:lnL>
                    <a:lnR w="6350">
                      <a:solidFill>
                        <a:srgbClr val="D6DCE2"/>
                      </a:solidFill>
                    </a:lnR>
                    <a:lnT w="6350">
                      <a:solidFill>
                        <a:srgbClr val="D6DCE2"/>
                      </a:solidFill>
                    </a:lnT>
                    <a:lnB w="6350">
                      <a:solidFill>
                        <a:srgbClr val="D6DCE2"/>
                      </a:solidFill>
                    </a:lnB>
                  </a:tcPr>
                </a:tc>
              </a:tr>
              <a:tr h="475488">
                <a:tc>
                  <a:txBody>
                    <a:bodyPr wrap="square"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  <a:lnSpc>
                          <a:spcPct val="100000"/>
                        </a:lnSpc>
                      </a:pPr>
                      <a:r>
                        <a:rPr sz="1200" b="1">
                          <a:solidFill>
                            <a:srgbClr val="0E7A76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Attn kernel</a:t>
                      </a:r>
                    </a:p>
                  </a:txBody>
                  <a:tcPr marL="54864" marR="54864" marT="27432" marB="18288" anchor="ctr">
                    <a:solidFill>
                      <a:srgbClr val="F4F7FA"/>
                    </a:solidFill>
                    <a:lnL w="6350">
                      <a:solidFill>
                        <a:srgbClr val="D6DCE2"/>
                      </a:solidFill>
                    </a:lnL>
                    <a:lnR w="6350">
                      <a:solidFill>
                        <a:srgbClr val="D6DCE2"/>
                      </a:solidFill>
                    </a:lnR>
                    <a:lnT w="6350">
                      <a:solidFill>
                        <a:srgbClr val="D6DCE2"/>
                      </a:solidFill>
                    </a:lnT>
                    <a:lnB w="6350">
                      <a:solidFill>
                        <a:srgbClr val="D6DCE2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  <a:lnSpc>
                          <a:spcPct val="100000"/>
                        </a:lnSpc>
                      </a:pPr>
                      <a:r>
                        <a:rPr sz="1200" b="1">
                          <a:solidFill>
                            <a:srgbClr val="0E7A76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max(HBM 1.02, 计算 4.85)</a:t>
                      </a:r>
                    </a:p>
                  </a:txBody>
                  <a:tcPr marL="54864" marR="54864" marT="27432" marB="18288" anchor="ctr">
                    <a:solidFill>
                      <a:srgbClr val="E7F3F2"/>
                    </a:solidFill>
                    <a:lnL w="6350">
                      <a:solidFill>
                        <a:srgbClr val="D6DCE2"/>
                      </a:solidFill>
                    </a:lnL>
                    <a:lnR w="6350">
                      <a:solidFill>
                        <a:srgbClr val="D6DCE2"/>
                      </a:solidFill>
                    </a:lnR>
                    <a:lnT w="6350">
                      <a:solidFill>
                        <a:srgbClr val="D6DCE2"/>
                      </a:solidFill>
                    </a:lnT>
                    <a:lnB w="6350">
                      <a:solidFill>
                        <a:srgbClr val="D6DCE2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  <a:lnSpc>
                          <a:spcPct val="100000"/>
                        </a:lnSpc>
                      </a:pPr>
                      <a:r>
                        <a:rPr sz="1200" b="1">
                          <a:solidFill>
                            <a:srgbClr val="0E7A76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4.85 毫秒</a:t>
                      </a:r>
                    </a:p>
                  </a:txBody>
                  <a:tcPr marL="54864" marR="54864" marT="27432" marB="18288" anchor="ctr">
                    <a:solidFill>
                      <a:srgbClr val="E7F3F2"/>
                    </a:solidFill>
                    <a:lnL w="6350">
                      <a:solidFill>
                        <a:srgbClr val="D6DCE2"/>
                      </a:solidFill>
                    </a:lnL>
                    <a:lnR w="6350">
                      <a:solidFill>
                        <a:srgbClr val="D6DCE2"/>
                      </a:solidFill>
                    </a:lnR>
                    <a:lnT w="6350">
                      <a:solidFill>
                        <a:srgbClr val="D6DCE2"/>
                      </a:solidFill>
                    </a:lnT>
                    <a:lnB w="6350">
                      <a:solidFill>
                        <a:srgbClr val="D6DCE2"/>
                      </a:solidFill>
                    </a:lnB>
                  </a:tcPr>
                </a:tc>
              </a:tr>
              <a:tr h="475488">
                <a:tc>
                  <a:txBody>
                    <a:bodyPr wrap="square"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  <a:lnSpc>
                          <a:spcPct val="100000"/>
                        </a:lnSpc>
                      </a:pPr>
                      <a:r>
                        <a:rPr sz="1200" b="1">
                          <a:solidFill>
                            <a:srgbClr val="0E7A76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AR</a:t>
                      </a:r>
                    </a:p>
                  </a:txBody>
                  <a:tcPr marL="54864" marR="54864" marT="27432" marB="18288" anchor="ctr">
                    <a:solidFill>
                      <a:srgbClr val="F4F7FA"/>
                    </a:solidFill>
                    <a:lnL w="6350">
                      <a:solidFill>
                        <a:srgbClr val="D6DCE2"/>
                      </a:solidFill>
                    </a:lnL>
                    <a:lnR w="6350">
                      <a:solidFill>
                        <a:srgbClr val="D6DCE2"/>
                      </a:solidFill>
                    </a:lnR>
                    <a:lnT w="6350">
                      <a:solidFill>
                        <a:srgbClr val="D6DCE2"/>
                      </a:solidFill>
                    </a:lnT>
                    <a:lnB w="6350">
                      <a:solidFill>
                        <a:srgbClr val="D6DCE2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  <a:lnSpc>
                          <a:spcPct val="100000"/>
                        </a:lnSpc>
                      </a:pPr>
                      <a:r>
                        <a:rPr sz="1200" b="1">
                          <a:solidFill>
                            <a:srgbClr val="0E7A76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每组 272 条；61 层 ring</a:t>
                      </a:r>
                    </a:p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  <a:lnSpc>
                          <a:spcPct val="100000"/>
                        </a:lnSpc>
                      </a:pPr>
                      <a:r>
                        <a:rPr sz="1200" b="1">
                          <a:solidFill>
                            <a:srgbClr val="0E7A76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不假设与 kernel 重叠</a:t>
                      </a:r>
                    </a:p>
                  </a:txBody>
                  <a:tcPr marL="54864" marR="54864" marT="27432" marB="18288" anchor="ctr">
                    <a:solidFill>
                      <a:srgbClr val="E7F3F2"/>
                    </a:solidFill>
                    <a:lnL w="6350">
                      <a:solidFill>
                        <a:srgbClr val="D6DCE2"/>
                      </a:solidFill>
                    </a:lnL>
                    <a:lnR w="6350">
                      <a:solidFill>
                        <a:srgbClr val="D6DCE2"/>
                      </a:solidFill>
                    </a:lnR>
                    <a:lnT w="6350">
                      <a:solidFill>
                        <a:srgbClr val="D6DCE2"/>
                      </a:solidFill>
                    </a:lnT>
                    <a:lnB w="6350">
                      <a:solidFill>
                        <a:srgbClr val="D6DCE2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  <a:lnSpc>
                          <a:spcPct val="100000"/>
                        </a:lnSpc>
                      </a:pPr>
                      <a:r>
                        <a:rPr sz="1200" b="1">
                          <a:solidFill>
                            <a:srgbClr val="0E7A76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10.41 毫秒</a:t>
                      </a:r>
                    </a:p>
                  </a:txBody>
                  <a:tcPr marL="54864" marR="54864" marT="27432" marB="18288" anchor="ctr">
                    <a:solidFill>
                      <a:srgbClr val="E7F3F2"/>
                    </a:solidFill>
                    <a:lnL w="6350">
                      <a:solidFill>
                        <a:srgbClr val="D6DCE2"/>
                      </a:solidFill>
                    </a:lnL>
                    <a:lnR w="6350">
                      <a:solidFill>
                        <a:srgbClr val="D6DCE2"/>
                      </a:solidFill>
                    </a:lnR>
                    <a:lnT w="6350">
                      <a:solidFill>
                        <a:srgbClr val="D6DCE2"/>
                      </a:solidFill>
                    </a:lnT>
                    <a:lnB w="6350">
                      <a:solidFill>
                        <a:srgbClr val="D6DCE2"/>
                      </a:solidFill>
                    </a:lnB>
                  </a:tcPr>
                </a:tc>
              </a:tr>
              <a:tr h="475488">
                <a:tc>
                  <a:txBody>
                    <a:bodyPr wrap="square"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  <a:lnSpc>
                          <a:spcPct val="100000"/>
                        </a:lnSpc>
                      </a:pPr>
                      <a:r>
                        <a:rPr sz="1200" b="1">
                          <a:solidFill>
                            <a:srgbClr val="0E2A47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MoE 通信</a:t>
                      </a:r>
                    </a:p>
                  </a:txBody>
                  <a:tcPr marL="54864" marR="54864" marT="27432" marB="18288" anchor="ctr">
                    <a:solidFill>
                      <a:srgbClr val="F4F7FA"/>
                    </a:solidFill>
                    <a:lnL w="6350">
                      <a:solidFill>
                        <a:srgbClr val="D6DCE2"/>
                      </a:solidFill>
                    </a:lnL>
                    <a:lnR w="6350">
                      <a:solidFill>
                        <a:srgbClr val="D6DCE2"/>
                      </a:solidFill>
                    </a:lnR>
                    <a:lnT w="6350">
                      <a:solidFill>
                        <a:srgbClr val="D6DCE2"/>
                      </a:solidFill>
                    </a:lnT>
                    <a:lnB w="6350">
                      <a:solidFill>
                        <a:srgbClr val="D6DCE2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  <a:lnSpc>
                          <a:spcPct val="100000"/>
                        </a:lnSpc>
                      </a:pPr>
                      <a:r>
                        <a:rPr sz="1200" b="0">
                          <a:solidFill>
                            <a:srgbClr val="1C242E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最忙卡 dispatch + combine</a:t>
                      </a:r>
                    </a:p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  <a:lnSpc>
                          <a:spcPct val="100000"/>
                        </a:lnSpc>
                      </a:pPr>
                      <a:r>
                        <a:rPr sz="1200" b="0">
                          <a:solidFill>
                            <a:srgbClr val="1C242E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两个方向分别统计</a:t>
                      </a:r>
                    </a:p>
                  </a:txBody>
                  <a:tcPr marL="54864" marR="54864" marT="27432" marB="18288" anchor="ctr">
                    <a:solidFill>
                      <a:srgbClr val="FFFFFF"/>
                    </a:solidFill>
                    <a:lnL w="6350">
                      <a:solidFill>
                        <a:srgbClr val="D6DCE2"/>
                      </a:solidFill>
                    </a:lnL>
                    <a:lnR w="6350">
                      <a:solidFill>
                        <a:srgbClr val="D6DCE2"/>
                      </a:solidFill>
                    </a:lnR>
                    <a:lnT w="6350">
                      <a:solidFill>
                        <a:srgbClr val="D6DCE2"/>
                      </a:solidFill>
                    </a:lnT>
                    <a:lnB w="6350">
                      <a:solidFill>
                        <a:srgbClr val="D6DCE2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  <a:lnSpc>
                          <a:spcPct val="100000"/>
                        </a:lnSpc>
                      </a:pPr>
                      <a:r>
                        <a:rPr sz="1200" b="0">
                          <a:solidFill>
                            <a:srgbClr val="1C242E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1.27 毫秒</a:t>
                      </a:r>
                    </a:p>
                  </a:txBody>
                  <a:tcPr marL="54864" marR="54864" marT="27432" marB="18288" anchor="ctr">
                    <a:solidFill>
                      <a:srgbClr val="FFFFFF"/>
                    </a:solidFill>
                    <a:lnL w="6350">
                      <a:solidFill>
                        <a:srgbClr val="D6DCE2"/>
                      </a:solidFill>
                    </a:lnL>
                    <a:lnR w="6350">
                      <a:solidFill>
                        <a:srgbClr val="D6DCE2"/>
                      </a:solidFill>
                    </a:lnR>
                    <a:lnT w="6350">
                      <a:solidFill>
                        <a:srgbClr val="D6DCE2"/>
                      </a:solidFill>
                    </a:lnT>
                    <a:lnB w="6350">
                      <a:solidFill>
                        <a:srgbClr val="D6DCE2"/>
                      </a:solidFill>
                    </a:lnB>
                  </a:tcPr>
                </a:tc>
              </a:tr>
              <a:tr h="475488">
                <a:tc>
                  <a:txBody>
                    <a:bodyPr wrap="square"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  <a:lnSpc>
                          <a:spcPct val="100000"/>
                        </a:lnSpc>
                      </a:pPr>
                      <a:r>
                        <a:rPr sz="1200" b="1">
                          <a:solidFill>
                            <a:srgbClr val="0E2A47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专家 kernel</a:t>
                      </a:r>
                    </a:p>
                  </a:txBody>
                  <a:tcPr marL="54864" marR="54864" marT="27432" marB="18288" anchor="ctr">
                    <a:solidFill>
                      <a:srgbClr val="F4F7FA"/>
                    </a:solidFill>
                    <a:lnL w="6350">
                      <a:solidFill>
                        <a:srgbClr val="D6DCE2"/>
                      </a:solidFill>
                    </a:lnL>
                    <a:lnR w="6350">
                      <a:solidFill>
                        <a:srgbClr val="D6DCE2"/>
                      </a:solidFill>
                    </a:lnR>
                    <a:lnT w="6350">
                      <a:solidFill>
                        <a:srgbClr val="D6DCE2"/>
                      </a:solidFill>
                    </a:lnT>
                    <a:lnB w="6350">
                      <a:solidFill>
                        <a:srgbClr val="D6DCE2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  <a:lnSpc>
                          <a:spcPct val="100000"/>
                        </a:lnSpc>
                      </a:pPr>
                      <a:r>
                        <a:rPr sz="1200" b="0">
                          <a:solidFill>
                            <a:srgbClr val="1C242E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max(读权重 13.40, GEMM 8.45)</a:t>
                      </a:r>
                    </a:p>
                  </a:txBody>
                  <a:tcPr marL="54864" marR="54864" marT="27432" marB="18288" anchor="ctr">
                    <a:solidFill>
                      <a:srgbClr val="FFFFFF"/>
                    </a:solidFill>
                    <a:lnL w="6350">
                      <a:solidFill>
                        <a:srgbClr val="D6DCE2"/>
                      </a:solidFill>
                    </a:lnL>
                    <a:lnR w="6350">
                      <a:solidFill>
                        <a:srgbClr val="D6DCE2"/>
                      </a:solidFill>
                    </a:lnR>
                    <a:lnT w="6350">
                      <a:solidFill>
                        <a:srgbClr val="D6DCE2"/>
                      </a:solidFill>
                    </a:lnT>
                    <a:lnB w="6350">
                      <a:solidFill>
                        <a:srgbClr val="D6DCE2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  <a:lnSpc>
                          <a:spcPct val="100000"/>
                        </a:lnSpc>
                      </a:pPr>
                      <a:r>
                        <a:rPr sz="1200" b="0">
                          <a:solidFill>
                            <a:srgbClr val="1C242E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13.40 毫秒</a:t>
                      </a:r>
                    </a:p>
                  </a:txBody>
                  <a:tcPr marL="54864" marR="54864" marT="27432" marB="18288" anchor="ctr">
                    <a:solidFill>
                      <a:srgbClr val="FFFFFF"/>
                    </a:solidFill>
                    <a:lnL w="6350">
                      <a:solidFill>
                        <a:srgbClr val="D6DCE2"/>
                      </a:solidFill>
                    </a:lnL>
                    <a:lnR w="6350">
                      <a:solidFill>
                        <a:srgbClr val="D6DCE2"/>
                      </a:solidFill>
                    </a:lnR>
                    <a:lnT w="6350">
                      <a:solidFill>
                        <a:srgbClr val="D6DCE2"/>
                      </a:solidFill>
                    </a:lnT>
                    <a:lnB w="6350">
                      <a:solidFill>
                        <a:srgbClr val="D6DCE2"/>
                      </a:solidFill>
                    </a:lnB>
                  </a:tcPr>
                </a:tc>
              </a:tr>
              <a:tr h="384048">
                <a:tc>
                  <a:txBody>
                    <a:bodyPr wrap="square"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  <a:lnSpc>
                          <a:spcPct val="100000"/>
                        </a:lnSpc>
                      </a:pPr>
                      <a:r>
                        <a:rPr sz="1200" b="1">
                          <a:solidFill>
                            <a:srgbClr val="0E2A47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相加</a:t>
                      </a:r>
                    </a:p>
                  </a:txBody>
                  <a:tcPr marL="54864" marR="54864" marT="27432" marB="18288" anchor="ctr">
                    <a:solidFill>
                      <a:srgbClr val="F4F7FA"/>
                    </a:solidFill>
                    <a:lnL w="6350">
                      <a:solidFill>
                        <a:srgbClr val="D6DCE2"/>
                      </a:solidFill>
                    </a:lnL>
                    <a:lnR w="6350">
                      <a:solidFill>
                        <a:srgbClr val="D6DCE2"/>
                      </a:solidFill>
                    </a:lnR>
                    <a:lnT w="6350">
                      <a:solidFill>
                        <a:srgbClr val="D6DCE2"/>
                      </a:solidFill>
                    </a:lnT>
                    <a:lnB w="6350">
                      <a:solidFill>
                        <a:srgbClr val="D6DCE2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  <a:lnSpc>
                          <a:spcPct val="100000"/>
                        </a:lnSpc>
                      </a:pPr>
                      <a:r>
                        <a:rPr sz="1200" b="1">
                          <a:solidFill>
                            <a:srgbClr val="0E2A47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Attention 15.26 + MoE 14.67</a:t>
                      </a:r>
                    </a:p>
                  </a:txBody>
                  <a:tcPr marL="54864" marR="54864" marT="27432" marB="18288" anchor="ctr">
                    <a:solidFill>
                      <a:srgbClr val="F4F7FA"/>
                    </a:solidFill>
                    <a:lnL w="6350">
                      <a:solidFill>
                        <a:srgbClr val="D6DCE2"/>
                      </a:solidFill>
                    </a:lnL>
                    <a:lnR w="6350">
                      <a:solidFill>
                        <a:srgbClr val="D6DCE2"/>
                      </a:solidFill>
                    </a:lnR>
                    <a:lnT w="6350">
                      <a:solidFill>
                        <a:srgbClr val="D6DCE2"/>
                      </a:solidFill>
                    </a:lnT>
                    <a:lnB w="6350">
                      <a:solidFill>
                        <a:srgbClr val="D6DCE2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  <a:lnSpc>
                          <a:spcPct val="100000"/>
                        </a:lnSpc>
                      </a:pPr>
                      <a:r>
                        <a:rPr sz="1200" b="1">
                          <a:solidFill>
                            <a:srgbClr val="0E2A47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29.93 毫秒</a:t>
                      </a:r>
                    </a:p>
                  </a:txBody>
                  <a:tcPr marL="54864" marR="54864" marT="27432" marB="18288" anchor="ctr">
                    <a:solidFill>
                      <a:srgbClr val="F4F7FA"/>
                    </a:solidFill>
                    <a:lnL w="6350">
                      <a:solidFill>
                        <a:srgbClr val="D6DCE2"/>
                      </a:solidFill>
                    </a:lnL>
                    <a:lnR w="6350">
                      <a:solidFill>
                        <a:srgbClr val="D6DCE2"/>
                      </a:solidFill>
                    </a:lnR>
                    <a:lnT w="6350">
                      <a:solidFill>
                        <a:srgbClr val="D6DCE2"/>
                      </a:solidFill>
                    </a:lnT>
                    <a:lnB w="6350">
                      <a:solidFill>
                        <a:srgbClr val="D6DCE2"/>
                      </a:solidFill>
                    </a:lnB>
                  </a:tcPr>
                </a:tc>
              </a:tr>
            </a:tbl>
          </a:graphicData>
        </a:graphic>
      </p:graphicFrame>
      <p:sp>
        <p:nvSpPr>
          <p:cNvPr id="14" name="Rounded Rectangle 13"/>
          <p:cNvSpPr/>
          <p:nvPr/>
        </p:nvSpPr>
        <p:spPr>
          <a:xfrm>
            <a:off x="384048" y="4937760"/>
            <a:ext cx="2788920" cy="1481328"/>
          </a:xfrm>
          <a:prstGeom prst="roundRect">
            <a:avLst/>
          </a:prstGeom>
          <a:solidFill>
            <a:srgbClr val="F4F7FA"/>
          </a:solidFill>
          <a:ln w="12700">
            <a:solidFill>
              <a:srgbClr val="D6DCE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530352" y="5010912"/>
            <a:ext cx="2514600" cy="237744"/>
          </a:xfrm>
          <a:prstGeom prst="rect">
            <a:avLst/>
          </a:prstGeom>
          <a:noFill/>
        </p:spPr>
        <p:txBody>
          <a:bodyPr wrap="square" lIns="0" rIns="0" tIns="0" bIns="0" anchor="ctr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200" b="1">
                <a:solidFill>
                  <a:srgbClr val="5A636E"/>
                </a:solidFill>
                <a:latin typeface="Microsoft YaHei"/>
                <a:ea typeface="Microsoft YaHei"/>
                <a:cs typeface="Microsoft YaHei"/>
              </a:rPr>
              <a:t>4K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30352" y="5248656"/>
            <a:ext cx="2514600" cy="457200"/>
          </a:xfrm>
          <a:prstGeom prst="rect">
            <a:avLst/>
          </a:prstGeom>
          <a:noFill/>
        </p:spPr>
        <p:txBody>
          <a:bodyPr wrap="square" lIns="0" rIns="0" tIns="0" bIns="0" anchor="ctr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600" b="1">
                <a:solidFill>
                  <a:srgbClr val="0E7A76"/>
                </a:solidFill>
                <a:latin typeface="Microsoft YaHei"/>
                <a:ea typeface="Microsoft YaHei"/>
                <a:cs typeface="Microsoft YaHei"/>
              </a:rPr>
              <a:t>4352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30352" y="5724144"/>
            <a:ext cx="2514600" cy="585216"/>
          </a:xfrm>
          <a:prstGeom prst="rect">
            <a:avLst/>
          </a:prstGeom>
          <a:noFill/>
        </p:spPr>
        <p:txBody>
          <a:bodyPr wrap="square" lIns="0" rIns="0" tIns="0" bIns="0" anchor="ctr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300" b="0">
                <a:solidFill>
                  <a:srgbClr val="1C242E"/>
                </a:solidFill>
                <a:latin typeface="Microsoft YaHei"/>
                <a:ea typeface="Microsoft YaHei"/>
                <a:cs typeface="Microsoft YaHei"/>
              </a:rPr>
              <a:t>全局批，每卡 34.0 条</a:t>
            </a:r>
          </a:p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300" b="0">
                <a:solidFill>
                  <a:srgbClr val="1C242E"/>
                </a:solidFill>
                <a:latin typeface="Microsoft YaHei"/>
                <a:ea typeface="Microsoft YaHei"/>
                <a:cs typeface="Microsoft YaHei"/>
              </a:rPr>
              <a:t>全在 HBM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3310128" y="4937760"/>
            <a:ext cx="2788920" cy="1481328"/>
          </a:xfrm>
          <a:prstGeom prst="roundRect">
            <a:avLst/>
          </a:prstGeom>
          <a:solidFill>
            <a:srgbClr val="F4F7FA"/>
          </a:solidFill>
          <a:ln w="12700">
            <a:solidFill>
              <a:srgbClr val="D6DCE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3456432" y="5010912"/>
            <a:ext cx="2514600" cy="237744"/>
          </a:xfrm>
          <a:prstGeom prst="rect">
            <a:avLst/>
          </a:prstGeom>
          <a:noFill/>
        </p:spPr>
        <p:txBody>
          <a:bodyPr wrap="square" lIns="0" rIns="0" tIns="0" bIns="0" anchor="ctr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200" b="1">
                <a:solidFill>
                  <a:srgbClr val="5A636E"/>
                </a:solidFill>
                <a:latin typeface="Microsoft YaHei"/>
                <a:ea typeface="Microsoft YaHei"/>
                <a:cs typeface="Microsoft YaHei"/>
              </a:rPr>
              <a:t>256K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456432" y="5248656"/>
            <a:ext cx="2514600" cy="457200"/>
          </a:xfrm>
          <a:prstGeom prst="rect">
            <a:avLst/>
          </a:prstGeom>
          <a:noFill/>
        </p:spPr>
        <p:txBody>
          <a:bodyPr wrap="square" lIns="0" rIns="0" tIns="0" bIns="0" anchor="ctr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600" b="1">
                <a:solidFill>
                  <a:srgbClr val="0E7A76"/>
                </a:solidFill>
                <a:latin typeface="Microsoft YaHei"/>
                <a:ea typeface="Microsoft YaHei"/>
                <a:cs typeface="Microsoft YaHei"/>
              </a:rPr>
              <a:t>3328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3456432" y="5724144"/>
            <a:ext cx="2514600" cy="585216"/>
          </a:xfrm>
          <a:prstGeom prst="rect">
            <a:avLst/>
          </a:prstGeom>
          <a:noFill/>
        </p:spPr>
        <p:txBody>
          <a:bodyPr wrap="square" lIns="0" rIns="0" tIns="0" bIns="0" anchor="ctr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300" b="0">
                <a:solidFill>
                  <a:srgbClr val="1C242E"/>
                </a:solidFill>
                <a:latin typeface="Microsoft YaHei"/>
                <a:ea typeface="Microsoft YaHei"/>
                <a:cs typeface="Microsoft YaHei"/>
              </a:rPr>
              <a:t>全局批，每卡 26.0 条</a:t>
            </a:r>
          </a:p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300" b="0">
                <a:solidFill>
                  <a:srgbClr val="1C242E"/>
                </a:solidFill>
                <a:latin typeface="Microsoft YaHei"/>
                <a:ea typeface="Microsoft YaHei"/>
                <a:cs typeface="Microsoft YaHei"/>
              </a:rPr>
              <a:t>全在 HBM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6236208" y="4937760"/>
            <a:ext cx="2788920" cy="1481328"/>
          </a:xfrm>
          <a:prstGeom prst="roundRect">
            <a:avLst/>
          </a:prstGeom>
          <a:solidFill>
            <a:srgbClr val="F4F7FA"/>
          </a:solidFill>
          <a:ln w="12700">
            <a:solidFill>
              <a:srgbClr val="D6DCE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6382512" y="5010912"/>
            <a:ext cx="2514600" cy="237744"/>
          </a:xfrm>
          <a:prstGeom prst="rect">
            <a:avLst/>
          </a:prstGeom>
          <a:noFill/>
        </p:spPr>
        <p:txBody>
          <a:bodyPr wrap="square" lIns="0" rIns="0" tIns="0" bIns="0" anchor="ctr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200" b="1">
                <a:solidFill>
                  <a:srgbClr val="5A636E"/>
                </a:solidFill>
                <a:latin typeface="Microsoft YaHei"/>
                <a:ea typeface="Microsoft YaHei"/>
                <a:cs typeface="Microsoft YaHei"/>
              </a:rPr>
              <a:t>512K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382512" y="5248656"/>
            <a:ext cx="2514600" cy="457200"/>
          </a:xfrm>
          <a:prstGeom prst="rect">
            <a:avLst/>
          </a:prstGeom>
          <a:noFill/>
        </p:spPr>
        <p:txBody>
          <a:bodyPr wrap="square" lIns="0" rIns="0" tIns="0" bIns="0" anchor="ctr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600" b="1">
                <a:solidFill>
                  <a:srgbClr val="0E7A76"/>
                </a:solidFill>
                <a:latin typeface="Microsoft YaHei"/>
                <a:ea typeface="Microsoft YaHei"/>
                <a:cs typeface="Microsoft YaHei"/>
              </a:rPr>
              <a:t>2390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382512" y="5724144"/>
            <a:ext cx="2514600" cy="585216"/>
          </a:xfrm>
          <a:prstGeom prst="rect">
            <a:avLst/>
          </a:prstGeom>
          <a:noFill/>
        </p:spPr>
        <p:txBody>
          <a:bodyPr wrap="square" lIns="0" rIns="0" tIns="0" bIns="0" anchor="ctr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300" b="0">
                <a:solidFill>
                  <a:srgbClr val="1C242E"/>
                </a:solidFill>
                <a:latin typeface="Microsoft YaHei"/>
                <a:ea typeface="Microsoft YaHei"/>
                <a:cs typeface="Microsoft YaHei"/>
              </a:rPr>
              <a:t>全局批，每卡 18.7 条</a:t>
            </a:r>
          </a:p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300" b="0">
                <a:solidFill>
                  <a:srgbClr val="1C242E"/>
                </a:solidFill>
                <a:latin typeface="Microsoft YaHei"/>
                <a:ea typeface="Microsoft YaHei"/>
                <a:cs typeface="Microsoft YaHei"/>
              </a:rPr>
              <a:t>7.7% 在总线内存池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9162288" y="4937760"/>
            <a:ext cx="2788920" cy="1481328"/>
          </a:xfrm>
          <a:prstGeom prst="roundRect">
            <a:avLst/>
          </a:prstGeom>
          <a:solidFill>
            <a:srgbClr val="F4F7FA"/>
          </a:solidFill>
          <a:ln w="12700">
            <a:solidFill>
              <a:srgbClr val="D6DCE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9308592" y="5010912"/>
            <a:ext cx="2514600" cy="237744"/>
          </a:xfrm>
          <a:prstGeom prst="rect">
            <a:avLst/>
          </a:prstGeom>
          <a:noFill/>
        </p:spPr>
        <p:txBody>
          <a:bodyPr wrap="square" lIns="0" rIns="0" tIns="0" bIns="0" anchor="ctr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200" b="1">
                <a:solidFill>
                  <a:srgbClr val="5A636E"/>
                </a:solidFill>
                <a:latin typeface="Microsoft YaHei"/>
                <a:ea typeface="Microsoft YaHei"/>
                <a:cs typeface="Microsoft YaHei"/>
              </a:rPr>
              <a:t>0.25×10^6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9308592" y="5248656"/>
            <a:ext cx="2514600" cy="457200"/>
          </a:xfrm>
          <a:prstGeom prst="rect">
            <a:avLst/>
          </a:prstGeom>
          <a:noFill/>
        </p:spPr>
        <p:txBody>
          <a:bodyPr wrap="square" lIns="0" rIns="0" tIns="0" bIns="0" anchor="ctr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600" b="1">
                <a:solidFill>
                  <a:srgbClr val="0E7A76"/>
                </a:solidFill>
                <a:latin typeface="Microsoft YaHei"/>
                <a:ea typeface="Microsoft YaHei"/>
                <a:cs typeface="Microsoft YaHei"/>
              </a:rPr>
              <a:t>3328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9308592" y="5724144"/>
            <a:ext cx="2514600" cy="585216"/>
          </a:xfrm>
          <a:prstGeom prst="rect">
            <a:avLst/>
          </a:prstGeom>
          <a:noFill/>
        </p:spPr>
        <p:txBody>
          <a:bodyPr wrap="square" lIns="0" rIns="0" tIns="0" bIns="0" anchor="ctr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300" b="0">
                <a:solidFill>
                  <a:srgbClr val="1C242E"/>
                </a:solidFill>
                <a:latin typeface="Microsoft YaHei"/>
                <a:ea typeface="Microsoft YaHei"/>
                <a:cs typeface="Microsoft YaHei"/>
              </a:rPr>
              <a:t>全局批，每卡 26.0 条</a:t>
            </a:r>
          </a:p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300" b="0">
                <a:solidFill>
                  <a:srgbClr val="1C242E"/>
                </a:solidFill>
                <a:latin typeface="Microsoft YaHei"/>
                <a:ea typeface="Microsoft YaHei"/>
                <a:cs typeface="Microsoft YaHei"/>
              </a:rPr>
              <a:t>全在 HBM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145A9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84048" y="146304"/>
            <a:ext cx="9692640" cy="256032"/>
          </a:xfrm>
          <a:prstGeom prst="rect">
            <a:avLst/>
          </a:prstGeom>
          <a:noFill/>
        </p:spPr>
        <p:txBody>
          <a:bodyPr wrap="square" lIns="0" rIns="0" tIns="0" bIns="0" anchor="ctr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200" b="1">
                <a:solidFill>
                  <a:srgbClr val="145A96"/>
                </a:solidFill>
                <a:latin typeface="Microsoft YaHei"/>
                <a:ea typeface="Microsoft YaHei"/>
                <a:cs typeface="Microsoft YaHei"/>
              </a:rPr>
              <a:t>Decode    ·    不同输入下的最大全局批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84048" y="384048"/>
            <a:ext cx="11430000" cy="384048"/>
          </a:xfrm>
          <a:prstGeom prst="rect">
            <a:avLst/>
          </a:prstGeom>
          <a:noFill/>
        </p:spPr>
        <p:txBody>
          <a:bodyPr wrap="square" lIns="0" rIns="0" tIns="0" bIns="0" anchor="ctr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600" b="1">
                <a:solidFill>
                  <a:srgbClr val="0E2A47"/>
                </a:solidFill>
                <a:latin typeface="Microsoft YaHei"/>
                <a:ea typeface="Microsoft YaHei"/>
                <a:cs typeface="Microsoft YaHei"/>
              </a:rPr>
              <a:t>10 毫秒这些长度都不进池；256K 的 30 毫秒仍是 4352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424160" y="164592"/>
            <a:ext cx="1371600" cy="237744"/>
          </a:xfrm>
          <a:prstGeom prst="rect">
            <a:avLst/>
          </a:prstGeom>
          <a:noFill/>
        </p:spPr>
        <p:txBody>
          <a:bodyPr wrap="square" lIns="0" rIns="0" tIns="0" bIns="0" anchor="ctr"/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1200" b="0">
                <a:solidFill>
                  <a:srgbClr val="5A636E"/>
                </a:solidFill>
                <a:latin typeface="Microsoft YaHei"/>
                <a:ea typeface="Microsoft YaHei"/>
                <a:cs typeface="Microsoft YaHei"/>
              </a:rPr>
              <a:t>6  /  11</a:t>
            </a:r>
          </a:p>
        </p:txBody>
      </p:sp>
      <p:sp>
        <p:nvSpPr>
          <p:cNvPr id="6" name="Rectangle 5"/>
          <p:cNvSpPr/>
          <p:nvPr/>
        </p:nvSpPr>
        <p:spPr>
          <a:xfrm>
            <a:off x="384048" y="6565392"/>
            <a:ext cx="11430000" cy="9144"/>
          </a:xfrm>
          <a:prstGeom prst="rect">
            <a:avLst/>
          </a:prstGeom>
          <a:solidFill>
            <a:srgbClr val="D6DCE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384048" y="6583680"/>
            <a:ext cx="11430000" cy="219456"/>
          </a:xfrm>
          <a:prstGeom prst="rect">
            <a:avLst/>
          </a:prstGeom>
          <a:noFill/>
        </p:spPr>
        <p:txBody>
          <a:bodyPr wrap="square" lIns="0" rIns="0" tIns="0" bIns="0" anchor="ctr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5A636E"/>
                </a:solidFill>
                <a:latin typeface="Microsoft YaHei"/>
                <a:ea typeface="Microsoft YaHei"/>
                <a:cs typeface="Microsoft YaHei"/>
              </a:rPr>
              <a:t>10T 为外推    ·    96 GB / 486 T、一份 128 卡副本    ·    访存与通信 80%    ·    计算 70%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384048" y="841248"/>
            <a:ext cx="11430000" cy="420624"/>
          </a:xfrm>
          <a:prstGeom prst="roundRect">
            <a:avLst/>
          </a:prstGeom>
          <a:solidFill>
            <a:srgbClr val="E7F3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530352" y="841248"/>
            <a:ext cx="11137392" cy="420624"/>
          </a:xfrm>
          <a:prstGeom prst="rect">
            <a:avLst/>
          </a:prstGeom>
          <a:noFill/>
        </p:spPr>
        <p:txBody>
          <a:bodyPr wrap="square" lIns="0" rIns="0" tIns="0" bIns="0" anchor="ctr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300" b="1">
                <a:solidFill>
                  <a:srgbClr val="0E7A76"/>
                </a:solidFill>
                <a:latin typeface="Microsoft YaHei"/>
                <a:ea typeface="Microsoft YaHei"/>
                <a:cs typeface="Microsoft YaHei"/>
              </a:rPr>
              <a:t>全局批是 128 卡上的条数。放不下的 KV 进每卡总线内存池。池标称 480 GB/s，被 3.2 Tb/s 卡住，有效 320 GB/s。</a:t>
            </a:r>
          </a:p>
        </p:txBody>
      </p:sp>
      <p:graphicFrame>
        <p:nvGraphicFramePr>
          <p:cNvPr id="10" name="Table 9"/>
          <p:cNvGraphicFramePr>
            <a:graphicFrameLocks noGrp="1"/>
          </p:cNvGraphicFramePr>
          <p:nvPr/>
        </p:nvGraphicFramePr>
        <p:xfrm>
          <a:off x="384048" y="1371600"/>
          <a:ext cx="11430000" cy="3017520"/>
        </p:xfrm>
        <a:graphic>
          <a:graphicData uri="http://schemas.openxmlformats.org/drawingml/2006/table">
            <a:tbl>
              <a:tblPr firstRow="1"/>
              <a:tblGrid>
                <a:gridCol w="1051560"/>
                <a:gridCol w="1234440"/>
                <a:gridCol w="1234440"/>
                <a:gridCol w="1554480"/>
                <a:gridCol w="914400"/>
                <a:gridCol w="1600200"/>
                <a:gridCol w="914400"/>
                <a:gridCol w="2926080"/>
              </a:tblGrid>
              <a:tr h="329184">
                <a:tc>
                  <a:txBody>
                    <a:bodyPr wrap="square"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  <a:lnSpc>
                          <a:spcPct val="100000"/>
                        </a:lnSpc>
                      </a:pPr>
                      <a:r>
                        <a:rPr sz="1200" b="1">
                          <a:solidFill>
                            <a:srgbClr val="FFFFFF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输入</a:t>
                      </a:r>
                    </a:p>
                  </a:txBody>
                  <a:tcPr marL="54864" marR="54864" marT="27432" marB="18288" anchor="ctr">
                    <a:solidFill>
                      <a:srgbClr val="0E2A47"/>
                    </a:solidFill>
                    <a:lnL w="6350">
                      <a:solidFill>
                        <a:srgbClr val="D6DCE2"/>
                      </a:solidFill>
                    </a:lnL>
                    <a:lnR w="6350">
                      <a:solidFill>
                        <a:srgbClr val="D6DCE2"/>
                      </a:solidFill>
                    </a:lnR>
                    <a:lnT w="6350">
                      <a:solidFill>
                        <a:srgbClr val="D6DCE2"/>
                      </a:solidFill>
                    </a:lnT>
                    <a:lnB w="6350">
                      <a:solidFill>
                        <a:srgbClr val="D6DCE2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  <a:lnSpc>
                          <a:spcPct val="100000"/>
                        </a:lnSpc>
                      </a:pPr>
                      <a:r>
                        <a:rPr sz="1200" b="1">
                          <a:solidFill>
                            <a:srgbClr val="FFFFFF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每条 KV</a:t>
                      </a:r>
                    </a:p>
                  </a:txBody>
                  <a:tcPr marL="54864" marR="54864" marT="27432" marB="18288" anchor="ctr">
                    <a:solidFill>
                      <a:srgbClr val="0E2A47"/>
                    </a:solidFill>
                    <a:lnL w="6350">
                      <a:solidFill>
                        <a:srgbClr val="D6DCE2"/>
                      </a:solidFill>
                    </a:lnL>
                    <a:lnR w="6350">
                      <a:solidFill>
                        <a:srgbClr val="D6DCE2"/>
                      </a:solidFill>
                    </a:lnR>
                    <a:lnT w="6350">
                      <a:solidFill>
                        <a:srgbClr val="D6DCE2"/>
                      </a:solidFill>
                    </a:lnT>
                    <a:lnB w="6350">
                      <a:solidFill>
                        <a:srgbClr val="D6DCE2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  <a:lnSpc>
                          <a:spcPct val="100000"/>
                        </a:lnSpc>
                      </a:pPr>
                      <a:r>
                        <a:rPr sz="1200" b="1">
                          <a:solidFill>
                            <a:srgbClr val="FFFFFF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HBM 能放</a:t>
                      </a:r>
                    </a:p>
                  </a:txBody>
                  <a:tcPr marL="54864" marR="54864" marT="27432" marB="18288" anchor="ctr">
                    <a:solidFill>
                      <a:srgbClr val="0E2A47"/>
                    </a:solidFill>
                    <a:lnL w="6350">
                      <a:solidFill>
                        <a:srgbClr val="D6DCE2"/>
                      </a:solidFill>
                    </a:lnL>
                    <a:lnR w="6350">
                      <a:solidFill>
                        <a:srgbClr val="D6DCE2"/>
                      </a:solidFill>
                    </a:lnR>
                    <a:lnT w="6350">
                      <a:solidFill>
                        <a:srgbClr val="D6DCE2"/>
                      </a:solidFill>
                    </a:lnT>
                    <a:lnB w="6350">
                      <a:solidFill>
                        <a:srgbClr val="D6DCE2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  <a:lnSpc>
                          <a:spcPct val="100000"/>
                        </a:lnSpc>
                      </a:pPr>
                      <a:r>
                        <a:rPr sz="1200" b="1">
                          <a:solidFill>
                            <a:srgbClr val="FFFFFF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10 毫秒全局批</a:t>
                      </a:r>
                    </a:p>
                  </a:txBody>
                  <a:tcPr marL="54864" marR="54864" marT="27432" marB="18288" anchor="ctr">
                    <a:solidFill>
                      <a:srgbClr val="0E2A47"/>
                    </a:solidFill>
                    <a:lnL w="6350">
                      <a:solidFill>
                        <a:srgbClr val="D6DCE2"/>
                      </a:solidFill>
                    </a:lnL>
                    <a:lnR w="6350">
                      <a:solidFill>
                        <a:srgbClr val="D6DCE2"/>
                      </a:solidFill>
                    </a:lnR>
                    <a:lnT w="6350">
                      <a:solidFill>
                        <a:srgbClr val="D6DCE2"/>
                      </a:solidFill>
                    </a:lnT>
                    <a:lnB w="6350">
                      <a:solidFill>
                        <a:srgbClr val="D6DCE2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  <a:lnSpc>
                          <a:spcPct val="100000"/>
                        </a:lnSpc>
                      </a:pPr>
                      <a:r>
                        <a:rPr sz="1200" b="1">
                          <a:solidFill>
                            <a:srgbClr val="FFFFFF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每卡</a:t>
                      </a:r>
                    </a:p>
                  </a:txBody>
                  <a:tcPr marL="54864" marR="54864" marT="27432" marB="18288" anchor="ctr">
                    <a:solidFill>
                      <a:srgbClr val="0E2A47"/>
                    </a:solidFill>
                    <a:lnL w="6350">
                      <a:solidFill>
                        <a:srgbClr val="D6DCE2"/>
                      </a:solidFill>
                    </a:lnL>
                    <a:lnR w="6350">
                      <a:solidFill>
                        <a:srgbClr val="D6DCE2"/>
                      </a:solidFill>
                    </a:lnR>
                    <a:lnT w="6350">
                      <a:solidFill>
                        <a:srgbClr val="D6DCE2"/>
                      </a:solidFill>
                    </a:lnT>
                    <a:lnB w="6350">
                      <a:solidFill>
                        <a:srgbClr val="D6DCE2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  <a:lnSpc>
                          <a:spcPct val="100000"/>
                        </a:lnSpc>
                      </a:pPr>
                      <a:r>
                        <a:rPr sz="1200" b="1">
                          <a:solidFill>
                            <a:srgbClr val="FFFFFF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30 毫秒全局批</a:t>
                      </a:r>
                    </a:p>
                  </a:txBody>
                  <a:tcPr marL="54864" marR="54864" marT="27432" marB="18288" anchor="ctr">
                    <a:solidFill>
                      <a:srgbClr val="0E2A47"/>
                    </a:solidFill>
                    <a:lnL w="6350">
                      <a:solidFill>
                        <a:srgbClr val="D6DCE2"/>
                      </a:solidFill>
                    </a:lnL>
                    <a:lnR w="6350">
                      <a:solidFill>
                        <a:srgbClr val="D6DCE2"/>
                      </a:solidFill>
                    </a:lnR>
                    <a:lnT w="6350">
                      <a:solidFill>
                        <a:srgbClr val="D6DCE2"/>
                      </a:solidFill>
                    </a:lnT>
                    <a:lnB w="6350">
                      <a:solidFill>
                        <a:srgbClr val="D6DCE2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  <a:lnSpc>
                          <a:spcPct val="100000"/>
                        </a:lnSpc>
                      </a:pPr>
                      <a:r>
                        <a:rPr sz="1200" b="1">
                          <a:solidFill>
                            <a:srgbClr val="FFFFFF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每卡</a:t>
                      </a:r>
                    </a:p>
                  </a:txBody>
                  <a:tcPr marL="54864" marR="54864" marT="27432" marB="18288" anchor="ctr">
                    <a:solidFill>
                      <a:srgbClr val="0E2A47"/>
                    </a:solidFill>
                    <a:lnL w="6350">
                      <a:solidFill>
                        <a:srgbClr val="D6DCE2"/>
                      </a:solidFill>
                    </a:lnL>
                    <a:lnR w="6350">
                      <a:solidFill>
                        <a:srgbClr val="D6DCE2"/>
                      </a:solidFill>
                    </a:lnR>
                    <a:lnT w="6350">
                      <a:solidFill>
                        <a:srgbClr val="D6DCE2"/>
                      </a:solidFill>
                    </a:lnT>
                    <a:lnB w="6350">
                      <a:solidFill>
                        <a:srgbClr val="D6DCE2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  <a:lnSpc>
                          <a:spcPct val="100000"/>
                        </a:lnSpc>
                      </a:pPr>
                      <a:r>
                        <a:rPr sz="1200" b="1">
                          <a:solidFill>
                            <a:srgbClr val="FFFFFF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30 毫秒的 KV 放哪</a:t>
                      </a:r>
                    </a:p>
                  </a:txBody>
                  <a:tcPr marL="54864" marR="54864" marT="27432" marB="18288" anchor="ctr">
                    <a:solidFill>
                      <a:srgbClr val="0E2A47"/>
                    </a:solidFill>
                    <a:lnL w="6350">
                      <a:solidFill>
                        <a:srgbClr val="D6DCE2"/>
                      </a:solidFill>
                    </a:lnL>
                    <a:lnR w="6350">
                      <a:solidFill>
                        <a:srgbClr val="D6DCE2"/>
                      </a:solidFill>
                    </a:lnR>
                    <a:lnT w="6350">
                      <a:solidFill>
                        <a:srgbClr val="D6DCE2"/>
                      </a:solidFill>
                    </a:lnT>
                    <a:lnB w="6350">
                      <a:solidFill>
                        <a:srgbClr val="D6DCE2"/>
                      </a:solidFill>
                    </a:lnB>
                  </a:tcPr>
                </a:tc>
              </a:tr>
              <a:tr h="384048">
                <a:tc>
                  <a:txBody>
                    <a:bodyPr wrap="square"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  <a:lnSpc>
                          <a:spcPct val="100000"/>
                        </a:lnSpc>
                      </a:pPr>
                      <a:r>
                        <a:rPr sz="1200" b="1">
                          <a:solidFill>
                            <a:srgbClr val="0E2A47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4K</a:t>
                      </a:r>
                    </a:p>
                  </a:txBody>
                  <a:tcPr marL="54864" marR="54864" marT="27432" marB="18288" anchor="ctr">
                    <a:solidFill>
                      <a:srgbClr val="F4F7FA"/>
                    </a:solidFill>
                    <a:lnL w="6350">
                      <a:solidFill>
                        <a:srgbClr val="D6DCE2"/>
                      </a:solidFill>
                    </a:lnL>
                    <a:lnR w="6350">
                      <a:solidFill>
                        <a:srgbClr val="D6DCE2"/>
                      </a:solidFill>
                    </a:lnR>
                    <a:lnT w="6350">
                      <a:solidFill>
                        <a:srgbClr val="D6DCE2"/>
                      </a:solidFill>
                    </a:lnT>
                    <a:lnB w="6350">
                      <a:solidFill>
                        <a:srgbClr val="D6DCE2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  <a:lnSpc>
                          <a:spcPct val="100000"/>
                        </a:lnSpc>
                      </a:pPr>
                      <a:r>
                        <a:rPr sz="1200" b="0">
                          <a:solidFill>
                            <a:srgbClr val="1C242E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24.7 MB</a:t>
                      </a:r>
                    </a:p>
                  </a:txBody>
                  <a:tcPr marL="54864" marR="54864" marT="27432" marB="18288" anchor="ctr">
                    <a:solidFill>
                      <a:srgbClr val="FFFFFF"/>
                    </a:solidFill>
                    <a:lnL w="6350">
                      <a:solidFill>
                        <a:srgbClr val="D6DCE2"/>
                      </a:solidFill>
                    </a:lnL>
                    <a:lnR w="6350">
                      <a:solidFill>
                        <a:srgbClr val="D6DCE2"/>
                      </a:solidFill>
                    </a:lnR>
                    <a:lnT w="6350">
                      <a:solidFill>
                        <a:srgbClr val="D6DCE2"/>
                      </a:solidFill>
                    </a:lnT>
                    <a:lnB w="6350">
                      <a:solidFill>
                        <a:srgbClr val="D6DCE2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  <a:lnSpc>
                          <a:spcPct val="100000"/>
                        </a:lnSpc>
                      </a:pPr>
                      <a:r>
                        <a:rPr sz="1200" b="0">
                          <a:solidFill>
                            <a:srgbClr val="1C242E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23.1 万</a:t>
                      </a:r>
                    </a:p>
                  </a:txBody>
                  <a:tcPr marL="54864" marR="54864" marT="27432" marB="18288" anchor="ctr">
                    <a:solidFill>
                      <a:srgbClr val="FFFFFF"/>
                    </a:solidFill>
                    <a:lnL w="6350">
                      <a:solidFill>
                        <a:srgbClr val="D6DCE2"/>
                      </a:solidFill>
                    </a:lnL>
                    <a:lnR w="6350">
                      <a:solidFill>
                        <a:srgbClr val="D6DCE2"/>
                      </a:solidFill>
                    </a:lnR>
                    <a:lnT w="6350">
                      <a:solidFill>
                        <a:srgbClr val="D6DCE2"/>
                      </a:solidFill>
                    </a:lnT>
                    <a:lnB w="6350">
                      <a:solidFill>
                        <a:srgbClr val="D6DCE2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  <a:lnSpc>
                          <a:spcPct val="100000"/>
                        </a:lnSpc>
                      </a:pPr>
                      <a:r>
                        <a:rPr sz="1200" b="0">
                          <a:solidFill>
                            <a:srgbClr val="1C242E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201</a:t>
                      </a:r>
                    </a:p>
                  </a:txBody>
                  <a:tcPr marL="54864" marR="54864" marT="27432" marB="18288" anchor="ctr">
                    <a:solidFill>
                      <a:srgbClr val="FFFFFF"/>
                    </a:solidFill>
                    <a:lnL w="6350">
                      <a:solidFill>
                        <a:srgbClr val="D6DCE2"/>
                      </a:solidFill>
                    </a:lnL>
                    <a:lnR w="6350">
                      <a:solidFill>
                        <a:srgbClr val="D6DCE2"/>
                      </a:solidFill>
                    </a:lnR>
                    <a:lnT w="6350">
                      <a:solidFill>
                        <a:srgbClr val="D6DCE2"/>
                      </a:solidFill>
                    </a:lnT>
                    <a:lnB w="6350">
                      <a:solidFill>
                        <a:srgbClr val="D6DCE2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  <a:lnSpc>
                          <a:spcPct val="100000"/>
                        </a:lnSpc>
                      </a:pPr>
                      <a:r>
                        <a:rPr sz="1200" b="0">
                          <a:solidFill>
                            <a:srgbClr val="1C242E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1.6</a:t>
                      </a:r>
                    </a:p>
                  </a:txBody>
                  <a:tcPr marL="54864" marR="54864" marT="27432" marB="18288" anchor="ctr">
                    <a:solidFill>
                      <a:srgbClr val="FFFFFF"/>
                    </a:solidFill>
                    <a:lnL w="6350">
                      <a:solidFill>
                        <a:srgbClr val="D6DCE2"/>
                      </a:solidFill>
                    </a:lnL>
                    <a:lnR w="6350">
                      <a:solidFill>
                        <a:srgbClr val="D6DCE2"/>
                      </a:solidFill>
                    </a:lnR>
                    <a:lnT w="6350">
                      <a:solidFill>
                        <a:srgbClr val="D6DCE2"/>
                      </a:solidFill>
                    </a:lnT>
                    <a:lnB w="6350">
                      <a:solidFill>
                        <a:srgbClr val="D6DCE2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  <a:lnSpc>
                          <a:spcPct val="100000"/>
                        </a:lnSpc>
                      </a:pPr>
                      <a:r>
                        <a:rPr sz="1200" b="0">
                          <a:solidFill>
                            <a:srgbClr val="1C242E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4352</a:t>
                      </a:r>
                    </a:p>
                  </a:txBody>
                  <a:tcPr marL="54864" marR="54864" marT="27432" marB="18288" anchor="ctr">
                    <a:solidFill>
                      <a:srgbClr val="FFFFFF"/>
                    </a:solidFill>
                    <a:lnL w="6350">
                      <a:solidFill>
                        <a:srgbClr val="D6DCE2"/>
                      </a:solidFill>
                    </a:lnL>
                    <a:lnR w="6350">
                      <a:solidFill>
                        <a:srgbClr val="D6DCE2"/>
                      </a:solidFill>
                    </a:lnR>
                    <a:lnT w="6350">
                      <a:solidFill>
                        <a:srgbClr val="D6DCE2"/>
                      </a:solidFill>
                    </a:lnT>
                    <a:lnB w="6350">
                      <a:solidFill>
                        <a:srgbClr val="D6DCE2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  <a:lnSpc>
                          <a:spcPct val="100000"/>
                        </a:lnSpc>
                      </a:pPr>
                      <a:r>
                        <a:rPr sz="1200" b="0">
                          <a:solidFill>
                            <a:srgbClr val="1C242E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34.0</a:t>
                      </a:r>
                    </a:p>
                  </a:txBody>
                  <a:tcPr marL="54864" marR="54864" marT="27432" marB="18288" anchor="ctr">
                    <a:solidFill>
                      <a:srgbClr val="FFFFFF"/>
                    </a:solidFill>
                    <a:lnL w="6350">
                      <a:solidFill>
                        <a:srgbClr val="D6DCE2"/>
                      </a:solidFill>
                    </a:lnL>
                    <a:lnR w="6350">
                      <a:solidFill>
                        <a:srgbClr val="D6DCE2"/>
                      </a:solidFill>
                    </a:lnR>
                    <a:lnT w="6350">
                      <a:solidFill>
                        <a:srgbClr val="D6DCE2"/>
                      </a:solidFill>
                    </a:lnT>
                    <a:lnB w="6350">
                      <a:solidFill>
                        <a:srgbClr val="D6DCE2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  <a:lnSpc>
                          <a:spcPct val="100000"/>
                        </a:lnSpc>
                      </a:pPr>
                      <a:r>
                        <a:rPr sz="1200" b="0">
                          <a:solidFill>
                            <a:srgbClr val="1C242E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全在 HBM</a:t>
                      </a:r>
                    </a:p>
                  </a:txBody>
                  <a:tcPr marL="54864" marR="54864" marT="27432" marB="18288" anchor="ctr">
                    <a:solidFill>
                      <a:srgbClr val="FFFFFF"/>
                    </a:solidFill>
                    <a:lnL w="6350">
                      <a:solidFill>
                        <a:srgbClr val="D6DCE2"/>
                      </a:solidFill>
                    </a:lnL>
                    <a:lnR w="6350">
                      <a:solidFill>
                        <a:srgbClr val="D6DCE2"/>
                      </a:solidFill>
                    </a:lnR>
                    <a:lnT w="6350">
                      <a:solidFill>
                        <a:srgbClr val="D6DCE2"/>
                      </a:solidFill>
                    </a:lnT>
                    <a:lnB w="6350">
                      <a:solidFill>
                        <a:srgbClr val="D6DCE2"/>
                      </a:solidFill>
                    </a:lnB>
                  </a:tcPr>
                </a:tc>
              </a:tr>
              <a:tr h="384048">
                <a:tc>
                  <a:txBody>
                    <a:bodyPr wrap="square"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  <a:lnSpc>
                          <a:spcPct val="100000"/>
                        </a:lnSpc>
                      </a:pPr>
                      <a:r>
                        <a:rPr sz="1200" b="1">
                          <a:solidFill>
                            <a:srgbClr val="0E2A47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8K</a:t>
                      </a:r>
                    </a:p>
                  </a:txBody>
                  <a:tcPr marL="54864" marR="54864" marT="27432" marB="18288" anchor="ctr">
                    <a:solidFill>
                      <a:srgbClr val="F4F7FA"/>
                    </a:solidFill>
                    <a:lnL w="6350">
                      <a:solidFill>
                        <a:srgbClr val="D6DCE2"/>
                      </a:solidFill>
                    </a:lnL>
                    <a:lnR w="6350">
                      <a:solidFill>
                        <a:srgbClr val="D6DCE2"/>
                      </a:solidFill>
                    </a:lnR>
                    <a:lnT w="6350">
                      <a:solidFill>
                        <a:srgbClr val="D6DCE2"/>
                      </a:solidFill>
                    </a:lnT>
                    <a:lnB w="6350">
                      <a:solidFill>
                        <a:srgbClr val="D6DCE2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  <a:lnSpc>
                          <a:spcPct val="100000"/>
                        </a:lnSpc>
                      </a:pPr>
                      <a:r>
                        <a:rPr sz="1200" b="0">
                          <a:solidFill>
                            <a:srgbClr val="1C242E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45.0 MB</a:t>
                      </a:r>
                    </a:p>
                  </a:txBody>
                  <a:tcPr marL="54864" marR="54864" marT="27432" marB="18288" anchor="ctr">
                    <a:solidFill>
                      <a:srgbClr val="FFFFFF"/>
                    </a:solidFill>
                    <a:lnL w="6350">
                      <a:solidFill>
                        <a:srgbClr val="D6DCE2"/>
                      </a:solidFill>
                    </a:lnL>
                    <a:lnR w="6350">
                      <a:solidFill>
                        <a:srgbClr val="D6DCE2"/>
                      </a:solidFill>
                    </a:lnR>
                    <a:lnT w="6350">
                      <a:solidFill>
                        <a:srgbClr val="D6DCE2"/>
                      </a:solidFill>
                    </a:lnT>
                    <a:lnB w="6350">
                      <a:solidFill>
                        <a:srgbClr val="D6DCE2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  <a:lnSpc>
                          <a:spcPct val="100000"/>
                        </a:lnSpc>
                      </a:pPr>
                      <a:r>
                        <a:rPr sz="1200" b="0">
                          <a:solidFill>
                            <a:srgbClr val="1C242E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12.7 万</a:t>
                      </a:r>
                    </a:p>
                  </a:txBody>
                  <a:tcPr marL="54864" marR="54864" marT="27432" marB="18288" anchor="ctr">
                    <a:solidFill>
                      <a:srgbClr val="FFFFFF"/>
                    </a:solidFill>
                    <a:lnL w="6350">
                      <a:solidFill>
                        <a:srgbClr val="D6DCE2"/>
                      </a:solidFill>
                    </a:lnL>
                    <a:lnR w="6350">
                      <a:solidFill>
                        <a:srgbClr val="D6DCE2"/>
                      </a:solidFill>
                    </a:lnR>
                    <a:lnT w="6350">
                      <a:solidFill>
                        <a:srgbClr val="D6DCE2"/>
                      </a:solidFill>
                    </a:lnT>
                    <a:lnB w="6350">
                      <a:solidFill>
                        <a:srgbClr val="D6DCE2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  <a:lnSpc>
                          <a:spcPct val="100000"/>
                        </a:lnSpc>
                      </a:pPr>
                      <a:r>
                        <a:rPr sz="1200" b="0">
                          <a:solidFill>
                            <a:srgbClr val="1C242E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201</a:t>
                      </a:r>
                    </a:p>
                  </a:txBody>
                  <a:tcPr marL="54864" marR="54864" marT="27432" marB="18288" anchor="ctr">
                    <a:solidFill>
                      <a:srgbClr val="FFFFFF"/>
                    </a:solidFill>
                    <a:lnL w="6350">
                      <a:solidFill>
                        <a:srgbClr val="D6DCE2"/>
                      </a:solidFill>
                    </a:lnL>
                    <a:lnR w="6350">
                      <a:solidFill>
                        <a:srgbClr val="D6DCE2"/>
                      </a:solidFill>
                    </a:lnR>
                    <a:lnT w="6350">
                      <a:solidFill>
                        <a:srgbClr val="D6DCE2"/>
                      </a:solidFill>
                    </a:lnT>
                    <a:lnB w="6350">
                      <a:solidFill>
                        <a:srgbClr val="D6DCE2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  <a:lnSpc>
                          <a:spcPct val="100000"/>
                        </a:lnSpc>
                      </a:pPr>
                      <a:r>
                        <a:rPr sz="1200" b="0">
                          <a:solidFill>
                            <a:srgbClr val="1C242E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1.6</a:t>
                      </a:r>
                    </a:p>
                  </a:txBody>
                  <a:tcPr marL="54864" marR="54864" marT="27432" marB="18288" anchor="ctr">
                    <a:solidFill>
                      <a:srgbClr val="FFFFFF"/>
                    </a:solidFill>
                    <a:lnL w="6350">
                      <a:solidFill>
                        <a:srgbClr val="D6DCE2"/>
                      </a:solidFill>
                    </a:lnL>
                    <a:lnR w="6350">
                      <a:solidFill>
                        <a:srgbClr val="D6DCE2"/>
                      </a:solidFill>
                    </a:lnR>
                    <a:lnT w="6350">
                      <a:solidFill>
                        <a:srgbClr val="D6DCE2"/>
                      </a:solidFill>
                    </a:lnT>
                    <a:lnB w="6350">
                      <a:solidFill>
                        <a:srgbClr val="D6DCE2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  <a:lnSpc>
                          <a:spcPct val="100000"/>
                        </a:lnSpc>
                      </a:pPr>
                      <a:r>
                        <a:rPr sz="1200" b="0">
                          <a:solidFill>
                            <a:srgbClr val="1C242E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4336</a:t>
                      </a:r>
                    </a:p>
                  </a:txBody>
                  <a:tcPr marL="54864" marR="54864" marT="27432" marB="18288" anchor="ctr">
                    <a:solidFill>
                      <a:srgbClr val="FFFFFF"/>
                    </a:solidFill>
                    <a:lnL w="6350">
                      <a:solidFill>
                        <a:srgbClr val="D6DCE2"/>
                      </a:solidFill>
                    </a:lnL>
                    <a:lnR w="6350">
                      <a:solidFill>
                        <a:srgbClr val="D6DCE2"/>
                      </a:solidFill>
                    </a:lnR>
                    <a:lnT w="6350">
                      <a:solidFill>
                        <a:srgbClr val="D6DCE2"/>
                      </a:solidFill>
                    </a:lnT>
                    <a:lnB w="6350">
                      <a:solidFill>
                        <a:srgbClr val="D6DCE2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  <a:lnSpc>
                          <a:spcPct val="100000"/>
                        </a:lnSpc>
                      </a:pPr>
                      <a:r>
                        <a:rPr sz="1200" b="0">
                          <a:solidFill>
                            <a:srgbClr val="1C242E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33.9</a:t>
                      </a:r>
                    </a:p>
                  </a:txBody>
                  <a:tcPr marL="54864" marR="54864" marT="27432" marB="18288" anchor="ctr">
                    <a:solidFill>
                      <a:srgbClr val="FFFFFF"/>
                    </a:solidFill>
                    <a:lnL w="6350">
                      <a:solidFill>
                        <a:srgbClr val="D6DCE2"/>
                      </a:solidFill>
                    </a:lnL>
                    <a:lnR w="6350">
                      <a:solidFill>
                        <a:srgbClr val="D6DCE2"/>
                      </a:solidFill>
                    </a:lnR>
                    <a:lnT w="6350">
                      <a:solidFill>
                        <a:srgbClr val="D6DCE2"/>
                      </a:solidFill>
                    </a:lnT>
                    <a:lnB w="6350">
                      <a:solidFill>
                        <a:srgbClr val="D6DCE2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  <a:lnSpc>
                          <a:spcPct val="100000"/>
                        </a:lnSpc>
                      </a:pPr>
                      <a:r>
                        <a:rPr sz="1200" b="0">
                          <a:solidFill>
                            <a:srgbClr val="1C242E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全在 HBM</a:t>
                      </a:r>
                    </a:p>
                  </a:txBody>
                  <a:tcPr marL="54864" marR="54864" marT="27432" marB="18288" anchor="ctr">
                    <a:solidFill>
                      <a:srgbClr val="FFFFFF"/>
                    </a:solidFill>
                    <a:lnL w="6350">
                      <a:solidFill>
                        <a:srgbClr val="D6DCE2"/>
                      </a:solidFill>
                    </a:lnL>
                    <a:lnR w="6350">
                      <a:solidFill>
                        <a:srgbClr val="D6DCE2"/>
                      </a:solidFill>
                    </a:lnR>
                    <a:lnT w="6350">
                      <a:solidFill>
                        <a:srgbClr val="D6DCE2"/>
                      </a:solidFill>
                    </a:lnT>
                    <a:lnB w="6350">
                      <a:solidFill>
                        <a:srgbClr val="D6DCE2"/>
                      </a:solidFill>
                    </a:lnB>
                  </a:tcPr>
                </a:tc>
              </a:tr>
              <a:tr h="384048">
                <a:tc>
                  <a:txBody>
                    <a:bodyPr wrap="square"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  <a:lnSpc>
                          <a:spcPct val="100000"/>
                        </a:lnSpc>
                      </a:pPr>
                      <a:r>
                        <a:rPr sz="1200" b="1">
                          <a:solidFill>
                            <a:srgbClr val="0E2A47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32K</a:t>
                      </a:r>
                    </a:p>
                  </a:txBody>
                  <a:tcPr marL="54864" marR="54864" marT="27432" marB="18288" anchor="ctr">
                    <a:solidFill>
                      <a:srgbClr val="F4F7FA"/>
                    </a:solidFill>
                    <a:lnL w="6350">
                      <a:solidFill>
                        <a:srgbClr val="D6DCE2"/>
                      </a:solidFill>
                    </a:lnL>
                    <a:lnR w="6350">
                      <a:solidFill>
                        <a:srgbClr val="D6DCE2"/>
                      </a:solidFill>
                    </a:lnR>
                    <a:lnT w="6350">
                      <a:solidFill>
                        <a:srgbClr val="D6DCE2"/>
                      </a:solidFill>
                    </a:lnT>
                    <a:lnB w="6350">
                      <a:solidFill>
                        <a:srgbClr val="D6DCE2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  <a:lnSpc>
                          <a:spcPct val="100000"/>
                        </a:lnSpc>
                      </a:pPr>
                      <a:r>
                        <a:rPr sz="1200" b="0">
                          <a:solidFill>
                            <a:srgbClr val="1C242E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166.4 MB</a:t>
                      </a:r>
                    </a:p>
                  </a:txBody>
                  <a:tcPr marL="54864" marR="54864" marT="27432" marB="18288" anchor="ctr">
                    <a:solidFill>
                      <a:srgbClr val="FFFFFF"/>
                    </a:solidFill>
                    <a:lnL w="6350">
                      <a:solidFill>
                        <a:srgbClr val="D6DCE2"/>
                      </a:solidFill>
                    </a:lnL>
                    <a:lnR w="6350">
                      <a:solidFill>
                        <a:srgbClr val="D6DCE2"/>
                      </a:solidFill>
                    </a:lnR>
                    <a:lnT w="6350">
                      <a:solidFill>
                        <a:srgbClr val="D6DCE2"/>
                      </a:solidFill>
                    </a:lnT>
                    <a:lnB w="6350">
                      <a:solidFill>
                        <a:srgbClr val="D6DCE2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  <a:lnSpc>
                          <a:spcPct val="100000"/>
                        </a:lnSpc>
                      </a:pPr>
                      <a:r>
                        <a:rPr sz="1200" b="0">
                          <a:solidFill>
                            <a:srgbClr val="1C242E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3.44 万</a:t>
                      </a:r>
                    </a:p>
                  </a:txBody>
                  <a:tcPr marL="54864" marR="54864" marT="27432" marB="18288" anchor="ctr">
                    <a:solidFill>
                      <a:srgbClr val="FFFFFF"/>
                    </a:solidFill>
                    <a:lnL w="6350">
                      <a:solidFill>
                        <a:srgbClr val="D6DCE2"/>
                      </a:solidFill>
                    </a:lnL>
                    <a:lnR w="6350">
                      <a:solidFill>
                        <a:srgbClr val="D6DCE2"/>
                      </a:solidFill>
                    </a:lnR>
                    <a:lnT w="6350">
                      <a:solidFill>
                        <a:srgbClr val="D6DCE2"/>
                      </a:solidFill>
                    </a:lnT>
                    <a:lnB w="6350">
                      <a:solidFill>
                        <a:srgbClr val="D6DCE2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  <a:lnSpc>
                          <a:spcPct val="100000"/>
                        </a:lnSpc>
                      </a:pPr>
                      <a:r>
                        <a:rPr sz="1200" b="0">
                          <a:solidFill>
                            <a:srgbClr val="1C242E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200</a:t>
                      </a:r>
                    </a:p>
                  </a:txBody>
                  <a:tcPr marL="54864" marR="54864" marT="27432" marB="18288" anchor="ctr">
                    <a:solidFill>
                      <a:srgbClr val="FFFFFF"/>
                    </a:solidFill>
                    <a:lnL w="6350">
                      <a:solidFill>
                        <a:srgbClr val="D6DCE2"/>
                      </a:solidFill>
                    </a:lnL>
                    <a:lnR w="6350">
                      <a:solidFill>
                        <a:srgbClr val="D6DCE2"/>
                      </a:solidFill>
                    </a:lnR>
                    <a:lnT w="6350">
                      <a:solidFill>
                        <a:srgbClr val="D6DCE2"/>
                      </a:solidFill>
                    </a:lnT>
                    <a:lnB w="6350">
                      <a:solidFill>
                        <a:srgbClr val="D6DCE2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  <a:lnSpc>
                          <a:spcPct val="100000"/>
                        </a:lnSpc>
                      </a:pPr>
                      <a:r>
                        <a:rPr sz="1200" b="0">
                          <a:solidFill>
                            <a:srgbClr val="1C242E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1.6</a:t>
                      </a:r>
                    </a:p>
                  </a:txBody>
                  <a:tcPr marL="54864" marR="54864" marT="27432" marB="18288" anchor="ctr">
                    <a:solidFill>
                      <a:srgbClr val="FFFFFF"/>
                    </a:solidFill>
                    <a:lnL w="6350">
                      <a:solidFill>
                        <a:srgbClr val="D6DCE2"/>
                      </a:solidFill>
                    </a:lnL>
                    <a:lnR w="6350">
                      <a:solidFill>
                        <a:srgbClr val="D6DCE2"/>
                      </a:solidFill>
                    </a:lnR>
                    <a:lnT w="6350">
                      <a:solidFill>
                        <a:srgbClr val="D6DCE2"/>
                      </a:solidFill>
                    </a:lnT>
                    <a:lnB w="6350">
                      <a:solidFill>
                        <a:srgbClr val="D6DCE2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  <a:lnSpc>
                          <a:spcPct val="100000"/>
                        </a:lnSpc>
                      </a:pPr>
                      <a:r>
                        <a:rPr sz="1200" b="0">
                          <a:solidFill>
                            <a:srgbClr val="1C242E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4176</a:t>
                      </a:r>
                    </a:p>
                  </a:txBody>
                  <a:tcPr marL="54864" marR="54864" marT="27432" marB="18288" anchor="ctr">
                    <a:solidFill>
                      <a:srgbClr val="FFFFFF"/>
                    </a:solidFill>
                    <a:lnL w="6350">
                      <a:solidFill>
                        <a:srgbClr val="D6DCE2"/>
                      </a:solidFill>
                    </a:lnL>
                    <a:lnR w="6350">
                      <a:solidFill>
                        <a:srgbClr val="D6DCE2"/>
                      </a:solidFill>
                    </a:lnR>
                    <a:lnT w="6350">
                      <a:solidFill>
                        <a:srgbClr val="D6DCE2"/>
                      </a:solidFill>
                    </a:lnT>
                    <a:lnB w="6350">
                      <a:solidFill>
                        <a:srgbClr val="D6DCE2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  <a:lnSpc>
                          <a:spcPct val="100000"/>
                        </a:lnSpc>
                      </a:pPr>
                      <a:r>
                        <a:rPr sz="1200" b="0">
                          <a:solidFill>
                            <a:srgbClr val="1C242E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32.6</a:t>
                      </a:r>
                    </a:p>
                  </a:txBody>
                  <a:tcPr marL="54864" marR="54864" marT="27432" marB="18288" anchor="ctr">
                    <a:solidFill>
                      <a:srgbClr val="FFFFFF"/>
                    </a:solidFill>
                    <a:lnL w="6350">
                      <a:solidFill>
                        <a:srgbClr val="D6DCE2"/>
                      </a:solidFill>
                    </a:lnL>
                    <a:lnR w="6350">
                      <a:solidFill>
                        <a:srgbClr val="D6DCE2"/>
                      </a:solidFill>
                    </a:lnR>
                    <a:lnT w="6350">
                      <a:solidFill>
                        <a:srgbClr val="D6DCE2"/>
                      </a:solidFill>
                    </a:lnT>
                    <a:lnB w="6350">
                      <a:solidFill>
                        <a:srgbClr val="D6DCE2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  <a:lnSpc>
                          <a:spcPct val="100000"/>
                        </a:lnSpc>
                      </a:pPr>
                      <a:r>
                        <a:rPr sz="1200" b="0">
                          <a:solidFill>
                            <a:srgbClr val="1C242E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全在 HBM</a:t>
                      </a:r>
                    </a:p>
                  </a:txBody>
                  <a:tcPr marL="54864" marR="54864" marT="27432" marB="18288" anchor="ctr">
                    <a:solidFill>
                      <a:srgbClr val="FFFFFF"/>
                    </a:solidFill>
                    <a:lnL w="6350">
                      <a:solidFill>
                        <a:srgbClr val="D6DCE2"/>
                      </a:solidFill>
                    </a:lnL>
                    <a:lnR w="6350">
                      <a:solidFill>
                        <a:srgbClr val="D6DCE2"/>
                      </a:solidFill>
                    </a:lnR>
                    <a:lnT w="6350">
                      <a:solidFill>
                        <a:srgbClr val="D6DCE2"/>
                      </a:solidFill>
                    </a:lnT>
                    <a:lnB w="6350">
                      <a:solidFill>
                        <a:srgbClr val="D6DCE2"/>
                      </a:solidFill>
                    </a:lnB>
                  </a:tcPr>
                </a:tc>
              </a:tr>
              <a:tr h="384048">
                <a:tc>
                  <a:txBody>
                    <a:bodyPr wrap="square"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  <a:lnSpc>
                          <a:spcPct val="100000"/>
                        </a:lnSpc>
                      </a:pPr>
                      <a:r>
                        <a:rPr sz="1200" b="1">
                          <a:solidFill>
                            <a:srgbClr val="0E2A47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128K</a:t>
                      </a:r>
                    </a:p>
                  </a:txBody>
                  <a:tcPr marL="54864" marR="54864" marT="27432" marB="18288" anchor="ctr">
                    <a:solidFill>
                      <a:srgbClr val="F4F7FA"/>
                    </a:solidFill>
                    <a:lnL w="6350">
                      <a:solidFill>
                        <a:srgbClr val="D6DCE2"/>
                      </a:solidFill>
                    </a:lnL>
                    <a:lnR w="6350">
                      <a:solidFill>
                        <a:srgbClr val="D6DCE2"/>
                      </a:solidFill>
                    </a:lnR>
                    <a:lnT w="6350">
                      <a:solidFill>
                        <a:srgbClr val="D6DCE2"/>
                      </a:solidFill>
                    </a:lnT>
                    <a:lnB w="6350">
                      <a:solidFill>
                        <a:srgbClr val="D6DCE2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  <a:lnSpc>
                          <a:spcPct val="100000"/>
                        </a:lnSpc>
                      </a:pPr>
                      <a:r>
                        <a:rPr sz="1200" b="0">
                          <a:solidFill>
                            <a:srgbClr val="1C242E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651.9 MB</a:t>
                      </a:r>
                    </a:p>
                  </a:txBody>
                  <a:tcPr marL="54864" marR="54864" marT="27432" marB="18288" anchor="ctr">
                    <a:solidFill>
                      <a:srgbClr val="FFFFFF"/>
                    </a:solidFill>
                    <a:lnL w="6350">
                      <a:solidFill>
                        <a:srgbClr val="D6DCE2"/>
                      </a:solidFill>
                    </a:lnL>
                    <a:lnR w="6350">
                      <a:solidFill>
                        <a:srgbClr val="D6DCE2"/>
                      </a:solidFill>
                    </a:lnR>
                    <a:lnT w="6350">
                      <a:solidFill>
                        <a:srgbClr val="D6DCE2"/>
                      </a:solidFill>
                    </a:lnT>
                    <a:lnB w="6350">
                      <a:solidFill>
                        <a:srgbClr val="D6DCE2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  <a:lnSpc>
                          <a:spcPct val="100000"/>
                        </a:lnSpc>
                      </a:pPr>
                      <a:r>
                        <a:rPr sz="1200" b="0">
                          <a:solidFill>
                            <a:srgbClr val="1C242E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8773</a:t>
                      </a:r>
                    </a:p>
                  </a:txBody>
                  <a:tcPr marL="54864" marR="54864" marT="27432" marB="18288" anchor="ctr">
                    <a:solidFill>
                      <a:srgbClr val="FFFFFF"/>
                    </a:solidFill>
                    <a:lnL w="6350">
                      <a:solidFill>
                        <a:srgbClr val="D6DCE2"/>
                      </a:solidFill>
                    </a:lnL>
                    <a:lnR w="6350">
                      <a:solidFill>
                        <a:srgbClr val="D6DCE2"/>
                      </a:solidFill>
                    </a:lnR>
                    <a:lnT w="6350">
                      <a:solidFill>
                        <a:srgbClr val="D6DCE2"/>
                      </a:solidFill>
                    </a:lnT>
                    <a:lnB w="6350">
                      <a:solidFill>
                        <a:srgbClr val="D6DCE2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  <a:lnSpc>
                          <a:spcPct val="100000"/>
                        </a:lnSpc>
                      </a:pPr>
                      <a:r>
                        <a:rPr sz="1200" b="0">
                          <a:solidFill>
                            <a:srgbClr val="1C242E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199</a:t>
                      </a:r>
                    </a:p>
                  </a:txBody>
                  <a:tcPr marL="54864" marR="54864" marT="27432" marB="18288" anchor="ctr">
                    <a:solidFill>
                      <a:srgbClr val="FFFFFF"/>
                    </a:solidFill>
                    <a:lnL w="6350">
                      <a:solidFill>
                        <a:srgbClr val="D6DCE2"/>
                      </a:solidFill>
                    </a:lnL>
                    <a:lnR w="6350">
                      <a:solidFill>
                        <a:srgbClr val="D6DCE2"/>
                      </a:solidFill>
                    </a:lnR>
                    <a:lnT w="6350">
                      <a:solidFill>
                        <a:srgbClr val="D6DCE2"/>
                      </a:solidFill>
                    </a:lnT>
                    <a:lnB w="6350">
                      <a:solidFill>
                        <a:srgbClr val="D6DCE2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  <a:lnSpc>
                          <a:spcPct val="100000"/>
                        </a:lnSpc>
                      </a:pPr>
                      <a:r>
                        <a:rPr sz="1200" b="0">
                          <a:solidFill>
                            <a:srgbClr val="1C242E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1.6</a:t>
                      </a:r>
                    </a:p>
                  </a:txBody>
                  <a:tcPr marL="54864" marR="54864" marT="27432" marB="18288" anchor="ctr">
                    <a:solidFill>
                      <a:srgbClr val="FFFFFF"/>
                    </a:solidFill>
                    <a:lnL w="6350">
                      <a:solidFill>
                        <a:srgbClr val="D6DCE2"/>
                      </a:solidFill>
                    </a:lnL>
                    <a:lnR w="6350">
                      <a:solidFill>
                        <a:srgbClr val="D6DCE2"/>
                      </a:solidFill>
                    </a:lnR>
                    <a:lnT w="6350">
                      <a:solidFill>
                        <a:srgbClr val="D6DCE2"/>
                      </a:solidFill>
                    </a:lnT>
                    <a:lnB w="6350">
                      <a:solidFill>
                        <a:srgbClr val="D6DCE2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  <a:lnSpc>
                          <a:spcPct val="100000"/>
                        </a:lnSpc>
                      </a:pPr>
                      <a:r>
                        <a:rPr sz="1200" b="0">
                          <a:solidFill>
                            <a:srgbClr val="1C242E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3808</a:t>
                      </a:r>
                    </a:p>
                  </a:txBody>
                  <a:tcPr marL="54864" marR="54864" marT="27432" marB="18288" anchor="ctr">
                    <a:solidFill>
                      <a:srgbClr val="FFFFFF"/>
                    </a:solidFill>
                    <a:lnL w="6350">
                      <a:solidFill>
                        <a:srgbClr val="D6DCE2"/>
                      </a:solidFill>
                    </a:lnL>
                    <a:lnR w="6350">
                      <a:solidFill>
                        <a:srgbClr val="D6DCE2"/>
                      </a:solidFill>
                    </a:lnR>
                    <a:lnT w="6350">
                      <a:solidFill>
                        <a:srgbClr val="D6DCE2"/>
                      </a:solidFill>
                    </a:lnT>
                    <a:lnB w="6350">
                      <a:solidFill>
                        <a:srgbClr val="D6DCE2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  <a:lnSpc>
                          <a:spcPct val="100000"/>
                        </a:lnSpc>
                      </a:pPr>
                      <a:r>
                        <a:rPr sz="1200" b="0">
                          <a:solidFill>
                            <a:srgbClr val="1C242E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29.8</a:t>
                      </a:r>
                    </a:p>
                  </a:txBody>
                  <a:tcPr marL="54864" marR="54864" marT="27432" marB="18288" anchor="ctr">
                    <a:solidFill>
                      <a:srgbClr val="FFFFFF"/>
                    </a:solidFill>
                    <a:lnL w="6350">
                      <a:solidFill>
                        <a:srgbClr val="D6DCE2"/>
                      </a:solidFill>
                    </a:lnL>
                    <a:lnR w="6350">
                      <a:solidFill>
                        <a:srgbClr val="D6DCE2"/>
                      </a:solidFill>
                    </a:lnR>
                    <a:lnT w="6350">
                      <a:solidFill>
                        <a:srgbClr val="D6DCE2"/>
                      </a:solidFill>
                    </a:lnT>
                    <a:lnB w="6350">
                      <a:solidFill>
                        <a:srgbClr val="D6DCE2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  <a:lnSpc>
                          <a:spcPct val="100000"/>
                        </a:lnSpc>
                      </a:pPr>
                      <a:r>
                        <a:rPr sz="1200" b="0">
                          <a:solidFill>
                            <a:srgbClr val="1C242E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全在 HBM</a:t>
                      </a:r>
                    </a:p>
                  </a:txBody>
                  <a:tcPr marL="54864" marR="54864" marT="27432" marB="18288" anchor="ctr">
                    <a:solidFill>
                      <a:srgbClr val="FFFFFF"/>
                    </a:solidFill>
                    <a:lnL w="6350">
                      <a:solidFill>
                        <a:srgbClr val="D6DCE2"/>
                      </a:solidFill>
                    </a:lnL>
                    <a:lnR w="6350">
                      <a:solidFill>
                        <a:srgbClr val="D6DCE2"/>
                      </a:solidFill>
                    </a:lnR>
                    <a:lnT w="6350">
                      <a:solidFill>
                        <a:srgbClr val="D6DCE2"/>
                      </a:solidFill>
                    </a:lnT>
                    <a:lnB w="6350">
                      <a:solidFill>
                        <a:srgbClr val="D6DCE2"/>
                      </a:solidFill>
                    </a:lnB>
                  </a:tcPr>
                </a:tc>
              </a:tr>
              <a:tr h="384048">
                <a:tc>
                  <a:txBody>
                    <a:bodyPr wrap="square"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  <a:lnSpc>
                          <a:spcPct val="100000"/>
                        </a:lnSpc>
                      </a:pPr>
                      <a:r>
                        <a:rPr sz="1200" b="1">
                          <a:solidFill>
                            <a:srgbClr val="0E2A47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256K</a:t>
                      </a:r>
                    </a:p>
                  </a:txBody>
                  <a:tcPr marL="54864" marR="54864" marT="27432" marB="18288" anchor="ctr">
                    <a:solidFill>
                      <a:srgbClr val="F4F7FA"/>
                    </a:solidFill>
                    <a:lnL w="6350">
                      <a:solidFill>
                        <a:srgbClr val="D6DCE2"/>
                      </a:solidFill>
                    </a:lnL>
                    <a:lnR w="6350">
                      <a:solidFill>
                        <a:srgbClr val="D6DCE2"/>
                      </a:solidFill>
                    </a:lnR>
                    <a:lnT w="6350">
                      <a:solidFill>
                        <a:srgbClr val="D6DCE2"/>
                      </a:solidFill>
                    </a:lnT>
                    <a:lnB w="6350">
                      <a:solidFill>
                        <a:srgbClr val="D6DCE2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  <a:lnSpc>
                          <a:spcPct val="100000"/>
                        </a:lnSpc>
                      </a:pPr>
                      <a:r>
                        <a:rPr sz="1200" b="0">
                          <a:solidFill>
                            <a:srgbClr val="1C242E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1.30 GB</a:t>
                      </a:r>
                    </a:p>
                  </a:txBody>
                  <a:tcPr marL="54864" marR="54864" marT="27432" marB="18288" anchor="ctr">
                    <a:solidFill>
                      <a:srgbClr val="FFFFFF"/>
                    </a:solidFill>
                    <a:lnL w="6350">
                      <a:solidFill>
                        <a:srgbClr val="D6DCE2"/>
                      </a:solidFill>
                    </a:lnL>
                    <a:lnR w="6350">
                      <a:solidFill>
                        <a:srgbClr val="D6DCE2"/>
                      </a:solidFill>
                    </a:lnR>
                    <a:lnT w="6350">
                      <a:solidFill>
                        <a:srgbClr val="D6DCE2"/>
                      </a:solidFill>
                    </a:lnT>
                    <a:lnB w="6350">
                      <a:solidFill>
                        <a:srgbClr val="D6DCE2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  <a:lnSpc>
                          <a:spcPct val="100000"/>
                        </a:lnSpc>
                      </a:pPr>
                      <a:r>
                        <a:rPr sz="1200" b="0">
                          <a:solidFill>
                            <a:srgbClr val="1C242E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4402</a:t>
                      </a:r>
                    </a:p>
                  </a:txBody>
                  <a:tcPr marL="54864" marR="54864" marT="27432" marB="18288" anchor="ctr">
                    <a:solidFill>
                      <a:srgbClr val="FFFFFF"/>
                    </a:solidFill>
                    <a:lnL w="6350">
                      <a:solidFill>
                        <a:srgbClr val="D6DCE2"/>
                      </a:solidFill>
                    </a:lnL>
                    <a:lnR w="6350">
                      <a:solidFill>
                        <a:srgbClr val="D6DCE2"/>
                      </a:solidFill>
                    </a:lnR>
                    <a:lnT w="6350">
                      <a:solidFill>
                        <a:srgbClr val="D6DCE2"/>
                      </a:solidFill>
                    </a:lnT>
                    <a:lnB w="6350">
                      <a:solidFill>
                        <a:srgbClr val="D6DCE2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  <a:lnSpc>
                          <a:spcPct val="100000"/>
                        </a:lnSpc>
                      </a:pPr>
                      <a:r>
                        <a:rPr sz="1200" b="0">
                          <a:solidFill>
                            <a:srgbClr val="1C242E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197</a:t>
                      </a:r>
                    </a:p>
                  </a:txBody>
                  <a:tcPr marL="54864" marR="54864" marT="27432" marB="18288" anchor="ctr">
                    <a:solidFill>
                      <a:srgbClr val="FFFFFF"/>
                    </a:solidFill>
                    <a:lnL w="6350">
                      <a:solidFill>
                        <a:srgbClr val="D6DCE2"/>
                      </a:solidFill>
                    </a:lnL>
                    <a:lnR w="6350">
                      <a:solidFill>
                        <a:srgbClr val="D6DCE2"/>
                      </a:solidFill>
                    </a:lnR>
                    <a:lnT w="6350">
                      <a:solidFill>
                        <a:srgbClr val="D6DCE2"/>
                      </a:solidFill>
                    </a:lnT>
                    <a:lnB w="6350">
                      <a:solidFill>
                        <a:srgbClr val="D6DCE2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  <a:lnSpc>
                          <a:spcPct val="100000"/>
                        </a:lnSpc>
                      </a:pPr>
                      <a:r>
                        <a:rPr sz="1200" b="0">
                          <a:solidFill>
                            <a:srgbClr val="1C242E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1.5</a:t>
                      </a:r>
                    </a:p>
                  </a:txBody>
                  <a:tcPr marL="54864" marR="54864" marT="27432" marB="18288" anchor="ctr">
                    <a:solidFill>
                      <a:srgbClr val="FFFFFF"/>
                    </a:solidFill>
                    <a:lnL w="6350">
                      <a:solidFill>
                        <a:srgbClr val="D6DCE2"/>
                      </a:solidFill>
                    </a:lnL>
                    <a:lnR w="6350">
                      <a:solidFill>
                        <a:srgbClr val="D6DCE2"/>
                      </a:solidFill>
                    </a:lnR>
                    <a:lnT w="6350">
                      <a:solidFill>
                        <a:srgbClr val="D6DCE2"/>
                      </a:solidFill>
                    </a:lnT>
                    <a:lnB w="6350">
                      <a:solidFill>
                        <a:srgbClr val="D6DCE2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  <a:lnSpc>
                          <a:spcPct val="100000"/>
                        </a:lnSpc>
                      </a:pPr>
                      <a:r>
                        <a:rPr sz="1200" b="0">
                          <a:solidFill>
                            <a:srgbClr val="1C242E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3328</a:t>
                      </a:r>
                    </a:p>
                  </a:txBody>
                  <a:tcPr marL="54864" marR="54864" marT="27432" marB="18288" anchor="ctr">
                    <a:solidFill>
                      <a:srgbClr val="FFFFFF"/>
                    </a:solidFill>
                    <a:lnL w="6350">
                      <a:solidFill>
                        <a:srgbClr val="D6DCE2"/>
                      </a:solidFill>
                    </a:lnL>
                    <a:lnR w="6350">
                      <a:solidFill>
                        <a:srgbClr val="D6DCE2"/>
                      </a:solidFill>
                    </a:lnR>
                    <a:lnT w="6350">
                      <a:solidFill>
                        <a:srgbClr val="D6DCE2"/>
                      </a:solidFill>
                    </a:lnT>
                    <a:lnB w="6350">
                      <a:solidFill>
                        <a:srgbClr val="D6DCE2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  <a:lnSpc>
                          <a:spcPct val="100000"/>
                        </a:lnSpc>
                      </a:pPr>
                      <a:r>
                        <a:rPr sz="1200" b="0">
                          <a:solidFill>
                            <a:srgbClr val="1C242E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26.0</a:t>
                      </a:r>
                    </a:p>
                  </a:txBody>
                  <a:tcPr marL="54864" marR="54864" marT="27432" marB="18288" anchor="ctr">
                    <a:solidFill>
                      <a:srgbClr val="FFFFFF"/>
                    </a:solidFill>
                    <a:lnL w="6350">
                      <a:solidFill>
                        <a:srgbClr val="D6DCE2"/>
                      </a:solidFill>
                    </a:lnL>
                    <a:lnR w="6350">
                      <a:solidFill>
                        <a:srgbClr val="D6DCE2"/>
                      </a:solidFill>
                    </a:lnR>
                    <a:lnT w="6350">
                      <a:solidFill>
                        <a:srgbClr val="D6DCE2"/>
                      </a:solidFill>
                    </a:lnT>
                    <a:lnB w="6350">
                      <a:solidFill>
                        <a:srgbClr val="D6DCE2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  <a:lnSpc>
                          <a:spcPct val="100000"/>
                        </a:lnSpc>
                      </a:pPr>
                      <a:r>
                        <a:rPr sz="1200" b="0">
                          <a:solidFill>
                            <a:srgbClr val="1C242E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全在 HBM</a:t>
                      </a:r>
                    </a:p>
                  </a:txBody>
                  <a:tcPr marL="54864" marR="54864" marT="27432" marB="18288" anchor="ctr">
                    <a:solidFill>
                      <a:srgbClr val="FFFFFF"/>
                    </a:solidFill>
                    <a:lnL w="6350">
                      <a:solidFill>
                        <a:srgbClr val="D6DCE2"/>
                      </a:solidFill>
                    </a:lnL>
                    <a:lnR w="6350">
                      <a:solidFill>
                        <a:srgbClr val="D6DCE2"/>
                      </a:solidFill>
                    </a:lnR>
                    <a:lnT w="6350">
                      <a:solidFill>
                        <a:srgbClr val="D6DCE2"/>
                      </a:solidFill>
                    </a:lnT>
                    <a:lnB w="6350">
                      <a:solidFill>
                        <a:srgbClr val="D6DCE2"/>
                      </a:solidFill>
                    </a:lnB>
                  </a:tcPr>
                </a:tc>
              </a:tr>
              <a:tr h="384048">
                <a:tc>
                  <a:txBody>
                    <a:bodyPr wrap="square"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  <a:lnSpc>
                          <a:spcPct val="100000"/>
                        </a:lnSpc>
                      </a:pPr>
                      <a:r>
                        <a:rPr sz="1200" b="1">
                          <a:solidFill>
                            <a:srgbClr val="0E7A76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512K</a:t>
                      </a:r>
                    </a:p>
                  </a:txBody>
                  <a:tcPr marL="54864" marR="54864" marT="27432" marB="18288" anchor="ctr">
                    <a:solidFill>
                      <a:srgbClr val="F4F7FA"/>
                    </a:solidFill>
                    <a:lnL w="6350">
                      <a:solidFill>
                        <a:srgbClr val="D6DCE2"/>
                      </a:solidFill>
                    </a:lnL>
                    <a:lnR w="6350">
                      <a:solidFill>
                        <a:srgbClr val="D6DCE2"/>
                      </a:solidFill>
                    </a:lnR>
                    <a:lnT w="6350">
                      <a:solidFill>
                        <a:srgbClr val="D6DCE2"/>
                      </a:solidFill>
                    </a:lnT>
                    <a:lnB w="6350">
                      <a:solidFill>
                        <a:srgbClr val="D6DCE2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  <a:lnSpc>
                          <a:spcPct val="100000"/>
                        </a:lnSpc>
                      </a:pPr>
                      <a:r>
                        <a:rPr sz="1200" b="1">
                          <a:solidFill>
                            <a:srgbClr val="0E7A76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2.59 GB</a:t>
                      </a:r>
                    </a:p>
                  </a:txBody>
                  <a:tcPr marL="54864" marR="54864" marT="27432" marB="18288" anchor="ctr">
                    <a:solidFill>
                      <a:srgbClr val="E7F3F2"/>
                    </a:solidFill>
                    <a:lnL w="6350">
                      <a:solidFill>
                        <a:srgbClr val="D6DCE2"/>
                      </a:solidFill>
                    </a:lnL>
                    <a:lnR w="6350">
                      <a:solidFill>
                        <a:srgbClr val="D6DCE2"/>
                      </a:solidFill>
                    </a:lnR>
                    <a:lnT w="6350">
                      <a:solidFill>
                        <a:srgbClr val="D6DCE2"/>
                      </a:solidFill>
                    </a:lnT>
                    <a:lnB w="6350">
                      <a:solidFill>
                        <a:srgbClr val="D6DCE2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  <a:lnSpc>
                          <a:spcPct val="100000"/>
                        </a:lnSpc>
                      </a:pPr>
                      <a:r>
                        <a:rPr sz="1200" b="1">
                          <a:solidFill>
                            <a:srgbClr val="0E7A76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2204</a:t>
                      </a:r>
                    </a:p>
                  </a:txBody>
                  <a:tcPr marL="54864" marR="54864" marT="27432" marB="18288" anchor="ctr">
                    <a:solidFill>
                      <a:srgbClr val="E7F3F2"/>
                    </a:solidFill>
                    <a:lnL w="6350">
                      <a:solidFill>
                        <a:srgbClr val="D6DCE2"/>
                      </a:solidFill>
                    </a:lnL>
                    <a:lnR w="6350">
                      <a:solidFill>
                        <a:srgbClr val="D6DCE2"/>
                      </a:solidFill>
                    </a:lnR>
                    <a:lnT w="6350">
                      <a:solidFill>
                        <a:srgbClr val="D6DCE2"/>
                      </a:solidFill>
                    </a:lnT>
                    <a:lnB w="6350">
                      <a:solidFill>
                        <a:srgbClr val="D6DCE2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  <a:lnSpc>
                          <a:spcPct val="100000"/>
                        </a:lnSpc>
                      </a:pPr>
                      <a:r>
                        <a:rPr sz="1200" b="1">
                          <a:solidFill>
                            <a:srgbClr val="0E7A76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193</a:t>
                      </a:r>
                    </a:p>
                  </a:txBody>
                  <a:tcPr marL="54864" marR="54864" marT="27432" marB="18288" anchor="ctr">
                    <a:solidFill>
                      <a:srgbClr val="E7F3F2"/>
                    </a:solidFill>
                    <a:lnL w="6350">
                      <a:solidFill>
                        <a:srgbClr val="D6DCE2"/>
                      </a:solidFill>
                    </a:lnL>
                    <a:lnR w="6350">
                      <a:solidFill>
                        <a:srgbClr val="D6DCE2"/>
                      </a:solidFill>
                    </a:lnR>
                    <a:lnT w="6350">
                      <a:solidFill>
                        <a:srgbClr val="D6DCE2"/>
                      </a:solidFill>
                    </a:lnT>
                    <a:lnB w="6350">
                      <a:solidFill>
                        <a:srgbClr val="D6DCE2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  <a:lnSpc>
                          <a:spcPct val="100000"/>
                        </a:lnSpc>
                      </a:pPr>
                      <a:r>
                        <a:rPr sz="1200" b="1">
                          <a:solidFill>
                            <a:srgbClr val="0E7A76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1.5</a:t>
                      </a:r>
                    </a:p>
                  </a:txBody>
                  <a:tcPr marL="54864" marR="54864" marT="27432" marB="18288" anchor="ctr">
                    <a:solidFill>
                      <a:srgbClr val="E7F3F2"/>
                    </a:solidFill>
                    <a:lnL w="6350">
                      <a:solidFill>
                        <a:srgbClr val="D6DCE2"/>
                      </a:solidFill>
                    </a:lnL>
                    <a:lnR w="6350">
                      <a:solidFill>
                        <a:srgbClr val="D6DCE2"/>
                      </a:solidFill>
                    </a:lnR>
                    <a:lnT w="6350">
                      <a:solidFill>
                        <a:srgbClr val="D6DCE2"/>
                      </a:solidFill>
                    </a:lnT>
                    <a:lnB w="6350">
                      <a:solidFill>
                        <a:srgbClr val="D6DCE2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  <a:lnSpc>
                          <a:spcPct val="100000"/>
                        </a:lnSpc>
                      </a:pPr>
                      <a:r>
                        <a:rPr sz="1200" b="1">
                          <a:solidFill>
                            <a:srgbClr val="0E7A76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2390</a:t>
                      </a:r>
                    </a:p>
                  </a:txBody>
                  <a:tcPr marL="54864" marR="54864" marT="27432" marB="18288" anchor="ctr">
                    <a:solidFill>
                      <a:srgbClr val="E7F3F2"/>
                    </a:solidFill>
                    <a:lnL w="6350">
                      <a:solidFill>
                        <a:srgbClr val="D6DCE2"/>
                      </a:solidFill>
                    </a:lnL>
                    <a:lnR w="6350">
                      <a:solidFill>
                        <a:srgbClr val="D6DCE2"/>
                      </a:solidFill>
                    </a:lnR>
                    <a:lnT w="6350">
                      <a:solidFill>
                        <a:srgbClr val="D6DCE2"/>
                      </a:solidFill>
                    </a:lnT>
                    <a:lnB w="6350">
                      <a:solidFill>
                        <a:srgbClr val="D6DCE2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  <a:lnSpc>
                          <a:spcPct val="100000"/>
                        </a:lnSpc>
                      </a:pPr>
                      <a:r>
                        <a:rPr sz="1200" b="1">
                          <a:solidFill>
                            <a:srgbClr val="0E7A76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18.7</a:t>
                      </a:r>
                    </a:p>
                  </a:txBody>
                  <a:tcPr marL="54864" marR="54864" marT="27432" marB="18288" anchor="ctr">
                    <a:solidFill>
                      <a:srgbClr val="E7F3F2"/>
                    </a:solidFill>
                    <a:lnL w="6350">
                      <a:solidFill>
                        <a:srgbClr val="D6DCE2"/>
                      </a:solidFill>
                    </a:lnL>
                    <a:lnR w="6350">
                      <a:solidFill>
                        <a:srgbClr val="D6DCE2"/>
                      </a:solidFill>
                    </a:lnR>
                    <a:lnT w="6350">
                      <a:solidFill>
                        <a:srgbClr val="D6DCE2"/>
                      </a:solidFill>
                    </a:lnT>
                    <a:lnB w="6350">
                      <a:solidFill>
                        <a:srgbClr val="D6DCE2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  <a:lnSpc>
                          <a:spcPct val="100000"/>
                        </a:lnSpc>
                      </a:pPr>
                      <a:r>
                        <a:rPr sz="1200" b="1">
                          <a:solidFill>
                            <a:srgbClr val="0E7A76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7.7% 在总线内存池</a:t>
                      </a:r>
                    </a:p>
                  </a:txBody>
                  <a:tcPr marL="54864" marR="54864" marT="27432" marB="18288" anchor="ctr">
                    <a:solidFill>
                      <a:srgbClr val="E7F3F2"/>
                    </a:solidFill>
                    <a:lnL w="6350">
                      <a:solidFill>
                        <a:srgbClr val="D6DCE2"/>
                      </a:solidFill>
                    </a:lnL>
                    <a:lnR w="6350">
                      <a:solidFill>
                        <a:srgbClr val="D6DCE2"/>
                      </a:solidFill>
                    </a:lnR>
                    <a:lnT w="6350">
                      <a:solidFill>
                        <a:srgbClr val="D6DCE2"/>
                      </a:solidFill>
                    </a:lnT>
                    <a:lnB w="6350">
                      <a:solidFill>
                        <a:srgbClr val="D6DCE2"/>
                      </a:solidFill>
                    </a:lnB>
                  </a:tcPr>
                </a:tc>
              </a:tr>
              <a:tr h="384048">
                <a:tc>
                  <a:txBody>
                    <a:bodyPr wrap="square"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  <a:lnSpc>
                          <a:spcPct val="100000"/>
                        </a:lnSpc>
                      </a:pPr>
                      <a:r>
                        <a:rPr sz="1200" b="1">
                          <a:solidFill>
                            <a:srgbClr val="0E7A76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1M</a:t>
                      </a:r>
                    </a:p>
                  </a:txBody>
                  <a:tcPr marL="54864" marR="54864" marT="27432" marB="18288" anchor="ctr">
                    <a:solidFill>
                      <a:srgbClr val="F4F7FA"/>
                    </a:solidFill>
                    <a:lnL w="6350">
                      <a:solidFill>
                        <a:srgbClr val="D6DCE2"/>
                      </a:solidFill>
                    </a:lnL>
                    <a:lnR w="6350">
                      <a:solidFill>
                        <a:srgbClr val="D6DCE2"/>
                      </a:solidFill>
                    </a:lnR>
                    <a:lnT w="6350">
                      <a:solidFill>
                        <a:srgbClr val="D6DCE2"/>
                      </a:solidFill>
                    </a:lnT>
                    <a:lnB w="6350">
                      <a:solidFill>
                        <a:srgbClr val="D6DCE2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  <a:lnSpc>
                          <a:spcPct val="100000"/>
                        </a:lnSpc>
                      </a:pPr>
                      <a:r>
                        <a:rPr sz="1200" b="1">
                          <a:solidFill>
                            <a:srgbClr val="0E7A76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5.18 GB</a:t>
                      </a:r>
                    </a:p>
                  </a:txBody>
                  <a:tcPr marL="54864" marR="54864" marT="27432" marB="18288" anchor="ctr">
                    <a:solidFill>
                      <a:srgbClr val="E7F3F2"/>
                    </a:solidFill>
                    <a:lnL w="6350">
                      <a:solidFill>
                        <a:srgbClr val="D6DCE2"/>
                      </a:solidFill>
                    </a:lnL>
                    <a:lnR w="6350">
                      <a:solidFill>
                        <a:srgbClr val="D6DCE2"/>
                      </a:solidFill>
                    </a:lnR>
                    <a:lnT w="6350">
                      <a:solidFill>
                        <a:srgbClr val="D6DCE2"/>
                      </a:solidFill>
                    </a:lnT>
                    <a:lnB w="6350">
                      <a:solidFill>
                        <a:srgbClr val="D6DCE2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  <a:lnSpc>
                          <a:spcPct val="100000"/>
                        </a:lnSpc>
                      </a:pPr>
                      <a:r>
                        <a:rPr sz="1200" b="1">
                          <a:solidFill>
                            <a:srgbClr val="0E7A76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1103</a:t>
                      </a:r>
                    </a:p>
                  </a:txBody>
                  <a:tcPr marL="54864" marR="54864" marT="27432" marB="18288" anchor="ctr">
                    <a:solidFill>
                      <a:srgbClr val="E7F3F2"/>
                    </a:solidFill>
                    <a:lnL w="6350">
                      <a:solidFill>
                        <a:srgbClr val="D6DCE2"/>
                      </a:solidFill>
                    </a:lnL>
                    <a:lnR w="6350">
                      <a:solidFill>
                        <a:srgbClr val="D6DCE2"/>
                      </a:solidFill>
                    </a:lnR>
                    <a:lnT w="6350">
                      <a:solidFill>
                        <a:srgbClr val="D6DCE2"/>
                      </a:solidFill>
                    </a:lnT>
                    <a:lnB w="6350">
                      <a:solidFill>
                        <a:srgbClr val="D6DCE2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  <a:lnSpc>
                          <a:spcPct val="100000"/>
                        </a:lnSpc>
                      </a:pPr>
                      <a:r>
                        <a:rPr sz="1200" b="1">
                          <a:solidFill>
                            <a:srgbClr val="0E7A76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173</a:t>
                      </a:r>
                    </a:p>
                  </a:txBody>
                  <a:tcPr marL="54864" marR="54864" marT="27432" marB="18288" anchor="ctr">
                    <a:solidFill>
                      <a:srgbClr val="E7F3F2"/>
                    </a:solidFill>
                    <a:lnL w="6350">
                      <a:solidFill>
                        <a:srgbClr val="D6DCE2"/>
                      </a:solidFill>
                    </a:lnL>
                    <a:lnR w="6350">
                      <a:solidFill>
                        <a:srgbClr val="D6DCE2"/>
                      </a:solidFill>
                    </a:lnR>
                    <a:lnT w="6350">
                      <a:solidFill>
                        <a:srgbClr val="D6DCE2"/>
                      </a:solidFill>
                    </a:lnT>
                    <a:lnB w="6350">
                      <a:solidFill>
                        <a:srgbClr val="D6DCE2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  <a:lnSpc>
                          <a:spcPct val="100000"/>
                        </a:lnSpc>
                      </a:pPr>
                      <a:r>
                        <a:rPr sz="1200" b="1">
                          <a:solidFill>
                            <a:srgbClr val="0E7A76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1.4</a:t>
                      </a:r>
                    </a:p>
                  </a:txBody>
                  <a:tcPr marL="54864" marR="54864" marT="27432" marB="18288" anchor="ctr">
                    <a:solidFill>
                      <a:srgbClr val="E7F3F2"/>
                    </a:solidFill>
                    <a:lnL w="6350">
                      <a:solidFill>
                        <a:srgbClr val="D6DCE2"/>
                      </a:solidFill>
                    </a:lnL>
                    <a:lnR w="6350">
                      <a:solidFill>
                        <a:srgbClr val="D6DCE2"/>
                      </a:solidFill>
                    </a:lnR>
                    <a:lnT w="6350">
                      <a:solidFill>
                        <a:srgbClr val="D6DCE2"/>
                      </a:solidFill>
                    </a:lnT>
                    <a:lnB w="6350">
                      <a:solidFill>
                        <a:srgbClr val="D6DCE2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  <a:lnSpc>
                          <a:spcPct val="100000"/>
                        </a:lnSpc>
                      </a:pPr>
                      <a:r>
                        <a:rPr sz="1200" b="1">
                          <a:solidFill>
                            <a:srgbClr val="0E7A76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1362</a:t>
                      </a:r>
                    </a:p>
                  </a:txBody>
                  <a:tcPr marL="54864" marR="54864" marT="27432" marB="18288" anchor="ctr">
                    <a:solidFill>
                      <a:srgbClr val="E7F3F2"/>
                    </a:solidFill>
                    <a:lnL w="6350">
                      <a:solidFill>
                        <a:srgbClr val="D6DCE2"/>
                      </a:solidFill>
                    </a:lnL>
                    <a:lnR w="6350">
                      <a:solidFill>
                        <a:srgbClr val="D6DCE2"/>
                      </a:solidFill>
                    </a:lnR>
                    <a:lnT w="6350">
                      <a:solidFill>
                        <a:srgbClr val="D6DCE2"/>
                      </a:solidFill>
                    </a:lnT>
                    <a:lnB w="6350">
                      <a:solidFill>
                        <a:srgbClr val="D6DCE2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  <a:lnSpc>
                          <a:spcPct val="100000"/>
                        </a:lnSpc>
                      </a:pPr>
                      <a:r>
                        <a:rPr sz="1200" b="1">
                          <a:solidFill>
                            <a:srgbClr val="0E7A76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10.6</a:t>
                      </a:r>
                    </a:p>
                  </a:txBody>
                  <a:tcPr marL="54864" marR="54864" marT="27432" marB="18288" anchor="ctr">
                    <a:solidFill>
                      <a:srgbClr val="E7F3F2"/>
                    </a:solidFill>
                    <a:lnL w="6350">
                      <a:solidFill>
                        <a:srgbClr val="D6DCE2"/>
                      </a:solidFill>
                    </a:lnL>
                    <a:lnR w="6350">
                      <a:solidFill>
                        <a:srgbClr val="D6DCE2"/>
                      </a:solidFill>
                    </a:lnR>
                    <a:lnT w="6350">
                      <a:solidFill>
                        <a:srgbClr val="D6DCE2"/>
                      </a:solidFill>
                    </a:lnT>
                    <a:lnB w="6350">
                      <a:solidFill>
                        <a:srgbClr val="D6DCE2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  <a:lnSpc>
                          <a:spcPct val="100000"/>
                        </a:lnSpc>
                      </a:pPr>
                      <a:r>
                        <a:rPr sz="1200" b="1">
                          <a:solidFill>
                            <a:srgbClr val="0E7A76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19.0% 在总线内存池</a:t>
                      </a:r>
                    </a:p>
                  </a:txBody>
                  <a:tcPr marL="54864" marR="54864" marT="27432" marB="18288" anchor="ctr">
                    <a:solidFill>
                      <a:srgbClr val="E7F3F2"/>
                    </a:solidFill>
                    <a:lnL w="6350">
                      <a:solidFill>
                        <a:srgbClr val="D6DCE2"/>
                      </a:solidFill>
                    </a:lnL>
                    <a:lnR w="6350">
                      <a:solidFill>
                        <a:srgbClr val="D6DCE2"/>
                      </a:solidFill>
                    </a:lnR>
                    <a:lnT w="6350">
                      <a:solidFill>
                        <a:srgbClr val="D6DCE2"/>
                      </a:solidFill>
                    </a:lnT>
                    <a:lnB w="6350">
                      <a:solidFill>
                        <a:srgbClr val="D6DCE2"/>
                      </a:solidFill>
                    </a:lnB>
                  </a:tcPr>
                </a:tc>
              </a:tr>
            </a:tbl>
          </a:graphicData>
        </a:graphic>
      </p:graphicFrame>
      <p:sp>
        <p:nvSpPr>
          <p:cNvPr id="11" name="Rounded Rectangle 10"/>
          <p:cNvSpPr/>
          <p:nvPr/>
        </p:nvSpPr>
        <p:spPr>
          <a:xfrm>
            <a:off x="384048" y="4590288"/>
            <a:ext cx="11430000" cy="1682496"/>
          </a:xfrm>
          <a:prstGeom prst="roundRect">
            <a:avLst/>
          </a:prstGeom>
          <a:solidFill>
            <a:srgbClr val="F8F1E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30352" y="4645152"/>
            <a:ext cx="11137392" cy="1572768"/>
          </a:xfrm>
          <a:prstGeom prst="rect">
            <a:avLst/>
          </a:prstGeom>
          <a:noFill/>
        </p:spPr>
        <p:txBody>
          <a:bodyPr wrap="square" lIns="0" rIns="0" tIns="0" bIns="0" anchor="ctr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400" b="0">
                <a:solidFill>
                  <a:srgbClr val="7A541C"/>
                </a:solidFill>
                <a:latin typeface="Microsoft YaHei"/>
                <a:ea typeface="Microsoft YaHei"/>
                <a:cs typeface="Microsoft YaHei"/>
              </a:rPr>
              <a:t>10 毫秒在 4K – 8K 都是 201，全在 HBM。短输入 Attention 1.27 毫秒，MoE 8.73 毫秒。1M 降到 173，0.25×10^6 是 197，仍然全在 HBM。</a:t>
            </a:r>
          </a:p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400" b="0">
                <a:solidFill>
                  <a:srgbClr val="7A541C"/>
                </a:solidFill>
                <a:latin typeface="Microsoft YaHei"/>
                <a:ea typeface="Microsoft YaHei"/>
                <a:cs typeface="Microsoft YaHei"/>
              </a:rPr>
              <a:t>30 毫秒短输入为 4352。256K 为 3328，仍全在 HBM；Attention 15.3 毫秒，MoE 14.4 毫秒。512K 降到 2390，1M 为 1362，0.25×10^6 为 3328。</a:t>
            </a:r>
          </a:p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400" b="0">
                <a:solidFill>
                  <a:srgbClr val="7A541C"/>
                </a:solidFill>
                <a:latin typeface="Microsoft YaHei"/>
                <a:ea typeface="Microsoft YaHei"/>
                <a:cs typeface="Microsoft YaHei"/>
              </a:rPr>
              <a:t>Prefill 的 10 秒全局批在第 3 页：4K 为 6176，1M 为 6。4K 进、512 出、90% 命中时，P:D 在 10 毫秒约 1:15.7，在 30 毫秒约 1:2.2。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145A9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84048" y="146304"/>
            <a:ext cx="9692640" cy="256032"/>
          </a:xfrm>
          <a:prstGeom prst="rect">
            <a:avLst/>
          </a:prstGeom>
          <a:noFill/>
        </p:spPr>
        <p:txBody>
          <a:bodyPr wrap="square" lIns="0" rIns="0" tIns="0" bIns="0" anchor="ctr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200" b="1">
                <a:solidFill>
                  <a:srgbClr val="145A96"/>
                </a:solidFill>
                <a:latin typeface="Microsoft YaHei"/>
                <a:ea typeface="Microsoft YaHei"/>
                <a:cs typeface="Microsoft YaHei"/>
              </a:rPr>
              <a:t>Decode    ·    只统计进了 DDR 池的长度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84048" y="384048"/>
            <a:ext cx="11430000" cy="384048"/>
          </a:xfrm>
          <a:prstGeom prst="rect">
            <a:avLst/>
          </a:prstGeom>
          <a:noFill/>
        </p:spPr>
        <p:txBody>
          <a:bodyPr wrap="square" lIns="0" rIns="0" tIns="0" bIns="0" anchor="ctr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600" b="1">
                <a:solidFill>
                  <a:srgbClr val="0E2A47"/>
                </a:solidFill>
                <a:latin typeface="Microsoft YaHei"/>
                <a:ea typeface="Microsoft YaHei"/>
                <a:cs typeface="Microsoft YaHei"/>
              </a:rPr>
              <a:t>512K 每卡换入 503.9 MB，1M 换入 1.37 GB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424160" y="164592"/>
            <a:ext cx="1371600" cy="237744"/>
          </a:xfrm>
          <a:prstGeom prst="rect">
            <a:avLst/>
          </a:prstGeom>
          <a:noFill/>
        </p:spPr>
        <p:txBody>
          <a:bodyPr wrap="square" lIns="0" rIns="0" tIns="0" bIns="0" anchor="ctr"/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1200" b="0">
                <a:solidFill>
                  <a:srgbClr val="5A636E"/>
                </a:solidFill>
                <a:latin typeface="Microsoft YaHei"/>
                <a:ea typeface="Microsoft YaHei"/>
                <a:cs typeface="Microsoft YaHei"/>
              </a:rPr>
              <a:t>7  /  11</a:t>
            </a:r>
          </a:p>
        </p:txBody>
      </p:sp>
      <p:sp>
        <p:nvSpPr>
          <p:cNvPr id="6" name="Rectangle 5"/>
          <p:cNvSpPr/>
          <p:nvPr/>
        </p:nvSpPr>
        <p:spPr>
          <a:xfrm>
            <a:off x="384048" y="6565392"/>
            <a:ext cx="11430000" cy="9144"/>
          </a:xfrm>
          <a:prstGeom prst="rect">
            <a:avLst/>
          </a:prstGeom>
          <a:solidFill>
            <a:srgbClr val="D6DCE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384048" y="6583680"/>
            <a:ext cx="11430000" cy="219456"/>
          </a:xfrm>
          <a:prstGeom prst="rect">
            <a:avLst/>
          </a:prstGeom>
          <a:noFill/>
        </p:spPr>
        <p:txBody>
          <a:bodyPr wrap="square" lIns="0" rIns="0" tIns="0" bIns="0" anchor="ctr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5A636E"/>
                </a:solidFill>
                <a:latin typeface="Microsoft YaHei"/>
                <a:ea typeface="Microsoft YaHei"/>
                <a:cs typeface="Microsoft YaHei"/>
              </a:rPr>
              <a:t>10T 为外推    ·    96 GB / 486 T、一份 128 卡副本    ·    访存与通信 80%    ·    计算 70%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384048" y="841248"/>
            <a:ext cx="11430000" cy="420624"/>
          </a:xfrm>
          <a:prstGeom prst="roundRect">
            <a:avLst/>
          </a:prstGeom>
          <a:solidFill>
            <a:srgbClr val="E7F3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530352" y="841248"/>
            <a:ext cx="11137392" cy="420624"/>
          </a:xfrm>
          <a:prstGeom prst="rect">
            <a:avLst/>
          </a:prstGeom>
          <a:noFill/>
        </p:spPr>
        <p:txBody>
          <a:bodyPr wrap="square" lIns="0" rIns="0" tIns="0" bIns="0" anchor="ctr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400" b="1">
                <a:solidFill>
                  <a:srgbClr val="0E7A76"/>
                </a:solidFill>
                <a:latin typeface="Microsoft YaHei"/>
                <a:ea typeface="Microsoft YaHei"/>
                <a:cs typeface="Microsoft YaHei"/>
              </a:rPr>
              <a:t>这两页只列 KV 换进 DDR 池的输入。一步 = SWAP + max(HBM, 计算) + AR + 完整 MoE。</a:t>
            </a:r>
          </a:p>
        </p:txBody>
      </p:sp>
      <p:graphicFrame>
        <p:nvGraphicFramePr>
          <p:cNvPr id="10" name="Table 9"/>
          <p:cNvGraphicFramePr>
            <a:graphicFrameLocks noGrp="1"/>
          </p:cNvGraphicFramePr>
          <p:nvPr/>
        </p:nvGraphicFramePr>
        <p:xfrm>
          <a:off x="384048" y="1353312"/>
          <a:ext cx="11430000" cy="3200400"/>
        </p:xfrm>
        <a:graphic>
          <a:graphicData uri="http://schemas.openxmlformats.org/drawingml/2006/table">
            <a:tbl>
              <a:tblPr firstRow="1"/>
              <a:tblGrid>
                <a:gridCol w="2011680"/>
                <a:gridCol w="4617720"/>
                <a:gridCol w="4800600"/>
              </a:tblGrid>
              <a:tr h="329184">
                <a:tc>
                  <a:txBody>
                    <a:bodyPr wrap="square"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  <a:lnSpc>
                          <a:spcPct val="100000"/>
                        </a:lnSpc>
                      </a:pPr>
                      <a:r>
                        <a:rPr sz="1300" b="1">
                          <a:solidFill>
                            <a:srgbClr val="FFFFFF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步骤</a:t>
                      </a:r>
                    </a:p>
                  </a:txBody>
                  <a:tcPr marL="54864" marR="54864" marT="27432" marB="18288" anchor="ctr">
                    <a:solidFill>
                      <a:srgbClr val="0E2A47"/>
                    </a:solidFill>
                    <a:lnL w="6350">
                      <a:solidFill>
                        <a:srgbClr val="D6DCE2"/>
                      </a:solidFill>
                    </a:lnL>
                    <a:lnR w="6350">
                      <a:solidFill>
                        <a:srgbClr val="D6DCE2"/>
                      </a:solidFill>
                    </a:lnR>
                    <a:lnT w="6350">
                      <a:solidFill>
                        <a:srgbClr val="D6DCE2"/>
                      </a:solidFill>
                    </a:lnT>
                    <a:lnB w="6350">
                      <a:solidFill>
                        <a:srgbClr val="D6DCE2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  <a:lnSpc>
                          <a:spcPct val="100000"/>
                        </a:lnSpc>
                      </a:pPr>
                      <a:r>
                        <a:rPr sz="1300" b="1">
                          <a:solidFill>
                            <a:srgbClr val="FFFFFF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512K · 批 2390 · 溢出 7.7%</a:t>
                      </a:r>
                    </a:p>
                  </a:txBody>
                  <a:tcPr marL="54864" marR="54864" marT="27432" marB="18288" anchor="ctr">
                    <a:solidFill>
                      <a:srgbClr val="0E2A47"/>
                    </a:solidFill>
                    <a:lnL w="6350">
                      <a:solidFill>
                        <a:srgbClr val="D6DCE2"/>
                      </a:solidFill>
                    </a:lnL>
                    <a:lnR w="6350">
                      <a:solidFill>
                        <a:srgbClr val="D6DCE2"/>
                      </a:solidFill>
                    </a:lnR>
                    <a:lnT w="6350">
                      <a:solidFill>
                        <a:srgbClr val="D6DCE2"/>
                      </a:solidFill>
                    </a:lnT>
                    <a:lnB w="6350">
                      <a:solidFill>
                        <a:srgbClr val="D6DCE2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  <a:lnSpc>
                          <a:spcPct val="100000"/>
                        </a:lnSpc>
                      </a:pPr>
                      <a:r>
                        <a:rPr sz="1300" b="1">
                          <a:solidFill>
                            <a:srgbClr val="FFFFFF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1M · 批 1362 · 溢出 19.0%</a:t>
                      </a:r>
                    </a:p>
                  </a:txBody>
                  <a:tcPr marL="54864" marR="54864" marT="27432" marB="18288" anchor="ctr">
                    <a:solidFill>
                      <a:srgbClr val="0E2A47"/>
                    </a:solidFill>
                    <a:lnL w="6350">
                      <a:solidFill>
                        <a:srgbClr val="D6DCE2"/>
                      </a:solidFill>
                    </a:lnL>
                    <a:lnR w="6350">
                      <a:solidFill>
                        <a:srgbClr val="D6DCE2"/>
                      </a:solidFill>
                    </a:lnR>
                    <a:lnT w="6350">
                      <a:solidFill>
                        <a:srgbClr val="D6DCE2"/>
                      </a:solidFill>
                    </a:lnT>
                    <a:lnB w="6350">
                      <a:solidFill>
                        <a:srgbClr val="D6DCE2"/>
                      </a:solidFill>
                    </a:lnB>
                  </a:tcPr>
                </a:tc>
              </a:tr>
              <a:tr h="310896">
                <a:tc>
                  <a:txBody>
                    <a:bodyPr wrap="square"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  <a:lnSpc>
                          <a:spcPct val="100000"/>
                        </a:lnSpc>
                      </a:pPr>
                      <a:r>
                        <a:rPr sz="1300" b="1">
                          <a:solidFill>
                            <a:srgbClr val="0E2A47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读专家权重</a:t>
                      </a:r>
                    </a:p>
                  </a:txBody>
                  <a:tcPr marL="54864" marR="54864" marT="27432" marB="18288" anchor="ctr">
                    <a:solidFill>
                      <a:srgbClr val="F4F7FA"/>
                    </a:solidFill>
                    <a:lnL w="6350">
                      <a:solidFill>
                        <a:srgbClr val="D6DCE2"/>
                      </a:solidFill>
                    </a:lnL>
                    <a:lnR w="6350">
                      <a:solidFill>
                        <a:srgbClr val="D6DCE2"/>
                      </a:solidFill>
                    </a:lnR>
                    <a:lnT w="6350">
                      <a:solidFill>
                        <a:srgbClr val="D6DCE2"/>
                      </a:solidFill>
                    </a:lnT>
                    <a:lnB w="6350">
                      <a:solidFill>
                        <a:srgbClr val="D6DCE2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  <a:lnSpc>
                          <a:spcPct val="100000"/>
                        </a:lnSpc>
                      </a:pPr>
                      <a:r>
                        <a:rPr sz="1300" b="0">
                          <a:solidFill>
                            <a:srgbClr val="1C242E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42.89 GB · 13.40 毫秒</a:t>
                      </a:r>
                    </a:p>
                  </a:txBody>
                  <a:tcPr marL="54864" marR="54864" marT="27432" marB="18288" anchor="ctr">
                    <a:solidFill>
                      <a:srgbClr val="FFFFFF"/>
                    </a:solidFill>
                    <a:lnL w="6350">
                      <a:solidFill>
                        <a:srgbClr val="D6DCE2"/>
                      </a:solidFill>
                    </a:lnL>
                    <a:lnR w="6350">
                      <a:solidFill>
                        <a:srgbClr val="D6DCE2"/>
                      </a:solidFill>
                    </a:lnR>
                    <a:lnT w="6350">
                      <a:solidFill>
                        <a:srgbClr val="D6DCE2"/>
                      </a:solidFill>
                    </a:lnT>
                    <a:lnB w="6350">
                      <a:solidFill>
                        <a:srgbClr val="D6DCE2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  <a:lnSpc>
                          <a:spcPct val="100000"/>
                        </a:lnSpc>
                      </a:pPr>
                      <a:r>
                        <a:rPr sz="1300" b="0">
                          <a:solidFill>
                            <a:srgbClr val="1C242E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42.89 GB · 13.40 毫秒</a:t>
                      </a:r>
                    </a:p>
                  </a:txBody>
                  <a:tcPr marL="54864" marR="54864" marT="27432" marB="18288" anchor="ctr">
                    <a:solidFill>
                      <a:srgbClr val="FFFFFF"/>
                    </a:solidFill>
                    <a:lnL w="6350">
                      <a:solidFill>
                        <a:srgbClr val="D6DCE2"/>
                      </a:solidFill>
                    </a:lnL>
                    <a:lnR w="6350">
                      <a:solidFill>
                        <a:srgbClr val="D6DCE2"/>
                      </a:solidFill>
                    </a:lnR>
                    <a:lnT w="6350">
                      <a:solidFill>
                        <a:srgbClr val="D6DCE2"/>
                      </a:solidFill>
                    </a:lnT>
                    <a:lnB w="6350">
                      <a:solidFill>
                        <a:srgbClr val="D6DCE2"/>
                      </a:solidFill>
                    </a:lnB>
                  </a:tcPr>
                </a:tc>
              </a:tr>
              <a:tr h="310896">
                <a:tc>
                  <a:txBody>
                    <a:bodyPr wrap="square"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  <a:lnSpc>
                          <a:spcPct val="100000"/>
                        </a:lnSpc>
                      </a:pPr>
                      <a:r>
                        <a:rPr sz="1300" b="1">
                          <a:solidFill>
                            <a:srgbClr val="0E2A47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机内 allreduce</a:t>
                      </a:r>
                    </a:p>
                  </a:txBody>
                  <a:tcPr marL="54864" marR="54864" marT="27432" marB="18288" anchor="ctr">
                    <a:solidFill>
                      <a:srgbClr val="F4F7FA"/>
                    </a:solidFill>
                    <a:lnL w="6350">
                      <a:solidFill>
                        <a:srgbClr val="D6DCE2"/>
                      </a:solidFill>
                    </a:lnL>
                    <a:lnR w="6350">
                      <a:solidFill>
                        <a:srgbClr val="D6DCE2"/>
                      </a:solidFill>
                    </a:lnR>
                    <a:lnT w="6350">
                      <a:solidFill>
                        <a:srgbClr val="D6DCE2"/>
                      </a:solidFill>
                    </a:lnT>
                    <a:lnB w="6350">
                      <a:solidFill>
                        <a:srgbClr val="D6DCE2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  <a:lnSpc>
                          <a:spcPct val="100000"/>
                        </a:lnSpc>
                      </a:pPr>
                      <a:r>
                        <a:rPr sz="1300" b="0">
                          <a:solidFill>
                            <a:srgbClr val="1C242E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229.6 MB · 5.74 毫秒</a:t>
                      </a:r>
                    </a:p>
                  </a:txBody>
                  <a:tcPr marL="54864" marR="54864" marT="27432" marB="18288" anchor="ctr">
                    <a:solidFill>
                      <a:srgbClr val="FFFFFF"/>
                    </a:solidFill>
                    <a:lnL w="6350">
                      <a:solidFill>
                        <a:srgbClr val="D6DCE2"/>
                      </a:solidFill>
                    </a:lnL>
                    <a:lnR w="6350">
                      <a:solidFill>
                        <a:srgbClr val="D6DCE2"/>
                      </a:solidFill>
                    </a:lnR>
                    <a:lnT w="6350">
                      <a:solidFill>
                        <a:srgbClr val="D6DCE2"/>
                      </a:solidFill>
                    </a:lnT>
                    <a:lnB w="6350">
                      <a:solidFill>
                        <a:srgbClr val="D6DCE2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  <a:lnSpc>
                          <a:spcPct val="100000"/>
                        </a:lnSpc>
                      </a:pPr>
                      <a:r>
                        <a:rPr sz="1300" b="0">
                          <a:solidFill>
                            <a:srgbClr val="1C242E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131.6 MB · 3.29 毫秒</a:t>
                      </a:r>
                    </a:p>
                  </a:txBody>
                  <a:tcPr marL="54864" marR="54864" marT="27432" marB="18288" anchor="ctr">
                    <a:solidFill>
                      <a:srgbClr val="FFFFFF"/>
                    </a:solidFill>
                    <a:lnL w="6350">
                      <a:solidFill>
                        <a:srgbClr val="D6DCE2"/>
                      </a:solidFill>
                    </a:lnL>
                    <a:lnR w="6350">
                      <a:solidFill>
                        <a:srgbClr val="D6DCE2"/>
                      </a:solidFill>
                    </a:lnR>
                    <a:lnT w="6350">
                      <a:solidFill>
                        <a:srgbClr val="D6DCE2"/>
                      </a:solidFill>
                    </a:lnT>
                    <a:lnB w="6350">
                      <a:solidFill>
                        <a:srgbClr val="D6DCE2"/>
                      </a:solidFill>
                    </a:lnB>
                  </a:tcPr>
                </a:tc>
              </a:tr>
              <a:tr h="310896">
                <a:tc>
                  <a:txBody>
                    <a:bodyPr wrap="square"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  <a:lnSpc>
                          <a:spcPct val="100000"/>
                        </a:lnSpc>
                      </a:pPr>
                      <a:r>
                        <a:rPr sz="1300" b="1">
                          <a:solidFill>
                            <a:srgbClr val="0E2A47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专家 GEMM</a:t>
                      </a:r>
                    </a:p>
                  </a:txBody>
                  <a:tcPr marL="54864" marR="54864" marT="27432" marB="18288" anchor="ctr">
                    <a:solidFill>
                      <a:srgbClr val="F4F7FA"/>
                    </a:solidFill>
                    <a:lnL w="6350">
                      <a:solidFill>
                        <a:srgbClr val="D6DCE2"/>
                      </a:solidFill>
                    </a:lnL>
                    <a:lnR w="6350">
                      <a:solidFill>
                        <a:srgbClr val="D6DCE2"/>
                      </a:solidFill>
                    </a:lnR>
                    <a:lnT w="6350">
                      <a:solidFill>
                        <a:srgbClr val="D6DCE2"/>
                      </a:solidFill>
                    </a:lnT>
                    <a:lnB w="6350">
                      <a:solidFill>
                        <a:srgbClr val="D6DCE2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  <a:lnSpc>
                          <a:spcPct val="100000"/>
                        </a:lnSpc>
                      </a:pPr>
                      <a:r>
                        <a:rPr sz="1300" b="0">
                          <a:solidFill>
                            <a:srgbClr val="1C242E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效率 43% · 8.07 毫秒</a:t>
                      </a:r>
                    </a:p>
                  </a:txBody>
                  <a:tcPr marL="54864" marR="54864" marT="27432" marB="18288" anchor="ctr">
                    <a:solidFill>
                      <a:srgbClr val="FFFFFF"/>
                    </a:solidFill>
                    <a:lnL w="6350">
                      <a:solidFill>
                        <a:srgbClr val="D6DCE2"/>
                      </a:solidFill>
                    </a:lnL>
                    <a:lnR w="6350">
                      <a:solidFill>
                        <a:srgbClr val="D6DCE2"/>
                      </a:solidFill>
                    </a:lnR>
                    <a:lnT w="6350">
                      <a:solidFill>
                        <a:srgbClr val="D6DCE2"/>
                      </a:solidFill>
                    </a:lnT>
                    <a:lnB w="6350">
                      <a:solidFill>
                        <a:srgbClr val="D6DCE2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  <a:lnSpc>
                          <a:spcPct val="100000"/>
                        </a:lnSpc>
                      </a:pPr>
                      <a:r>
                        <a:rPr sz="1300" b="0">
                          <a:solidFill>
                            <a:srgbClr val="1C242E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效率 26% · 7.69 毫秒</a:t>
                      </a:r>
                    </a:p>
                  </a:txBody>
                  <a:tcPr marL="54864" marR="54864" marT="27432" marB="18288" anchor="ctr">
                    <a:solidFill>
                      <a:srgbClr val="FFFFFF"/>
                    </a:solidFill>
                    <a:lnL w="6350">
                      <a:solidFill>
                        <a:srgbClr val="D6DCE2"/>
                      </a:solidFill>
                    </a:lnL>
                    <a:lnR w="6350">
                      <a:solidFill>
                        <a:srgbClr val="D6DCE2"/>
                      </a:solidFill>
                    </a:lnR>
                    <a:lnT w="6350">
                      <a:solidFill>
                        <a:srgbClr val="D6DCE2"/>
                      </a:solidFill>
                    </a:lnT>
                    <a:lnB w="6350">
                      <a:solidFill>
                        <a:srgbClr val="D6DCE2"/>
                      </a:solidFill>
                    </a:lnB>
                  </a:tcPr>
                </a:tc>
              </a:tr>
              <a:tr h="310896">
                <a:tc>
                  <a:txBody>
                    <a:bodyPr wrap="square"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  <a:lnSpc>
                          <a:spcPct val="100000"/>
                        </a:lnSpc>
                      </a:pPr>
                      <a:r>
                        <a:rPr sz="1300" b="1">
                          <a:solidFill>
                            <a:srgbClr val="0E2A47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EP 双向</a:t>
                      </a:r>
                    </a:p>
                  </a:txBody>
                  <a:tcPr marL="54864" marR="54864" marT="27432" marB="18288" anchor="ctr">
                    <a:solidFill>
                      <a:srgbClr val="F4F7FA"/>
                    </a:solidFill>
                    <a:lnL w="6350">
                      <a:solidFill>
                        <a:srgbClr val="D6DCE2"/>
                      </a:solidFill>
                    </a:lnL>
                    <a:lnR w="6350">
                      <a:solidFill>
                        <a:srgbClr val="D6DCE2"/>
                      </a:solidFill>
                    </a:lnR>
                    <a:lnT w="6350">
                      <a:solidFill>
                        <a:srgbClr val="D6DCE2"/>
                      </a:solidFill>
                    </a:lnT>
                    <a:lnB w="6350">
                      <a:solidFill>
                        <a:srgbClr val="D6DCE2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  <a:lnSpc>
                          <a:spcPct val="100000"/>
                        </a:lnSpc>
                      </a:pPr>
                      <a:r>
                        <a:rPr sz="1300" b="0">
                          <a:solidFill>
                            <a:srgbClr val="1C242E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232.8 MB · 0.73 毫秒</a:t>
                      </a:r>
                    </a:p>
                  </a:txBody>
                  <a:tcPr marL="54864" marR="54864" marT="27432" marB="18288" anchor="ctr">
                    <a:solidFill>
                      <a:srgbClr val="FFFFFF"/>
                    </a:solidFill>
                    <a:lnL w="6350">
                      <a:solidFill>
                        <a:srgbClr val="D6DCE2"/>
                      </a:solidFill>
                    </a:lnL>
                    <a:lnR w="6350">
                      <a:solidFill>
                        <a:srgbClr val="D6DCE2"/>
                      </a:solidFill>
                    </a:lnR>
                    <a:lnT w="6350">
                      <a:solidFill>
                        <a:srgbClr val="D6DCE2"/>
                      </a:solidFill>
                    </a:lnT>
                    <a:lnB w="6350">
                      <a:solidFill>
                        <a:srgbClr val="D6DCE2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  <a:lnSpc>
                          <a:spcPct val="100000"/>
                        </a:lnSpc>
                      </a:pPr>
                      <a:r>
                        <a:rPr sz="1300" b="0">
                          <a:solidFill>
                            <a:srgbClr val="1C242E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139.5 MB · 0.44 毫秒</a:t>
                      </a:r>
                    </a:p>
                  </a:txBody>
                  <a:tcPr marL="54864" marR="54864" marT="27432" marB="18288" anchor="ctr">
                    <a:solidFill>
                      <a:srgbClr val="FFFFFF"/>
                    </a:solidFill>
                    <a:lnL w="6350">
                      <a:solidFill>
                        <a:srgbClr val="D6DCE2"/>
                      </a:solidFill>
                    </a:lnL>
                    <a:lnR w="6350">
                      <a:solidFill>
                        <a:srgbClr val="D6DCE2"/>
                      </a:solidFill>
                    </a:lnR>
                    <a:lnT w="6350">
                      <a:solidFill>
                        <a:srgbClr val="D6DCE2"/>
                      </a:solidFill>
                    </a:lnT>
                    <a:lnB w="6350">
                      <a:solidFill>
                        <a:srgbClr val="D6DCE2"/>
                      </a:solidFill>
                    </a:lnB>
                  </a:tcPr>
                </a:tc>
              </a:tr>
              <a:tr h="292608">
                <a:tc>
                  <a:txBody>
                    <a:bodyPr wrap="square"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  <a:lnSpc>
                          <a:spcPct val="100000"/>
                        </a:lnSpc>
                      </a:pPr>
                      <a:r>
                        <a:rPr sz="1300" b="1">
                          <a:solidFill>
                            <a:srgbClr val="0E2A47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注意力计算</a:t>
                      </a:r>
                    </a:p>
                  </a:txBody>
                  <a:tcPr marL="54864" marR="54864" marT="27432" marB="18288" anchor="ctr">
                    <a:solidFill>
                      <a:srgbClr val="F4F7FA"/>
                    </a:solidFill>
                    <a:lnL w="6350">
                      <a:solidFill>
                        <a:srgbClr val="D6DCE2"/>
                      </a:solidFill>
                    </a:lnL>
                    <a:lnR w="6350">
                      <a:solidFill>
                        <a:srgbClr val="D6DCE2"/>
                      </a:solidFill>
                    </a:lnR>
                    <a:lnT w="6350">
                      <a:solidFill>
                        <a:srgbClr val="D6DCE2"/>
                      </a:solidFill>
                    </a:lnT>
                    <a:lnB w="6350">
                      <a:solidFill>
                        <a:srgbClr val="D6DCE2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  <a:lnSpc>
                          <a:spcPct val="100000"/>
                        </a:lnSpc>
                      </a:pPr>
                      <a:r>
                        <a:rPr sz="1300" b="0">
                          <a:solidFill>
                            <a:srgbClr val="1C242E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8.55 毫秒</a:t>
                      </a:r>
                    </a:p>
                  </a:txBody>
                  <a:tcPr marL="54864" marR="54864" marT="27432" marB="18288" anchor="ctr">
                    <a:solidFill>
                      <a:srgbClr val="FFFFFF"/>
                    </a:solidFill>
                    <a:lnL w="6350">
                      <a:solidFill>
                        <a:srgbClr val="D6DCE2"/>
                      </a:solidFill>
                    </a:lnL>
                    <a:lnR w="6350">
                      <a:solidFill>
                        <a:srgbClr val="D6DCE2"/>
                      </a:solidFill>
                    </a:lnR>
                    <a:lnT w="6350">
                      <a:solidFill>
                        <a:srgbClr val="D6DCE2"/>
                      </a:solidFill>
                    </a:lnT>
                    <a:lnB w="6350">
                      <a:solidFill>
                        <a:srgbClr val="D6DCE2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  <a:lnSpc>
                          <a:spcPct val="100000"/>
                        </a:lnSpc>
                      </a:pPr>
                      <a:r>
                        <a:rPr sz="1300" b="0">
                          <a:solidFill>
                            <a:srgbClr val="1C242E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8.58 毫秒</a:t>
                      </a:r>
                    </a:p>
                  </a:txBody>
                  <a:tcPr marL="54864" marR="54864" marT="27432" marB="18288" anchor="ctr">
                    <a:solidFill>
                      <a:srgbClr val="FFFFFF"/>
                    </a:solidFill>
                    <a:lnL w="6350">
                      <a:solidFill>
                        <a:srgbClr val="D6DCE2"/>
                      </a:solidFill>
                    </a:lnL>
                    <a:lnR w="6350">
                      <a:solidFill>
                        <a:srgbClr val="D6DCE2"/>
                      </a:solidFill>
                    </a:lnR>
                    <a:lnT w="6350">
                      <a:solidFill>
                        <a:srgbClr val="D6DCE2"/>
                      </a:solidFill>
                    </a:lnT>
                    <a:lnB w="6350">
                      <a:solidFill>
                        <a:srgbClr val="D6DCE2"/>
                      </a:solidFill>
                    </a:lnB>
                  </a:tcPr>
                </a:tc>
              </a:tr>
              <a:tr h="310896">
                <a:tc>
                  <a:txBody>
                    <a:bodyPr wrap="square"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  <a:lnSpc>
                          <a:spcPct val="100000"/>
                        </a:lnSpc>
                      </a:pPr>
                      <a:r>
                        <a:rPr sz="1300" b="1">
                          <a:solidFill>
                            <a:srgbClr val="0E2A47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注意力权重</a:t>
                      </a:r>
                    </a:p>
                  </a:txBody>
                  <a:tcPr marL="54864" marR="54864" marT="27432" marB="18288" anchor="ctr">
                    <a:solidFill>
                      <a:srgbClr val="F4F7FA"/>
                    </a:solidFill>
                    <a:lnL w="6350">
                      <a:solidFill>
                        <a:srgbClr val="D6DCE2"/>
                      </a:solidFill>
                    </a:lnL>
                    <a:lnR w="6350">
                      <a:solidFill>
                        <a:srgbClr val="D6DCE2"/>
                      </a:solidFill>
                    </a:lnR>
                    <a:lnT w="6350">
                      <a:solidFill>
                        <a:srgbClr val="D6DCE2"/>
                      </a:solidFill>
                    </a:lnT>
                    <a:lnB w="6350">
                      <a:solidFill>
                        <a:srgbClr val="D6DCE2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  <a:lnSpc>
                          <a:spcPct val="100000"/>
                        </a:lnSpc>
                      </a:pPr>
                      <a:r>
                        <a:rPr sz="1300" b="0">
                          <a:solidFill>
                            <a:srgbClr val="1C242E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2.42 GB · 0.76 毫秒</a:t>
                      </a:r>
                    </a:p>
                  </a:txBody>
                  <a:tcPr marL="54864" marR="54864" marT="27432" marB="18288" anchor="ctr">
                    <a:solidFill>
                      <a:srgbClr val="FFFFFF"/>
                    </a:solidFill>
                    <a:lnL w="6350">
                      <a:solidFill>
                        <a:srgbClr val="D6DCE2"/>
                      </a:solidFill>
                    </a:lnL>
                    <a:lnR w="6350">
                      <a:solidFill>
                        <a:srgbClr val="D6DCE2"/>
                      </a:solidFill>
                    </a:lnR>
                    <a:lnT w="6350">
                      <a:solidFill>
                        <a:srgbClr val="D6DCE2"/>
                      </a:solidFill>
                    </a:lnT>
                    <a:lnB w="6350">
                      <a:solidFill>
                        <a:srgbClr val="D6DCE2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  <a:lnSpc>
                          <a:spcPct val="100000"/>
                        </a:lnSpc>
                      </a:pPr>
                      <a:r>
                        <a:rPr sz="1300" b="0">
                          <a:solidFill>
                            <a:srgbClr val="1C242E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2.42 GB · 0.76 毫秒</a:t>
                      </a:r>
                    </a:p>
                  </a:txBody>
                  <a:tcPr marL="54864" marR="54864" marT="27432" marB="18288" anchor="ctr">
                    <a:solidFill>
                      <a:srgbClr val="FFFFFF"/>
                    </a:solidFill>
                    <a:lnL w="6350">
                      <a:solidFill>
                        <a:srgbClr val="D6DCE2"/>
                      </a:solidFill>
                    </a:lnL>
                    <a:lnR w="6350">
                      <a:solidFill>
                        <a:srgbClr val="D6DCE2"/>
                      </a:solidFill>
                    </a:lnR>
                    <a:lnT w="6350">
                      <a:solidFill>
                        <a:srgbClr val="D6DCE2"/>
                      </a:solidFill>
                    </a:lnT>
                    <a:lnB w="6350">
                      <a:solidFill>
                        <a:srgbClr val="D6DCE2"/>
                      </a:solidFill>
                    </a:lnB>
                  </a:tcPr>
                </a:tc>
              </a:tr>
              <a:tr h="310896">
                <a:tc>
                  <a:txBody>
                    <a:bodyPr wrap="square"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  <a:lnSpc>
                          <a:spcPct val="100000"/>
                        </a:lnSpc>
                      </a:pPr>
                      <a:r>
                        <a:rPr sz="1300" b="1">
                          <a:solidFill>
                            <a:srgbClr val="0E2A47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HBM KV + 权重</a:t>
                      </a:r>
                    </a:p>
                  </a:txBody>
                  <a:tcPr marL="54864" marR="54864" marT="27432" marB="18288" anchor="ctr">
                    <a:solidFill>
                      <a:srgbClr val="F4F7FA"/>
                    </a:solidFill>
                    <a:lnL w="6350">
                      <a:solidFill>
                        <a:srgbClr val="D6DCE2"/>
                      </a:solidFill>
                    </a:lnL>
                    <a:lnR w="6350">
                      <a:solidFill>
                        <a:srgbClr val="D6DCE2"/>
                      </a:solidFill>
                    </a:lnR>
                    <a:lnT w="6350">
                      <a:solidFill>
                        <a:srgbClr val="D6DCE2"/>
                      </a:solidFill>
                    </a:lnT>
                    <a:lnB w="6350">
                      <a:solidFill>
                        <a:srgbClr val="D6DCE2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  <a:lnSpc>
                          <a:spcPct val="100000"/>
                        </a:lnSpc>
                      </a:pPr>
                      <a:r>
                        <a:rPr sz="1300" b="0">
                          <a:solidFill>
                            <a:srgbClr val="1C242E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8.92 GB · 2.79 毫秒</a:t>
                      </a:r>
                    </a:p>
                  </a:txBody>
                  <a:tcPr marL="54864" marR="54864" marT="27432" marB="18288" anchor="ctr">
                    <a:solidFill>
                      <a:srgbClr val="FFFFFF"/>
                    </a:solidFill>
                    <a:lnL w="6350">
                      <a:solidFill>
                        <a:srgbClr val="D6DCE2"/>
                      </a:solidFill>
                    </a:lnL>
                    <a:lnR w="6350">
                      <a:solidFill>
                        <a:srgbClr val="D6DCE2"/>
                      </a:solidFill>
                    </a:lnR>
                    <a:lnT w="6350">
                      <a:solidFill>
                        <a:srgbClr val="D6DCE2"/>
                      </a:solidFill>
                    </a:lnT>
                    <a:lnB w="6350">
                      <a:solidFill>
                        <a:srgbClr val="D6DCE2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  <a:lnSpc>
                          <a:spcPct val="100000"/>
                        </a:lnSpc>
                      </a:pPr>
                      <a:r>
                        <a:rPr sz="1300" b="0">
                          <a:solidFill>
                            <a:srgbClr val="1C242E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9.64 GB · 3.01 毫秒</a:t>
                      </a:r>
                    </a:p>
                  </a:txBody>
                  <a:tcPr marL="54864" marR="54864" marT="27432" marB="18288" anchor="ctr">
                    <a:solidFill>
                      <a:srgbClr val="FFFFFF"/>
                    </a:solidFill>
                    <a:lnL w="6350">
                      <a:solidFill>
                        <a:srgbClr val="D6DCE2"/>
                      </a:solidFill>
                    </a:lnL>
                    <a:lnR w="6350">
                      <a:solidFill>
                        <a:srgbClr val="D6DCE2"/>
                      </a:solidFill>
                    </a:lnR>
                    <a:lnT w="6350">
                      <a:solidFill>
                        <a:srgbClr val="D6DCE2"/>
                      </a:solidFill>
                    </a:lnT>
                    <a:lnB w="6350">
                      <a:solidFill>
                        <a:srgbClr val="D6DCE2"/>
                      </a:solidFill>
                    </a:lnB>
                  </a:tcPr>
                </a:tc>
              </a:tr>
              <a:tr h="347472">
                <a:tc>
                  <a:txBody>
                    <a:bodyPr wrap="square"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  <a:lnSpc>
                          <a:spcPct val="100000"/>
                        </a:lnSpc>
                      </a:pPr>
                      <a:r>
                        <a:rPr sz="1300" b="1">
                          <a:solidFill>
                            <a:srgbClr val="0E7A76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DDR 池换入</a:t>
                      </a:r>
                    </a:p>
                  </a:txBody>
                  <a:tcPr marL="54864" marR="54864" marT="27432" marB="18288" anchor="ctr">
                    <a:solidFill>
                      <a:srgbClr val="F4F7FA"/>
                    </a:solidFill>
                    <a:lnL w="6350">
                      <a:solidFill>
                        <a:srgbClr val="D6DCE2"/>
                      </a:solidFill>
                    </a:lnL>
                    <a:lnR w="6350">
                      <a:solidFill>
                        <a:srgbClr val="D6DCE2"/>
                      </a:solidFill>
                    </a:lnR>
                    <a:lnT w="6350">
                      <a:solidFill>
                        <a:srgbClr val="D6DCE2"/>
                      </a:solidFill>
                    </a:lnT>
                    <a:lnB w="6350">
                      <a:solidFill>
                        <a:srgbClr val="D6DCE2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  <a:lnSpc>
                          <a:spcPct val="100000"/>
                        </a:lnSpc>
                      </a:pPr>
                      <a:r>
                        <a:rPr sz="1300" b="1">
                          <a:solidFill>
                            <a:srgbClr val="0E7A76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503.9 MB · 1.57 毫秒</a:t>
                      </a:r>
                    </a:p>
                  </a:txBody>
                  <a:tcPr marL="54864" marR="54864" marT="27432" marB="18288" anchor="ctr">
                    <a:solidFill>
                      <a:srgbClr val="E7F3F2"/>
                    </a:solidFill>
                    <a:lnL w="6350">
                      <a:solidFill>
                        <a:srgbClr val="D6DCE2"/>
                      </a:solidFill>
                    </a:lnL>
                    <a:lnR w="6350">
                      <a:solidFill>
                        <a:srgbClr val="D6DCE2"/>
                      </a:solidFill>
                    </a:lnR>
                    <a:lnT w="6350">
                      <a:solidFill>
                        <a:srgbClr val="D6DCE2"/>
                      </a:solidFill>
                    </a:lnT>
                    <a:lnB w="6350">
                      <a:solidFill>
                        <a:srgbClr val="D6DCE2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  <a:lnSpc>
                          <a:spcPct val="100000"/>
                        </a:lnSpc>
                      </a:pPr>
                      <a:r>
                        <a:rPr sz="1300" b="1">
                          <a:solidFill>
                            <a:srgbClr val="0E7A76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1.37 GB · 4.28 毫秒</a:t>
                      </a:r>
                    </a:p>
                  </a:txBody>
                  <a:tcPr marL="54864" marR="54864" marT="27432" marB="18288" anchor="ctr">
                    <a:solidFill>
                      <a:srgbClr val="E7F3F2"/>
                    </a:solidFill>
                    <a:lnL w="6350">
                      <a:solidFill>
                        <a:srgbClr val="D6DCE2"/>
                      </a:solidFill>
                    </a:lnL>
                    <a:lnR w="6350">
                      <a:solidFill>
                        <a:srgbClr val="D6DCE2"/>
                      </a:solidFill>
                    </a:lnR>
                    <a:lnT w="6350">
                      <a:solidFill>
                        <a:srgbClr val="D6DCE2"/>
                      </a:solidFill>
                    </a:lnT>
                    <a:lnB w="6350">
                      <a:solidFill>
                        <a:srgbClr val="D6DCE2"/>
                      </a:solidFill>
                    </a:lnB>
                  </a:tcPr>
                </a:tc>
              </a:tr>
              <a:tr h="365760">
                <a:tc>
                  <a:txBody>
                    <a:bodyPr wrap="square"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  <a:lnSpc>
                          <a:spcPct val="100000"/>
                        </a:lnSpc>
                      </a:pPr>
                      <a:r>
                        <a:rPr sz="1300" b="1">
                          <a:solidFill>
                            <a:srgbClr val="0E2A47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相加</a:t>
                      </a:r>
                    </a:p>
                  </a:txBody>
                  <a:tcPr marL="54864" marR="54864" marT="27432" marB="18288" anchor="ctr">
                    <a:solidFill>
                      <a:srgbClr val="F4F7FA"/>
                    </a:solidFill>
                    <a:lnL w="6350">
                      <a:solidFill>
                        <a:srgbClr val="D6DCE2"/>
                      </a:solidFill>
                    </a:lnL>
                    <a:lnR w="6350">
                      <a:solidFill>
                        <a:srgbClr val="D6DCE2"/>
                      </a:solidFill>
                    </a:lnR>
                    <a:lnT w="6350">
                      <a:solidFill>
                        <a:srgbClr val="D6DCE2"/>
                      </a:solidFill>
                    </a:lnT>
                    <a:lnB w="6350">
                      <a:solidFill>
                        <a:srgbClr val="D6DCE2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  <a:lnSpc>
                          <a:spcPct val="100000"/>
                        </a:lnSpc>
                      </a:pPr>
                      <a:r>
                        <a:rPr sz="1300" b="1">
                          <a:solidFill>
                            <a:srgbClr val="0E2A47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换入 + 注意力计算 + AR + 读专家 · 30.00 毫秒</a:t>
                      </a:r>
                    </a:p>
                  </a:txBody>
                  <a:tcPr marL="54864" marR="54864" marT="27432" marB="18288" anchor="ctr">
                    <a:solidFill>
                      <a:srgbClr val="F4F7FA"/>
                    </a:solidFill>
                    <a:lnL w="6350">
                      <a:solidFill>
                        <a:srgbClr val="D6DCE2"/>
                      </a:solidFill>
                    </a:lnL>
                    <a:lnR w="6350">
                      <a:solidFill>
                        <a:srgbClr val="D6DCE2"/>
                      </a:solidFill>
                    </a:lnR>
                    <a:lnT w="6350">
                      <a:solidFill>
                        <a:srgbClr val="D6DCE2"/>
                      </a:solidFill>
                    </a:lnT>
                    <a:lnB w="6350">
                      <a:solidFill>
                        <a:srgbClr val="D6DCE2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  <a:lnSpc>
                          <a:spcPct val="100000"/>
                        </a:lnSpc>
                      </a:pPr>
                      <a:r>
                        <a:rPr sz="1300" b="1">
                          <a:solidFill>
                            <a:srgbClr val="0E2A47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换入 + 注意力计算 + AR + 读专家 · 29.99 毫秒</a:t>
                      </a:r>
                    </a:p>
                  </a:txBody>
                  <a:tcPr marL="54864" marR="54864" marT="27432" marB="18288" anchor="ctr">
                    <a:solidFill>
                      <a:srgbClr val="F4F7FA"/>
                    </a:solidFill>
                    <a:lnL w="6350">
                      <a:solidFill>
                        <a:srgbClr val="D6DCE2"/>
                      </a:solidFill>
                    </a:lnL>
                    <a:lnR w="6350">
                      <a:solidFill>
                        <a:srgbClr val="D6DCE2"/>
                      </a:solidFill>
                    </a:lnR>
                    <a:lnT w="6350">
                      <a:solidFill>
                        <a:srgbClr val="D6DCE2"/>
                      </a:solidFill>
                    </a:lnT>
                    <a:lnB w="6350">
                      <a:solidFill>
                        <a:srgbClr val="D6DCE2"/>
                      </a:solidFill>
                    </a:lnB>
                  </a:tcPr>
                </a:tc>
              </a:tr>
            </a:tbl>
          </a:graphicData>
        </a:graphic>
      </p:graphicFrame>
      <p:sp>
        <p:nvSpPr>
          <p:cNvPr id="11" name="Rounded Rectangle 10"/>
          <p:cNvSpPr/>
          <p:nvPr/>
        </p:nvSpPr>
        <p:spPr>
          <a:xfrm>
            <a:off x="384048" y="4846320"/>
            <a:ext cx="11430000" cy="1426464"/>
          </a:xfrm>
          <a:prstGeom prst="roundRect">
            <a:avLst/>
          </a:prstGeom>
          <a:solidFill>
            <a:srgbClr val="F8F1E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30352" y="4901184"/>
            <a:ext cx="11137392" cy="1316736"/>
          </a:xfrm>
          <a:prstGeom prst="rect">
            <a:avLst/>
          </a:prstGeom>
          <a:noFill/>
        </p:spPr>
        <p:txBody>
          <a:bodyPr wrap="square" lIns="0" rIns="0" tIns="0" bIns="0" anchor="ctr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300" b="0">
                <a:solidFill>
                  <a:srgbClr val="7A541C"/>
                </a:solidFill>
                <a:latin typeface="Microsoft YaHei"/>
                <a:ea typeface="Microsoft YaHei"/>
                <a:cs typeface="Microsoft YaHei"/>
              </a:rPr>
              <a:t>字节按每卡。512K 溢出 7.7%，换入 503.9 MB / 320 GB/s = 1.57 毫秒，然后从 HBM 再读全部 KV；Attention 15.87 毫秒，MoE 14.13 毫秒。128 卡换入合计 64.50 GB。</a:t>
            </a:r>
          </a:p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300" b="0">
                <a:solidFill>
                  <a:srgbClr val="7A541C"/>
                </a:solidFill>
                <a:latin typeface="Microsoft YaHei"/>
                <a:ea typeface="Microsoft YaHei"/>
                <a:cs typeface="Microsoft YaHei"/>
              </a:rPr>
              <a:t>1M 换入 1.37 GB、4.28 毫秒；Attention 16.15 毫秒，MoE 13.84 毫秒，批 1362。128 卡换入合计 175.51 GB。</a:t>
            </a:r>
          </a:p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300" b="0">
                <a:solidFill>
                  <a:srgbClr val="7A541C"/>
                </a:solidFill>
                <a:latin typeface="Microsoft YaHei"/>
                <a:ea typeface="Microsoft YaHei"/>
                <a:cs typeface="Microsoft YaHei"/>
              </a:rPr>
              <a:t>10 毫秒到 0.25×10^6 仍全在 HBM，没有进池的长度，不进这两页。后面的分析沿用这个口径。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145A9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84048" y="146304"/>
            <a:ext cx="9692640" cy="256032"/>
          </a:xfrm>
          <a:prstGeom prst="rect">
            <a:avLst/>
          </a:prstGeom>
          <a:noFill/>
        </p:spPr>
        <p:txBody>
          <a:bodyPr wrap="square" lIns="0" rIns="0" tIns="0" bIns="0" anchor="ctr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200" b="1">
                <a:solidFill>
                  <a:srgbClr val="145A96"/>
                </a:solidFill>
                <a:latin typeface="Microsoft YaHei"/>
                <a:ea typeface="Microsoft YaHei"/>
                <a:cs typeface="Microsoft YaHei"/>
              </a:rPr>
              <a:t>Decode    ·    DDR 池换入的量和时间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84048" y="384048"/>
            <a:ext cx="11430000" cy="384048"/>
          </a:xfrm>
          <a:prstGeom prst="rect">
            <a:avLst/>
          </a:prstGeom>
          <a:noFill/>
        </p:spPr>
        <p:txBody>
          <a:bodyPr wrap="square" lIns="0" rIns="0" tIns="0" bIns="0" anchor="ctr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600" b="1">
                <a:solidFill>
                  <a:srgbClr val="0E2A47"/>
                </a:solidFill>
                <a:latin typeface="Microsoft YaHei"/>
                <a:ea typeface="Microsoft YaHei"/>
                <a:cs typeface="Microsoft YaHei"/>
              </a:rPr>
              <a:t>进池的长度从 512K 起，批从 2390 降到 1362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424160" y="164592"/>
            <a:ext cx="1371600" cy="237744"/>
          </a:xfrm>
          <a:prstGeom prst="rect">
            <a:avLst/>
          </a:prstGeom>
          <a:noFill/>
        </p:spPr>
        <p:txBody>
          <a:bodyPr wrap="square" lIns="0" rIns="0" tIns="0" bIns="0" anchor="ctr"/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1200" b="0">
                <a:solidFill>
                  <a:srgbClr val="5A636E"/>
                </a:solidFill>
                <a:latin typeface="Microsoft YaHei"/>
                <a:ea typeface="Microsoft YaHei"/>
                <a:cs typeface="Microsoft YaHei"/>
              </a:rPr>
              <a:t>8  /  11</a:t>
            </a:r>
          </a:p>
        </p:txBody>
      </p:sp>
      <p:sp>
        <p:nvSpPr>
          <p:cNvPr id="6" name="Rectangle 5"/>
          <p:cNvSpPr/>
          <p:nvPr/>
        </p:nvSpPr>
        <p:spPr>
          <a:xfrm>
            <a:off x="384048" y="6565392"/>
            <a:ext cx="11430000" cy="9144"/>
          </a:xfrm>
          <a:prstGeom prst="rect">
            <a:avLst/>
          </a:prstGeom>
          <a:solidFill>
            <a:srgbClr val="D6DCE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384048" y="6583680"/>
            <a:ext cx="11430000" cy="219456"/>
          </a:xfrm>
          <a:prstGeom prst="rect">
            <a:avLst/>
          </a:prstGeom>
          <a:noFill/>
        </p:spPr>
        <p:txBody>
          <a:bodyPr wrap="square" lIns="0" rIns="0" tIns="0" bIns="0" anchor="ctr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5A636E"/>
                </a:solidFill>
                <a:latin typeface="Microsoft YaHei"/>
                <a:ea typeface="Microsoft YaHei"/>
                <a:cs typeface="Microsoft YaHei"/>
              </a:rPr>
              <a:t>10T 为外推    ·    96 GB / 486 T、一份 128 卡副本    ·    访存与通信 80%    ·    计算 70%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384048" y="841248"/>
            <a:ext cx="11430000" cy="420624"/>
          </a:xfrm>
          <a:prstGeom prst="roundRect">
            <a:avLst/>
          </a:prstGeom>
          <a:solidFill>
            <a:srgbClr val="E7F3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530352" y="841248"/>
            <a:ext cx="11137392" cy="420624"/>
          </a:xfrm>
          <a:prstGeom prst="rect">
            <a:avLst/>
          </a:prstGeom>
          <a:noFill/>
        </p:spPr>
        <p:txBody>
          <a:bodyPr wrap="square" lIns="0" rIns="0" tIns="0" bIns="0" anchor="ctr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400" b="1">
                <a:solidFill>
                  <a:srgbClr val="0E7A76"/>
                </a:solidFill>
                <a:latin typeface="Microsoft YaHei"/>
                <a:ea typeface="Microsoft YaHei"/>
                <a:cs typeface="Microsoft YaHei"/>
              </a:rPr>
              <a:t>只统计 KV 换进 DDR 池的输入。换入量 = 溢出比例 × 这一步的稀疏读，每卡带宽 320 GB/s。</a:t>
            </a:r>
          </a:p>
        </p:txBody>
      </p:sp>
      <p:graphicFrame>
        <p:nvGraphicFramePr>
          <p:cNvPr id="10" name="Table 9"/>
          <p:cNvGraphicFramePr>
            <a:graphicFrameLocks noGrp="1"/>
          </p:cNvGraphicFramePr>
          <p:nvPr/>
        </p:nvGraphicFramePr>
        <p:xfrm>
          <a:off x="384048" y="1353312"/>
          <a:ext cx="11247120" cy="1115568"/>
        </p:xfrm>
        <a:graphic>
          <a:graphicData uri="http://schemas.openxmlformats.org/drawingml/2006/table">
            <a:tbl>
              <a:tblPr firstRow="1"/>
              <a:tblGrid>
                <a:gridCol w="1234440"/>
                <a:gridCol w="1143000"/>
                <a:gridCol w="822960"/>
                <a:gridCol w="960120"/>
                <a:gridCol w="1371600"/>
                <a:gridCol w="1508760"/>
                <a:gridCol w="1325880"/>
                <a:gridCol w="2880360"/>
              </a:tblGrid>
              <a:tr h="347472">
                <a:tc>
                  <a:txBody>
                    <a:bodyPr wrap="square"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  <a:lnSpc>
                          <a:spcPct val="100000"/>
                        </a:lnSpc>
                      </a:pPr>
                      <a:r>
                        <a:rPr sz="1200" b="1">
                          <a:solidFill>
                            <a:srgbClr val="FFFFFF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输入</a:t>
                      </a:r>
                    </a:p>
                  </a:txBody>
                  <a:tcPr marL="54864" marR="54864" marT="27432" marB="18288" anchor="ctr">
                    <a:solidFill>
                      <a:srgbClr val="0E2A47"/>
                    </a:solidFill>
                    <a:lnL w="6350">
                      <a:solidFill>
                        <a:srgbClr val="D6DCE2"/>
                      </a:solidFill>
                    </a:lnL>
                    <a:lnR w="6350">
                      <a:solidFill>
                        <a:srgbClr val="D6DCE2"/>
                      </a:solidFill>
                    </a:lnR>
                    <a:lnT w="6350">
                      <a:solidFill>
                        <a:srgbClr val="D6DCE2"/>
                      </a:solidFill>
                    </a:lnT>
                    <a:lnB w="6350">
                      <a:solidFill>
                        <a:srgbClr val="D6DCE2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  <a:lnSpc>
                          <a:spcPct val="100000"/>
                        </a:lnSpc>
                      </a:pPr>
                      <a:r>
                        <a:rPr sz="1200" b="1">
                          <a:solidFill>
                            <a:srgbClr val="FFFFFF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30 毫秒批</a:t>
                      </a:r>
                    </a:p>
                  </a:txBody>
                  <a:tcPr marL="54864" marR="54864" marT="27432" marB="18288" anchor="ctr">
                    <a:solidFill>
                      <a:srgbClr val="0E2A47"/>
                    </a:solidFill>
                    <a:lnL w="6350">
                      <a:solidFill>
                        <a:srgbClr val="D6DCE2"/>
                      </a:solidFill>
                    </a:lnL>
                    <a:lnR w="6350">
                      <a:solidFill>
                        <a:srgbClr val="D6DCE2"/>
                      </a:solidFill>
                    </a:lnR>
                    <a:lnT w="6350">
                      <a:solidFill>
                        <a:srgbClr val="D6DCE2"/>
                      </a:solidFill>
                    </a:lnT>
                    <a:lnB w="6350">
                      <a:solidFill>
                        <a:srgbClr val="D6DCE2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  <a:lnSpc>
                          <a:spcPct val="100000"/>
                        </a:lnSpc>
                      </a:pPr>
                      <a:r>
                        <a:rPr sz="1200" b="1">
                          <a:solidFill>
                            <a:srgbClr val="FFFFFF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每卡</a:t>
                      </a:r>
                    </a:p>
                  </a:txBody>
                  <a:tcPr marL="54864" marR="54864" marT="27432" marB="18288" anchor="ctr">
                    <a:solidFill>
                      <a:srgbClr val="0E2A47"/>
                    </a:solidFill>
                    <a:lnL w="6350">
                      <a:solidFill>
                        <a:srgbClr val="D6DCE2"/>
                      </a:solidFill>
                    </a:lnL>
                    <a:lnR w="6350">
                      <a:solidFill>
                        <a:srgbClr val="D6DCE2"/>
                      </a:solidFill>
                    </a:lnR>
                    <a:lnT w="6350">
                      <a:solidFill>
                        <a:srgbClr val="D6DCE2"/>
                      </a:solidFill>
                    </a:lnT>
                    <a:lnB w="6350">
                      <a:solidFill>
                        <a:srgbClr val="D6DCE2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  <a:lnSpc>
                          <a:spcPct val="100000"/>
                        </a:lnSpc>
                      </a:pPr>
                      <a:r>
                        <a:rPr sz="1200" b="1">
                          <a:solidFill>
                            <a:srgbClr val="FFFFFF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溢出</a:t>
                      </a:r>
                    </a:p>
                  </a:txBody>
                  <a:tcPr marL="54864" marR="54864" marT="27432" marB="18288" anchor="ctr">
                    <a:solidFill>
                      <a:srgbClr val="0E2A47"/>
                    </a:solidFill>
                    <a:lnL w="6350">
                      <a:solidFill>
                        <a:srgbClr val="D6DCE2"/>
                      </a:solidFill>
                    </a:lnL>
                    <a:lnR w="6350">
                      <a:solidFill>
                        <a:srgbClr val="D6DCE2"/>
                      </a:solidFill>
                    </a:lnR>
                    <a:lnT w="6350">
                      <a:solidFill>
                        <a:srgbClr val="D6DCE2"/>
                      </a:solidFill>
                    </a:lnT>
                    <a:lnB w="6350">
                      <a:solidFill>
                        <a:srgbClr val="D6DCE2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  <a:lnSpc>
                          <a:spcPct val="100000"/>
                        </a:lnSpc>
                      </a:pPr>
                      <a:r>
                        <a:rPr sz="1200" b="1">
                          <a:solidFill>
                            <a:srgbClr val="FFFFFF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每卡换入</a:t>
                      </a:r>
                    </a:p>
                  </a:txBody>
                  <a:tcPr marL="54864" marR="54864" marT="27432" marB="18288" anchor="ctr">
                    <a:solidFill>
                      <a:srgbClr val="0E2A47"/>
                    </a:solidFill>
                    <a:lnL w="6350">
                      <a:solidFill>
                        <a:srgbClr val="D6DCE2"/>
                      </a:solidFill>
                    </a:lnL>
                    <a:lnR w="6350">
                      <a:solidFill>
                        <a:srgbClr val="D6DCE2"/>
                      </a:solidFill>
                    </a:lnR>
                    <a:lnT w="6350">
                      <a:solidFill>
                        <a:srgbClr val="D6DCE2"/>
                      </a:solidFill>
                    </a:lnT>
                    <a:lnB w="6350">
                      <a:solidFill>
                        <a:srgbClr val="D6DCE2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  <a:lnSpc>
                          <a:spcPct val="100000"/>
                        </a:lnSpc>
                      </a:pPr>
                      <a:r>
                        <a:rPr sz="1200" b="1">
                          <a:solidFill>
                            <a:srgbClr val="FFFFFF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128 卡合计</a:t>
                      </a:r>
                    </a:p>
                  </a:txBody>
                  <a:tcPr marL="54864" marR="54864" marT="27432" marB="18288" anchor="ctr">
                    <a:solidFill>
                      <a:srgbClr val="0E2A47"/>
                    </a:solidFill>
                    <a:lnL w="6350">
                      <a:solidFill>
                        <a:srgbClr val="D6DCE2"/>
                      </a:solidFill>
                    </a:lnL>
                    <a:lnR w="6350">
                      <a:solidFill>
                        <a:srgbClr val="D6DCE2"/>
                      </a:solidFill>
                    </a:lnR>
                    <a:lnT w="6350">
                      <a:solidFill>
                        <a:srgbClr val="D6DCE2"/>
                      </a:solidFill>
                    </a:lnT>
                    <a:lnB w="6350">
                      <a:solidFill>
                        <a:srgbClr val="D6DCE2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  <a:lnSpc>
                          <a:spcPct val="100000"/>
                        </a:lnSpc>
                      </a:pPr>
                      <a:r>
                        <a:rPr sz="1200" b="1">
                          <a:solidFill>
                            <a:srgbClr val="FFFFFF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换入耗时</a:t>
                      </a:r>
                    </a:p>
                  </a:txBody>
                  <a:tcPr marL="54864" marR="54864" marT="27432" marB="18288" anchor="ctr">
                    <a:solidFill>
                      <a:srgbClr val="0E2A47"/>
                    </a:solidFill>
                    <a:lnL w="6350">
                      <a:solidFill>
                        <a:srgbClr val="D6DCE2"/>
                      </a:solidFill>
                    </a:lnL>
                    <a:lnR w="6350">
                      <a:solidFill>
                        <a:srgbClr val="D6DCE2"/>
                      </a:solidFill>
                    </a:lnR>
                    <a:lnT w="6350">
                      <a:solidFill>
                        <a:srgbClr val="D6DCE2"/>
                      </a:solidFill>
                    </a:lnT>
                    <a:lnB w="6350">
                      <a:solidFill>
                        <a:srgbClr val="D6DCE2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  <a:lnSpc>
                          <a:spcPct val="100000"/>
                        </a:lnSpc>
                      </a:pPr>
                      <a:r>
                        <a:rPr sz="1200" b="1">
                          <a:solidFill>
                            <a:srgbClr val="FFFFFF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kernel 瓶颈</a:t>
                      </a:r>
                    </a:p>
                  </a:txBody>
                  <a:tcPr marL="54864" marR="54864" marT="27432" marB="18288" anchor="ctr">
                    <a:solidFill>
                      <a:srgbClr val="0E2A47"/>
                    </a:solidFill>
                    <a:lnL w="6350">
                      <a:solidFill>
                        <a:srgbClr val="D6DCE2"/>
                      </a:solidFill>
                    </a:lnL>
                    <a:lnR w="6350">
                      <a:solidFill>
                        <a:srgbClr val="D6DCE2"/>
                      </a:solidFill>
                    </a:lnR>
                    <a:lnT w="6350">
                      <a:solidFill>
                        <a:srgbClr val="D6DCE2"/>
                      </a:solidFill>
                    </a:lnT>
                    <a:lnB w="6350">
                      <a:solidFill>
                        <a:srgbClr val="D6DCE2"/>
                      </a:solidFill>
                    </a:lnB>
                  </a:tcPr>
                </a:tc>
              </a:tr>
              <a:tr h="384048">
                <a:tc>
                  <a:txBody>
                    <a:bodyPr wrap="square"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  <a:lnSpc>
                          <a:spcPct val="100000"/>
                        </a:lnSpc>
                      </a:pPr>
                      <a:r>
                        <a:rPr sz="1200" b="1">
                          <a:solidFill>
                            <a:srgbClr val="0E7A76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512K</a:t>
                      </a:r>
                    </a:p>
                  </a:txBody>
                  <a:tcPr marL="54864" marR="54864" marT="27432" marB="18288" anchor="ctr">
                    <a:solidFill>
                      <a:srgbClr val="F4F7FA"/>
                    </a:solidFill>
                    <a:lnL w="6350">
                      <a:solidFill>
                        <a:srgbClr val="D6DCE2"/>
                      </a:solidFill>
                    </a:lnL>
                    <a:lnR w="6350">
                      <a:solidFill>
                        <a:srgbClr val="D6DCE2"/>
                      </a:solidFill>
                    </a:lnR>
                    <a:lnT w="6350">
                      <a:solidFill>
                        <a:srgbClr val="D6DCE2"/>
                      </a:solidFill>
                    </a:lnT>
                    <a:lnB w="6350">
                      <a:solidFill>
                        <a:srgbClr val="D6DCE2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  <a:lnSpc>
                          <a:spcPct val="100000"/>
                        </a:lnSpc>
                      </a:pPr>
                      <a:r>
                        <a:rPr sz="1200" b="1">
                          <a:solidFill>
                            <a:srgbClr val="0E7A76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2390</a:t>
                      </a:r>
                    </a:p>
                  </a:txBody>
                  <a:tcPr marL="54864" marR="54864" marT="27432" marB="18288" anchor="ctr">
                    <a:solidFill>
                      <a:srgbClr val="E7F3F2"/>
                    </a:solidFill>
                    <a:lnL w="6350">
                      <a:solidFill>
                        <a:srgbClr val="D6DCE2"/>
                      </a:solidFill>
                    </a:lnL>
                    <a:lnR w="6350">
                      <a:solidFill>
                        <a:srgbClr val="D6DCE2"/>
                      </a:solidFill>
                    </a:lnR>
                    <a:lnT w="6350">
                      <a:solidFill>
                        <a:srgbClr val="D6DCE2"/>
                      </a:solidFill>
                    </a:lnT>
                    <a:lnB w="6350">
                      <a:solidFill>
                        <a:srgbClr val="D6DCE2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  <a:lnSpc>
                          <a:spcPct val="100000"/>
                        </a:lnSpc>
                      </a:pPr>
                      <a:r>
                        <a:rPr sz="1200" b="1">
                          <a:solidFill>
                            <a:srgbClr val="0E7A76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18.7</a:t>
                      </a:r>
                    </a:p>
                  </a:txBody>
                  <a:tcPr marL="54864" marR="54864" marT="27432" marB="18288" anchor="ctr">
                    <a:solidFill>
                      <a:srgbClr val="E7F3F2"/>
                    </a:solidFill>
                    <a:lnL w="6350">
                      <a:solidFill>
                        <a:srgbClr val="D6DCE2"/>
                      </a:solidFill>
                    </a:lnL>
                    <a:lnR w="6350">
                      <a:solidFill>
                        <a:srgbClr val="D6DCE2"/>
                      </a:solidFill>
                    </a:lnR>
                    <a:lnT w="6350">
                      <a:solidFill>
                        <a:srgbClr val="D6DCE2"/>
                      </a:solidFill>
                    </a:lnT>
                    <a:lnB w="6350">
                      <a:solidFill>
                        <a:srgbClr val="D6DCE2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  <a:lnSpc>
                          <a:spcPct val="100000"/>
                        </a:lnSpc>
                      </a:pPr>
                      <a:r>
                        <a:rPr sz="1200" b="1">
                          <a:solidFill>
                            <a:srgbClr val="0E7A76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7.7%</a:t>
                      </a:r>
                    </a:p>
                  </a:txBody>
                  <a:tcPr marL="54864" marR="54864" marT="27432" marB="18288" anchor="ctr">
                    <a:solidFill>
                      <a:srgbClr val="E7F3F2"/>
                    </a:solidFill>
                    <a:lnL w="6350">
                      <a:solidFill>
                        <a:srgbClr val="D6DCE2"/>
                      </a:solidFill>
                    </a:lnL>
                    <a:lnR w="6350">
                      <a:solidFill>
                        <a:srgbClr val="D6DCE2"/>
                      </a:solidFill>
                    </a:lnR>
                    <a:lnT w="6350">
                      <a:solidFill>
                        <a:srgbClr val="D6DCE2"/>
                      </a:solidFill>
                    </a:lnT>
                    <a:lnB w="6350">
                      <a:solidFill>
                        <a:srgbClr val="D6DCE2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  <a:lnSpc>
                          <a:spcPct val="100000"/>
                        </a:lnSpc>
                      </a:pPr>
                      <a:r>
                        <a:rPr sz="1200" b="1">
                          <a:solidFill>
                            <a:srgbClr val="0E7A76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503.9 MB</a:t>
                      </a:r>
                    </a:p>
                  </a:txBody>
                  <a:tcPr marL="54864" marR="54864" marT="27432" marB="18288" anchor="ctr">
                    <a:solidFill>
                      <a:srgbClr val="E7F3F2"/>
                    </a:solidFill>
                    <a:lnL w="6350">
                      <a:solidFill>
                        <a:srgbClr val="D6DCE2"/>
                      </a:solidFill>
                    </a:lnL>
                    <a:lnR w="6350">
                      <a:solidFill>
                        <a:srgbClr val="D6DCE2"/>
                      </a:solidFill>
                    </a:lnR>
                    <a:lnT w="6350">
                      <a:solidFill>
                        <a:srgbClr val="D6DCE2"/>
                      </a:solidFill>
                    </a:lnT>
                    <a:lnB w="6350">
                      <a:solidFill>
                        <a:srgbClr val="D6DCE2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  <a:lnSpc>
                          <a:spcPct val="100000"/>
                        </a:lnSpc>
                      </a:pPr>
                      <a:r>
                        <a:rPr sz="1200" b="1">
                          <a:solidFill>
                            <a:srgbClr val="0E7A76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64.50 GB</a:t>
                      </a:r>
                    </a:p>
                  </a:txBody>
                  <a:tcPr marL="54864" marR="54864" marT="27432" marB="18288" anchor="ctr">
                    <a:solidFill>
                      <a:srgbClr val="E7F3F2"/>
                    </a:solidFill>
                    <a:lnL w="6350">
                      <a:solidFill>
                        <a:srgbClr val="D6DCE2"/>
                      </a:solidFill>
                    </a:lnL>
                    <a:lnR w="6350">
                      <a:solidFill>
                        <a:srgbClr val="D6DCE2"/>
                      </a:solidFill>
                    </a:lnR>
                    <a:lnT w="6350">
                      <a:solidFill>
                        <a:srgbClr val="D6DCE2"/>
                      </a:solidFill>
                    </a:lnT>
                    <a:lnB w="6350">
                      <a:solidFill>
                        <a:srgbClr val="D6DCE2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  <a:lnSpc>
                          <a:spcPct val="100000"/>
                        </a:lnSpc>
                      </a:pPr>
                      <a:r>
                        <a:rPr sz="1200" b="1">
                          <a:solidFill>
                            <a:srgbClr val="0E7A76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1.57 毫秒</a:t>
                      </a:r>
                    </a:p>
                  </a:txBody>
                  <a:tcPr marL="54864" marR="54864" marT="27432" marB="18288" anchor="ctr">
                    <a:solidFill>
                      <a:srgbClr val="E7F3F2"/>
                    </a:solidFill>
                    <a:lnL w="6350">
                      <a:solidFill>
                        <a:srgbClr val="D6DCE2"/>
                      </a:solidFill>
                    </a:lnL>
                    <a:lnR w="6350">
                      <a:solidFill>
                        <a:srgbClr val="D6DCE2"/>
                      </a:solidFill>
                    </a:lnR>
                    <a:lnT w="6350">
                      <a:solidFill>
                        <a:srgbClr val="D6DCE2"/>
                      </a:solidFill>
                    </a:lnT>
                    <a:lnB w="6350">
                      <a:solidFill>
                        <a:srgbClr val="D6DCE2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  <a:lnSpc>
                          <a:spcPct val="100000"/>
                        </a:lnSpc>
                      </a:pPr>
                      <a:r>
                        <a:rPr sz="1200" b="1">
                          <a:solidFill>
                            <a:srgbClr val="0E7A76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注意力计算 8.55 毫秒</a:t>
                      </a:r>
                    </a:p>
                  </a:txBody>
                  <a:tcPr marL="54864" marR="54864" marT="27432" marB="18288" anchor="ctr">
                    <a:solidFill>
                      <a:srgbClr val="E7F3F2"/>
                    </a:solidFill>
                    <a:lnL w="6350">
                      <a:solidFill>
                        <a:srgbClr val="D6DCE2"/>
                      </a:solidFill>
                    </a:lnL>
                    <a:lnR w="6350">
                      <a:solidFill>
                        <a:srgbClr val="D6DCE2"/>
                      </a:solidFill>
                    </a:lnR>
                    <a:lnT w="6350">
                      <a:solidFill>
                        <a:srgbClr val="D6DCE2"/>
                      </a:solidFill>
                    </a:lnT>
                    <a:lnB w="6350">
                      <a:solidFill>
                        <a:srgbClr val="D6DCE2"/>
                      </a:solidFill>
                    </a:lnB>
                  </a:tcPr>
                </a:tc>
              </a:tr>
              <a:tr h="384048">
                <a:tc>
                  <a:txBody>
                    <a:bodyPr wrap="square"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  <a:lnSpc>
                          <a:spcPct val="100000"/>
                        </a:lnSpc>
                      </a:pPr>
                      <a:r>
                        <a:rPr sz="1200" b="1">
                          <a:solidFill>
                            <a:srgbClr val="0E2A47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1M</a:t>
                      </a:r>
                    </a:p>
                  </a:txBody>
                  <a:tcPr marL="54864" marR="54864" marT="27432" marB="18288" anchor="ctr">
                    <a:solidFill>
                      <a:srgbClr val="F4F7FA"/>
                    </a:solidFill>
                    <a:lnL w="6350">
                      <a:solidFill>
                        <a:srgbClr val="D6DCE2"/>
                      </a:solidFill>
                    </a:lnL>
                    <a:lnR w="6350">
                      <a:solidFill>
                        <a:srgbClr val="D6DCE2"/>
                      </a:solidFill>
                    </a:lnR>
                    <a:lnT w="6350">
                      <a:solidFill>
                        <a:srgbClr val="D6DCE2"/>
                      </a:solidFill>
                    </a:lnT>
                    <a:lnB w="6350">
                      <a:solidFill>
                        <a:srgbClr val="D6DCE2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  <a:lnSpc>
                          <a:spcPct val="100000"/>
                        </a:lnSpc>
                      </a:pPr>
                      <a:r>
                        <a:rPr sz="1200" b="0">
                          <a:solidFill>
                            <a:srgbClr val="1C242E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1362</a:t>
                      </a:r>
                    </a:p>
                  </a:txBody>
                  <a:tcPr marL="54864" marR="54864" marT="27432" marB="18288" anchor="ctr">
                    <a:solidFill>
                      <a:srgbClr val="FFFFFF"/>
                    </a:solidFill>
                    <a:lnL w="6350">
                      <a:solidFill>
                        <a:srgbClr val="D6DCE2"/>
                      </a:solidFill>
                    </a:lnL>
                    <a:lnR w="6350">
                      <a:solidFill>
                        <a:srgbClr val="D6DCE2"/>
                      </a:solidFill>
                    </a:lnR>
                    <a:lnT w="6350">
                      <a:solidFill>
                        <a:srgbClr val="D6DCE2"/>
                      </a:solidFill>
                    </a:lnT>
                    <a:lnB w="6350">
                      <a:solidFill>
                        <a:srgbClr val="D6DCE2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  <a:lnSpc>
                          <a:spcPct val="100000"/>
                        </a:lnSpc>
                      </a:pPr>
                      <a:r>
                        <a:rPr sz="1200" b="0">
                          <a:solidFill>
                            <a:srgbClr val="1C242E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10.6</a:t>
                      </a:r>
                    </a:p>
                  </a:txBody>
                  <a:tcPr marL="54864" marR="54864" marT="27432" marB="18288" anchor="ctr">
                    <a:solidFill>
                      <a:srgbClr val="FFFFFF"/>
                    </a:solidFill>
                    <a:lnL w="6350">
                      <a:solidFill>
                        <a:srgbClr val="D6DCE2"/>
                      </a:solidFill>
                    </a:lnL>
                    <a:lnR w="6350">
                      <a:solidFill>
                        <a:srgbClr val="D6DCE2"/>
                      </a:solidFill>
                    </a:lnR>
                    <a:lnT w="6350">
                      <a:solidFill>
                        <a:srgbClr val="D6DCE2"/>
                      </a:solidFill>
                    </a:lnT>
                    <a:lnB w="6350">
                      <a:solidFill>
                        <a:srgbClr val="D6DCE2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  <a:lnSpc>
                          <a:spcPct val="100000"/>
                        </a:lnSpc>
                      </a:pPr>
                      <a:r>
                        <a:rPr sz="1200" b="0">
                          <a:solidFill>
                            <a:srgbClr val="1C242E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19.0%</a:t>
                      </a:r>
                    </a:p>
                  </a:txBody>
                  <a:tcPr marL="54864" marR="54864" marT="27432" marB="18288" anchor="ctr">
                    <a:solidFill>
                      <a:srgbClr val="FFFFFF"/>
                    </a:solidFill>
                    <a:lnL w="6350">
                      <a:solidFill>
                        <a:srgbClr val="D6DCE2"/>
                      </a:solidFill>
                    </a:lnL>
                    <a:lnR w="6350">
                      <a:solidFill>
                        <a:srgbClr val="D6DCE2"/>
                      </a:solidFill>
                    </a:lnR>
                    <a:lnT w="6350">
                      <a:solidFill>
                        <a:srgbClr val="D6DCE2"/>
                      </a:solidFill>
                    </a:lnT>
                    <a:lnB w="6350">
                      <a:solidFill>
                        <a:srgbClr val="D6DCE2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  <a:lnSpc>
                          <a:spcPct val="100000"/>
                        </a:lnSpc>
                      </a:pPr>
                      <a:r>
                        <a:rPr sz="1200" b="0">
                          <a:solidFill>
                            <a:srgbClr val="1C242E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1.37 GB</a:t>
                      </a:r>
                    </a:p>
                  </a:txBody>
                  <a:tcPr marL="54864" marR="54864" marT="27432" marB="18288" anchor="ctr">
                    <a:solidFill>
                      <a:srgbClr val="FFFFFF"/>
                    </a:solidFill>
                    <a:lnL w="6350">
                      <a:solidFill>
                        <a:srgbClr val="D6DCE2"/>
                      </a:solidFill>
                    </a:lnL>
                    <a:lnR w="6350">
                      <a:solidFill>
                        <a:srgbClr val="D6DCE2"/>
                      </a:solidFill>
                    </a:lnR>
                    <a:lnT w="6350">
                      <a:solidFill>
                        <a:srgbClr val="D6DCE2"/>
                      </a:solidFill>
                    </a:lnT>
                    <a:lnB w="6350">
                      <a:solidFill>
                        <a:srgbClr val="D6DCE2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  <a:lnSpc>
                          <a:spcPct val="100000"/>
                        </a:lnSpc>
                      </a:pPr>
                      <a:r>
                        <a:rPr sz="1200" b="0">
                          <a:solidFill>
                            <a:srgbClr val="1C242E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175.51 GB</a:t>
                      </a:r>
                    </a:p>
                  </a:txBody>
                  <a:tcPr marL="54864" marR="54864" marT="27432" marB="18288" anchor="ctr">
                    <a:solidFill>
                      <a:srgbClr val="FFFFFF"/>
                    </a:solidFill>
                    <a:lnL w="6350">
                      <a:solidFill>
                        <a:srgbClr val="D6DCE2"/>
                      </a:solidFill>
                    </a:lnL>
                    <a:lnR w="6350">
                      <a:solidFill>
                        <a:srgbClr val="D6DCE2"/>
                      </a:solidFill>
                    </a:lnR>
                    <a:lnT w="6350">
                      <a:solidFill>
                        <a:srgbClr val="D6DCE2"/>
                      </a:solidFill>
                    </a:lnT>
                    <a:lnB w="6350">
                      <a:solidFill>
                        <a:srgbClr val="D6DCE2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  <a:lnSpc>
                          <a:spcPct val="100000"/>
                        </a:lnSpc>
                      </a:pPr>
                      <a:r>
                        <a:rPr sz="1200" b="0">
                          <a:solidFill>
                            <a:srgbClr val="1C242E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4.28 毫秒</a:t>
                      </a:r>
                    </a:p>
                  </a:txBody>
                  <a:tcPr marL="54864" marR="54864" marT="27432" marB="18288" anchor="ctr">
                    <a:solidFill>
                      <a:srgbClr val="FFFFFF"/>
                    </a:solidFill>
                    <a:lnL w="6350">
                      <a:solidFill>
                        <a:srgbClr val="D6DCE2"/>
                      </a:solidFill>
                    </a:lnL>
                    <a:lnR w="6350">
                      <a:solidFill>
                        <a:srgbClr val="D6DCE2"/>
                      </a:solidFill>
                    </a:lnR>
                    <a:lnT w="6350">
                      <a:solidFill>
                        <a:srgbClr val="D6DCE2"/>
                      </a:solidFill>
                    </a:lnT>
                    <a:lnB w="6350">
                      <a:solidFill>
                        <a:srgbClr val="D6DCE2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  <a:lnSpc>
                          <a:spcPct val="100000"/>
                        </a:lnSpc>
                      </a:pPr>
                      <a:r>
                        <a:rPr sz="1200" b="0">
                          <a:solidFill>
                            <a:srgbClr val="1C242E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注意力计算 8.58 毫秒</a:t>
                      </a:r>
                    </a:p>
                  </a:txBody>
                  <a:tcPr marL="54864" marR="54864" marT="27432" marB="18288" anchor="ctr">
                    <a:solidFill>
                      <a:srgbClr val="FFFFFF"/>
                    </a:solidFill>
                    <a:lnL w="6350">
                      <a:solidFill>
                        <a:srgbClr val="D6DCE2"/>
                      </a:solidFill>
                    </a:lnL>
                    <a:lnR w="6350">
                      <a:solidFill>
                        <a:srgbClr val="D6DCE2"/>
                      </a:solidFill>
                    </a:lnR>
                    <a:lnT w="6350">
                      <a:solidFill>
                        <a:srgbClr val="D6DCE2"/>
                      </a:solidFill>
                    </a:lnT>
                    <a:lnB w="6350">
                      <a:solidFill>
                        <a:srgbClr val="D6DCE2"/>
                      </a:solidFill>
                    </a:lnB>
                  </a:tcPr>
                </a:tc>
              </a:tr>
            </a:tbl>
          </a:graphicData>
        </a:graphic>
      </p:graphicFrame>
      <p:sp>
        <p:nvSpPr>
          <p:cNvPr id="11" name="TextBox 10"/>
          <p:cNvSpPr txBox="1"/>
          <p:nvPr/>
        </p:nvSpPr>
        <p:spPr>
          <a:xfrm>
            <a:off x="384048" y="3383280"/>
            <a:ext cx="11430000" cy="201168"/>
          </a:xfrm>
          <a:prstGeom prst="rect">
            <a:avLst/>
          </a:prstGeom>
          <a:noFill/>
        </p:spPr>
        <p:txBody>
          <a:bodyPr wrap="square" lIns="0" rIns="0" tIns="0" bIns="0" anchor="ctr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300" b="1">
                <a:solidFill>
                  <a:srgbClr val="145A96"/>
                </a:solidFill>
                <a:latin typeface="Microsoft YaHei"/>
                <a:ea typeface="Microsoft YaHei"/>
                <a:cs typeface="Microsoft YaHei"/>
              </a:rPr>
              <a:t>同一批长度上，换入和另外几笔的耗时</a:t>
            </a:r>
          </a:p>
        </p:txBody>
      </p:sp>
      <p:graphicFrame>
        <p:nvGraphicFramePr>
          <p:cNvPr id="12" name="Table 11"/>
          <p:cNvGraphicFramePr>
            <a:graphicFrameLocks noGrp="1"/>
          </p:cNvGraphicFramePr>
          <p:nvPr/>
        </p:nvGraphicFramePr>
        <p:xfrm>
          <a:off x="384048" y="3712463"/>
          <a:ext cx="11247120" cy="987552"/>
        </p:xfrm>
        <a:graphic>
          <a:graphicData uri="http://schemas.openxmlformats.org/drawingml/2006/table">
            <a:tbl>
              <a:tblPr firstRow="1"/>
              <a:tblGrid>
                <a:gridCol w="1325880"/>
                <a:gridCol w="1554480"/>
                <a:gridCol w="1645920"/>
                <a:gridCol w="1737360"/>
                <a:gridCol w="1645920"/>
                <a:gridCol w="1554480"/>
                <a:gridCol w="1783080"/>
              </a:tblGrid>
              <a:tr h="329184">
                <a:tc>
                  <a:txBody>
                    <a:bodyPr wrap="square"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  <a:lnSpc>
                          <a:spcPct val="100000"/>
                        </a:lnSpc>
                      </a:pPr>
                      <a:r>
                        <a:rPr sz="1200" b="1">
                          <a:solidFill>
                            <a:srgbClr val="FFFFFF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输入</a:t>
                      </a:r>
                    </a:p>
                  </a:txBody>
                  <a:tcPr marL="54864" marR="54864" marT="27432" marB="18288" anchor="ctr">
                    <a:solidFill>
                      <a:srgbClr val="0E2A47"/>
                    </a:solidFill>
                    <a:lnL w="6350">
                      <a:solidFill>
                        <a:srgbClr val="D6DCE2"/>
                      </a:solidFill>
                    </a:lnL>
                    <a:lnR w="6350">
                      <a:solidFill>
                        <a:srgbClr val="D6DCE2"/>
                      </a:solidFill>
                    </a:lnR>
                    <a:lnT w="6350">
                      <a:solidFill>
                        <a:srgbClr val="D6DCE2"/>
                      </a:solidFill>
                    </a:lnT>
                    <a:lnB w="6350">
                      <a:solidFill>
                        <a:srgbClr val="D6DCE2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  <a:lnSpc>
                          <a:spcPct val="100000"/>
                        </a:lnSpc>
                      </a:pPr>
                      <a:r>
                        <a:rPr sz="1200" b="1">
                          <a:solidFill>
                            <a:srgbClr val="FFFFFF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换入</a:t>
                      </a:r>
                    </a:p>
                  </a:txBody>
                  <a:tcPr marL="54864" marR="54864" marT="27432" marB="18288" anchor="ctr">
                    <a:solidFill>
                      <a:srgbClr val="0E2A47"/>
                    </a:solidFill>
                    <a:lnL w="6350">
                      <a:solidFill>
                        <a:srgbClr val="D6DCE2"/>
                      </a:solidFill>
                    </a:lnL>
                    <a:lnR w="6350">
                      <a:solidFill>
                        <a:srgbClr val="D6DCE2"/>
                      </a:solidFill>
                    </a:lnR>
                    <a:lnT w="6350">
                      <a:solidFill>
                        <a:srgbClr val="D6DCE2"/>
                      </a:solidFill>
                    </a:lnT>
                    <a:lnB w="6350">
                      <a:solidFill>
                        <a:srgbClr val="D6DCE2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  <a:lnSpc>
                          <a:spcPct val="100000"/>
                        </a:lnSpc>
                      </a:pPr>
                      <a:r>
                        <a:rPr sz="1200" b="1">
                          <a:solidFill>
                            <a:srgbClr val="FFFFFF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allreduce</a:t>
                      </a:r>
                    </a:p>
                  </a:txBody>
                  <a:tcPr marL="54864" marR="54864" marT="27432" marB="18288" anchor="ctr">
                    <a:solidFill>
                      <a:srgbClr val="0E2A47"/>
                    </a:solidFill>
                    <a:lnL w="6350">
                      <a:solidFill>
                        <a:srgbClr val="D6DCE2"/>
                      </a:solidFill>
                    </a:lnL>
                    <a:lnR w="6350">
                      <a:solidFill>
                        <a:srgbClr val="D6DCE2"/>
                      </a:solidFill>
                    </a:lnR>
                    <a:lnT w="6350">
                      <a:solidFill>
                        <a:srgbClr val="D6DCE2"/>
                      </a:solidFill>
                    </a:lnT>
                    <a:lnB w="6350">
                      <a:solidFill>
                        <a:srgbClr val="D6DCE2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  <a:lnSpc>
                          <a:spcPct val="100000"/>
                        </a:lnSpc>
                      </a:pPr>
                      <a:r>
                        <a:rPr sz="1200" b="1">
                          <a:solidFill>
                            <a:srgbClr val="FFFFFF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注意力计算</a:t>
                      </a:r>
                    </a:p>
                  </a:txBody>
                  <a:tcPr marL="54864" marR="54864" marT="27432" marB="18288" anchor="ctr">
                    <a:solidFill>
                      <a:srgbClr val="0E2A47"/>
                    </a:solidFill>
                    <a:lnL w="6350">
                      <a:solidFill>
                        <a:srgbClr val="D6DCE2"/>
                      </a:solidFill>
                    </a:lnL>
                    <a:lnR w="6350">
                      <a:solidFill>
                        <a:srgbClr val="D6DCE2"/>
                      </a:solidFill>
                    </a:lnR>
                    <a:lnT w="6350">
                      <a:solidFill>
                        <a:srgbClr val="D6DCE2"/>
                      </a:solidFill>
                    </a:lnT>
                    <a:lnB w="6350">
                      <a:solidFill>
                        <a:srgbClr val="D6DCE2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  <a:lnSpc>
                          <a:spcPct val="100000"/>
                        </a:lnSpc>
                      </a:pPr>
                      <a:r>
                        <a:rPr sz="1200" b="1">
                          <a:solidFill>
                            <a:srgbClr val="FFFFFF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HBM KV+权重</a:t>
                      </a:r>
                    </a:p>
                  </a:txBody>
                  <a:tcPr marL="54864" marR="54864" marT="27432" marB="18288" anchor="ctr">
                    <a:solidFill>
                      <a:srgbClr val="0E2A47"/>
                    </a:solidFill>
                    <a:lnL w="6350">
                      <a:solidFill>
                        <a:srgbClr val="D6DCE2"/>
                      </a:solidFill>
                    </a:lnL>
                    <a:lnR w="6350">
                      <a:solidFill>
                        <a:srgbClr val="D6DCE2"/>
                      </a:solidFill>
                    </a:lnR>
                    <a:lnT w="6350">
                      <a:solidFill>
                        <a:srgbClr val="D6DCE2"/>
                      </a:solidFill>
                    </a:lnT>
                    <a:lnB w="6350">
                      <a:solidFill>
                        <a:srgbClr val="D6DCE2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  <a:lnSpc>
                          <a:spcPct val="100000"/>
                        </a:lnSpc>
                      </a:pPr>
                      <a:r>
                        <a:rPr sz="1200" b="1">
                          <a:solidFill>
                            <a:srgbClr val="FFFFFF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读专家</a:t>
                      </a:r>
                    </a:p>
                  </a:txBody>
                  <a:tcPr marL="54864" marR="54864" marT="27432" marB="18288" anchor="ctr">
                    <a:solidFill>
                      <a:srgbClr val="0E2A47"/>
                    </a:solidFill>
                    <a:lnL w="6350">
                      <a:solidFill>
                        <a:srgbClr val="D6DCE2"/>
                      </a:solidFill>
                    </a:lnL>
                    <a:lnR w="6350">
                      <a:solidFill>
                        <a:srgbClr val="D6DCE2"/>
                      </a:solidFill>
                    </a:lnR>
                    <a:lnT w="6350">
                      <a:solidFill>
                        <a:srgbClr val="D6DCE2"/>
                      </a:solidFill>
                    </a:lnT>
                    <a:lnB w="6350">
                      <a:solidFill>
                        <a:srgbClr val="D6DCE2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  <a:lnSpc>
                          <a:spcPct val="100000"/>
                        </a:lnSpc>
                      </a:pPr>
                      <a:r>
                        <a:rPr sz="1200" b="1">
                          <a:solidFill>
                            <a:srgbClr val="FFFFFF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一步</a:t>
                      </a:r>
                    </a:p>
                  </a:txBody>
                  <a:tcPr marL="54864" marR="54864" marT="27432" marB="18288" anchor="ctr">
                    <a:solidFill>
                      <a:srgbClr val="0E2A47"/>
                    </a:solidFill>
                    <a:lnL w="6350">
                      <a:solidFill>
                        <a:srgbClr val="D6DCE2"/>
                      </a:solidFill>
                    </a:lnL>
                    <a:lnR w="6350">
                      <a:solidFill>
                        <a:srgbClr val="D6DCE2"/>
                      </a:solidFill>
                    </a:lnR>
                    <a:lnT w="6350">
                      <a:solidFill>
                        <a:srgbClr val="D6DCE2"/>
                      </a:solidFill>
                    </a:lnT>
                    <a:lnB w="6350">
                      <a:solidFill>
                        <a:srgbClr val="D6DCE2"/>
                      </a:solidFill>
                    </a:lnB>
                  </a:tcPr>
                </a:tc>
              </a:tr>
              <a:tr h="329184">
                <a:tc>
                  <a:txBody>
                    <a:bodyPr wrap="square"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  <a:lnSpc>
                          <a:spcPct val="100000"/>
                        </a:lnSpc>
                      </a:pPr>
                      <a:r>
                        <a:rPr sz="1200" b="1">
                          <a:solidFill>
                            <a:srgbClr val="0E2A47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512K</a:t>
                      </a:r>
                    </a:p>
                  </a:txBody>
                  <a:tcPr marL="54864" marR="54864" marT="27432" marB="18288" anchor="ctr">
                    <a:solidFill>
                      <a:srgbClr val="F4F7FA"/>
                    </a:solidFill>
                    <a:lnL w="6350">
                      <a:solidFill>
                        <a:srgbClr val="D6DCE2"/>
                      </a:solidFill>
                    </a:lnL>
                    <a:lnR w="6350">
                      <a:solidFill>
                        <a:srgbClr val="D6DCE2"/>
                      </a:solidFill>
                    </a:lnR>
                    <a:lnT w="6350">
                      <a:solidFill>
                        <a:srgbClr val="D6DCE2"/>
                      </a:solidFill>
                    </a:lnT>
                    <a:lnB w="6350">
                      <a:solidFill>
                        <a:srgbClr val="D6DCE2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  <a:lnSpc>
                          <a:spcPct val="100000"/>
                        </a:lnSpc>
                      </a:pPr>
                      <a:r>
                        <a:rPr sz="1200" b="0">
                          <a:solidFill>
                            <a:srgbClr val="1C242E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1.57 毫秒</a:t>
                      </a:r>
                    </a:p>
                  </a:txBody>
                  <a:tcPr marL="54864" marR="54864" marT="27432" marB="18288" anchor="ctr">
                    <a:solidFill>
                      <a:srgbClr val="FFFFFF"/>
                    </a:solidFill>
                    <a:lnL w="6350">
                      <a:solidFill>
                        <a:srgbClr val="D6DCE2"/>
                      </a:solidFill>
                    </a:lnL>
                    <a:lnR w="6350">
                      <a:solidFill>
                        <a:srgbClr val="D6DCE2"/>
                      </a:solidFill>
                    </a:lnR>
                    <a:lnT w="6350">
                      <a:solidFill>
                        <a:srgbClr val="D6DCE2"/>
                      </a:solidFill>
                    </a:lnT>
                    <a:lnB w="6350">
                      <a:solidFill>
                        <a:srgbClr val="D6DCE2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  <a:lnSpc>
                          <a:spcPct val="100000"/>
                        </a:lnSpc>
                      </a:pPr>
                      <a:r>
                        <a:rPr sz="1200" b="0">
                          <a:solidFill>
                            <a:srgbClr val="1C242E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5.74 毫秒</a:t>
                      </a:r>
                    </a:p>
                  </a:txBody>
                  <a:tcPr marL="54864" marR="54864" marT="27432" marB="18288" anchor="ctr">
                    <a:solidFill>
                      <a:srgbClr val="FFFFFF"/>
                    </a:solidFill>
                    <a:lnL w="6350">
                      <a:solidFill>
                        <a:srgbClr val="D6DCE2"/>
                      </a:solidFill>
                    </a:lnL>
                    <a:lnR w="6350">
                      <a:solidFill>
                        <a:srgbClr val="D6DCE2"/>
                      </a:solidFill>
                    </a:lnR>
                    <a:lnT w="6350">
                      <a:solidFill>
                        <a:srgbClr val="D6DCE2"/>
                      </a:solidFill>
                    </a:lnT>
                    <a:lnB w="6350">
                      <a:solidFill>
                        <a:srgbClr val="D6DCE2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  <a:lnSpc>
                          <a:spcPct val="100000"/>
                        </a:lnSpc>
                      </a:pPr>
                      <a:r>
                        <a:rPr sz="1200" b="0">
                          <a:solidFill>
                            <a:srgbClr val="1C242E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8.55 毫秒</a:t>
                      </a:r>
                    </a:p>
                  </a:txBody>
                  <a:tcPr marL="54864" marR="54864" marT="27432" marB="18288" anchor="ctr">
                    <a:solidFill>
                      <a:srgbClr val="FFFFFF"/>
                    </a:solidFill>
                    <a:lnL w="6350">
                      <a:solidFill>
                        <a:srgbClr val="D6DCE2"/>
                      </a:solidFill>
                    </a:lnL>
                    <a:lnR w="6350">
                      <a:solidFill>
                        <a:srgbClr val="D6DCE2"/>
                      </a:solidFill>
                    </a:lnR>
                    <a:lnT w="6350">
                      <a:solidFill>
                        <a:srgbClr val="D6DCE2"/>
                      </a:solidFill>
                    </a:lnT>
                    <a:lnB w="6350">
                      <a:solidFill>
                        <a:srgbClr val="D6DCE2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  <a:lnSpc>
                          <a:spcPct val="100000"/>
                        </a:lnSpc>
                      </a:pPr>
                      <a:r>
                        <a:rPr sz="1200" b="0">
                          <a:solidFill>
                            <a:srgbClr val="1C242E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2.79 毫秒</a:t>
                      </a:r>
                    </a:p>
                  </a:txBody>
                  <a:tcPr marL="54864" marR="54864" marT="27432" marB="18288" anchor="ctr">
                    <a:solidFill>
                      <a:srgbClr val="FFFFFF"/>
                    </a:solidFill>
                    <a:lnL w="6350">
                      <a:solidFill>
                        <a:srgbClr val="D6DCE2"/>
                      </a:solidFill>
                    </a:lnL>
                    <a:lnR w="6350">
                      <a:solidFill>
                        <a:srgbClr val="D6DCE2"/>
                      </a:solidFill>
                    </a:lnR>
                    <a:lnT w="6350">
                      <a:solidFill>
                        <a:srgbClr val="D6DCE2"/>
                      </a:solidFill>
                    </a:lnT>
                    <a:lnB w="6350">
                      <a:solidFill>
                        <a:srgbClr val="D6DCE2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  <a:lnSpc>
                          <a:spcPct val="100000"/>
                        </a:lnSpc>
                      </a:pPr>
                      <a:r>
                        <a:rPr sz="1200" b="0">
                          <a:solidFill>
                            <a:srgbClr val="1C242E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13.40 毫秒</a:t>
                      </a:r>
                    </a:p>
                  </a:txBody>
                  <a:tcPr marL="54864" marR="54864" marT="27432" marB="18288" anchor="ctr">
                    <a:solidFill>
                      <a:srgbClr val="FFFFFF"/>
                    </a:solidFill>
                    <a:lnL w="6350">
                      <a:solidFill>
                        <a:srgbClr val="D6DCE2"/>
                      </a:solidFill>
                    </a:lnL>
                    <a:lnR w="6350">
                      <a:solidFill>
                        <a:srgbClr val="D6DCE2"/>
                      </a:solidFill>
                    </a:lnR>
                    <a:lnT w="6350">
                      <a:solidFill>
                        <a:srgbClr val="D6DCE2"/>
                      </a:solidFill>
                    </a:lnT>
                    <a:lnB w="6350">
                      <a:solidFill>
                        <a:srgbClr val="D6DCE2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  <a:lnSpc>
                          <a:spcPct val="100000"/>
                        </a:lnSpc>
                      </a:pPr>
                      <a:r>
                        <a:rPr sz="1200" b="0">
                          <a:solidFill>
                            <a:srgbClr val="1C242E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30.00 毫秒</a:t>
                      </a:r>
                    </a:p>
                  </a:txBody>
                  <a:tcPr marL="54864" marR="54864" marT="27432" marB="18288" anchor="ctr">
                    <a:solidFill>
                      <a:srgbClr val="FFFFFF"/>
                    </a:solidFill>
                    <a:lnL w="6350">
                      <a:solidFill>
                        <a:srgbClr val="D6DCE2"/>
                      </a:solidFill>
                    </a:lnL>
                    <a:lnR w="6350">
                      <a:solidFill>
                        <a:srgbClr val="D6DCE2"/>
                      </a:solidFill>
                    </a:lnR>
                    <a:lnT w="6350">
                      <a:solidFill>
                        <a:srgbClr val="D6DCE2"/>
                      </a:solidFill>
                    </a:lnT>
                    <a:lnB w="6350">
                      <a:solidFill>
                        <a:srgbClr val="D6DCE2"/>
                      </a:solidFill>
                    </a:lnB>
                  </a:tcPr>
                </a:tc>
              </a:tr>
              <a:tr h="329184">
                <a:tc>
                  <a:txBody>
                    <a:bodyPr wrap="square"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  <a:lnSpc>
                          <a:spcPct val="100000"/>
                        </a:lnSpc>
                      </a:pPr>
                      <a:r>
                        <a:rPr sz="1200" b="1">
                          <a:solidFill>
                            <a:srgbClr val="0E2A47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1M</a:t>
                      </a:r>
                    </a:p>
                  </a:txBody>
                  <a:tcPr marL="54864" marR="54864" marT="27432" marB="18288" anchor="ctr">
                    <a:solidFill>
                      <a:srgbClr val="F4F7FA"/>
                    </a:solidFill>
                    <a:lnL w="6350">
                      <a:solidFill>
                        <a:srgbClr val="D6DCE2"/>
                      </a:solidFill>
                    </a:lnL>
                    <a:lnR w="6350">
                      <a:solidFill>
                        <a:srgbClr val="D6DCE2"/>
                      </a:solidFill>
                    </a:lnR>
                    <a:lnT w="6350">
                      <a:solidFill>
                        <a:srgbClr val="D6DCE2"/>
                      </a:solidFill>
                    </a:lnT>
                    <a:lnB w="6350">
                      <a:solidFill>
                        <a:srgbClr val="D6DCE2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  <a:lnSpc>
                          <a:spcPct val="100000"/>
                        </a:lnSpc>
                      </a:pPr>
                      <a:r>
                        <a:rPr sz="1200" b="0">
                          <a:solidFill>
                            <a:srgbClr val="1C242E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4.28 毫秒</a:t>
                      </a:r>
                    </a:p>
                  </a:txBody>
                  <a:tcPr marL="54864" marR="54864" marT="27432" marB="18288" anchor="ctr">
                    <a:solidFill>
                      <a:srgbClr val="FFFFFF"/>
                    </a:solidFill>
                    <a:lnL w="6350">
                      <a:solidFill>
                        <a:srgbClr val="D6DCE2"/>
                      </a:solidFill>
                    </a:lnL>
                    <a:lnR w="6350">
                      <a:solidFill>
                        <a:srgbClr val="D6DCE2"/>
                      </a:solidFill>
                    </a:lnR>
                    <a:lnT w="6350">
                      <a:solidFill>
                        <a:srgbClr val="D6DCE2"/>
                      </a:solidFill>
                    </a:lnT>
                    <a:lnB w="6350">
                      <a:solidFill>
                        <a:srgbClr val="D6DCE2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  <a:lnSpc>
                          <a:spcPct val="100000"/>
                        </a:lnSpc>
                      </a:pPr>
                      <a:r>
                        <a:rPr sz="1200" b="0">
                          <a:solidFill>
                            <a:srgbClr val="1C242E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3.29 毫秒</a:t>
                      </a:r>
                    </a:p>
                  </a:txBody>
                  <a:tcPr marL="54864" marR="54864" marT="27432" marB="18288" anchor="ctr">
                    <a:solidFill>
                      <a:srgbClr val="FFFFFF"/>
                    </a:solidFill>
                    <a:lnL w="6350">
                      <a:solidFill>
                        <a:srgbClr val="D6DCE2"/>
                      </a:solidFill>
                    </a:lnL>
                    <a:lnR w="6350">
                      <a:solidFill>
                        <a:srgbClr val="D6DCE2"/>
                      </a:solidFill>
                    </a:lnR>
                    <a:lnT w="6350">
                      <a:solidFill>
                        <a:srgbClr val="D6DCE2"/>
                      </a:solidFill>
                    </a:lnT>
                    <a:lnB w="6350">
                      <a:solidFill>
                        <a:srgbClr val="D6DCE2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  <a:lnSpc>
                          <a:spcPct val="100000"/>
                        </a:lnSpc>
                      </a:pPr>
                      <a:r>
                        <a:rPr sz="1200" b="0">
                          <a:solidFill>
                            <a:srgbClr val="1C242E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8.58 毫秒</a:t>
                      </a:r>
                    </a:p>
                  </a:txBody>
                  <a:tcPr marL="54864" marR="54864" marT="27432" marB="18288" anchor="ctr">
                    <a:solidFill>
                      <a:srgbClr val="FFFFFF"/>
                    </a:solidFill>
                    <a:lnL w="6350">
                      <a:solidFill>
                        <a:srgbClr val="D6DCE2"/>
                      </a:solidFill>
                    </a:lnL>
                    <a:lnR w="6350">
                      <a:solidFill>
                        <a:srgbClr val="D6DCE2"/>
                      </a:solidFill>
                    </a:lnR>
                    <a:lnT w="6350">
                      <a:solidFill>
                        <a:srgbClr val="D6DCE2"/>
                      </a:solidFill>
                    </a:lnT>
                    <a:lnB w="6350">
                      <a:solidFill>
                        <a:srgbClr val="D6DCE2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  <a:lnSpc>
                          <a:spcPct val="100000"/>
                        </a:lnSpc>
                      </a:pPr>
                      <a:r>
                        <a:rPr sz="1200" b="0">
                          <a:solidFill>
                            <a:srgbClr val="1C242E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3.01 毫秒</a:t>
                      </a:r>
                    </a:p>
                  </a:txBody>
                  <a:tcPr marL="54864" marR="54864" marT="27432" marB="18288" anchor="ctr">
                    <a:solidFill>
                      <a:srgbClr val="FFFFFF"/>
                    </a:solidFill>
                    <a:lnL w="6350">
                      <a:solidFill>
                        <a:srgbClr val="D6DCE2"/>
                      </a:solidFill>
                    </a:lnL>
                    <a:lnR w="6350">
                      <a:solidFill>
                        <a:srgbClr val="D6DCE2"/>
                      </a:solidFill>
                    </a:lnR>
                    <a:lnT w="6350">
                      <a:solidFill>
                        <a:srgbClr val="D6DCE2"/>
                      </a:solidFill>
                    </a:lnT>
                    <a:lnB w="6350">
                      <a:solidFill>
                        <a:srgbClr val="D6DCE2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  <a:lnSpc>
                          <a:spcPct val="100000"/>
                        </a:lnSpc>
                      </a:pPr>
                      <a:r>
                        <a:rPr sz="1200" b="0">
                          <a:solidFill>
                            <a:srgbClr val="1C242E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13.40 毫秒</a:t>
                      </a:r>
                    </a:p>
                  </a:txBody>
                  <a:tcPr marL="54864" marR="54864" marT="27432" marB="18288" anchor="ctr">
                    <a:solidFill>
                      <a:srgbClr val="FFFFFF"/>
                    </a:solidFill>
                    <a:lnL w="6350">
                      <a:solidFill>
                        <a:srgbClr val="D6DCE2"/>
                      </a:solidFill>
                    </a:lnL>
                    <a:lnR w="6350">
                      <a:solidFill>
                        <a:srgbClr val="D6DCE2"/>
                      </a:solidFill>
                    </a:lnR>
                    <a:lnT w="6350">
                      <a:solidFill>
                        <a:srgbClr val="D6DCE2"/>
                      </a:solidFill>
                    </a:lnT>
                    <a:lnB w="6350">
                      <a:solidFill>
                        <a:srgbClr val="D6DCE2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  <a:lnSpc>
                          <a:spcPct val="100000"/>
                        </a:lnSpc>
                      </a:pPr>
                      <a:r>
                        <a:rPr sz="1200" b="0">
                          <a:solidFill>
                            <a:srgbClr val="1C242E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29.99 毫秒</a:t>
                      </a:r>
                    </a:p>
                  </a:txBody>
                  <a:tcPr marL="54864" marR="54864" marT="27432" marB="18288" anchor="ctr">
                    <a:solidFill>
                      <a:srgbClr val="FFFFFF"/>
                    </a:solidFill>
                    <a:lnL w="6350">
                      <a:solidFill>
                        <a:srgbClr val="D6DCE2"/>
                      </a:solidFill>
                    </a:lnL>
                    <a:lnR w="6350">
                      <a:solidFill>
                        <a:srgbClr val="D6DCE2"/>
                      </a:solidFill>
                    </a:lnR>
                    <a:lnT w="6350">
                      <a:solidFill>
                        <a:srgbClr val="D6DCE2"/>
                      </a:solidFill>
                    </a:lnT>
                    <a:lnB w="6350">
                      <a:solidFill>
                        <a:srgbClr val="D6DCE2"/>
                      </a:solidFill>
                    </a:lnB>
                  </a:tcPr>
                </a:tc>
              </a:tr>
            </a:tbl>
          </a:graphicData>
        </a:graphic>
      </p:graphicFrame>
      <p:sp>
        <p:nvSpPr>
          <p:cNvPr id="13" name="Rounded Rectangle 12"/>
          <p:cNvSpPr/>
          <p:nvPr/>
        </p:nvSpPr>
        <p:spPr>
          <a:xfrm>
            <a:off x="384048" y="5522976"/>
            <a:ext cx="11430000" cy="914400"/>
          </a:xfrm>
          <a:prstGeom prst="roundRect">
            <a:avLst/>
          </a:prstGeom>
          <a:solidFill>
            <a:srgbClr val="F8F1E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530352" y="5559552"/>
            <a:ext cx="11137392" cy="841248"/>
          </a:xfrm>
          <a:prstGeom prst="rect">
            <a:avLst/>
          </a:prstGeom>
          <a:noFill/>
        </p:spPr>
        <p:txBody>
          <a:bodyPr wrap="square" lIns="0" rIns="0" tIns="0" bIns="0" anchor="ctr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300" b="0">
                <a:solidFill>
                  <a:srgbClr val="7A541C"/>
                </a:solidFill>
                <a:latin typeface="Microsoft YaHei"/>
                <a:ea typeface="Microsoft YaHei"/>
                <a:cs typeface="Microsoft YaHei"/>
              </a:rPr>
              <a:t>稀疏读不是整段存量：30 层压缩 indexer、31 层 HCA、最多 1024 条完整 latent，再加 4.50 MB。带宽 320 GB/s。</a:t>
            </a:r>
          </a:p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300" b="0">
                <a:solidFill>
                  <a:srgbClr val="7A541C"/>
                </a:solidFill>
                <a:latin typeface="Microsoft YaHei"/>
                <a:ea typeface="Microsoft YaHei"/>
                <a:cs typeface="Microsoft YaHei"/>
              </a:rPr>
              <a:t>10 毫秒到 0.25×10^6 仍全在 HBM，128K 也全在 HBM。这两页只保留溢出大于 0 的长度，后面的分析沿用这个口径。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145A9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84048" y="146304"/>
            <a:ext cx="9692640" cy="256032"/>
          </a:xfrm>
          <a:prstGeom prst="rect">
            <a:avLst/>
          </a:prstGeom>
          <a:noFill/>
        </p:spPr>
        <p:txBody>
          <a:bodyPr wrap="square" lIns="0" rIns="0" tIns="0" bIns="0" anchor="ctr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200" b="1">
                <a:solidFill>
                  <a:srgbClr val="145A96"/>
                </a:solidFill>
                <a:latin typeface="Microsoft YaHei"/>
                <a:ea typeface="Microsoft YaHei"/>
                <a:cs typeface="Microsoft YaHei"/>
              </a:rPr>
              <a:t>公式    ·    共同假设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84048" y="384048"/>
            <a:ext cx="11430000" cy="384048"/>
          </a:xfrm>
          <a:prstGeom prst="rect">
            <a:avLst/>
          </a:prstGeom>
          <a:noFill/>
        </p:spPr>
        <p:txBody>
          <a:bodyPr wrap="square" lIns="0" rIns="0" tIns="0" bIns="0" anchor="ctr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600" b="1">
                <a:solidFill>
                  <a:srgbClr val="0E2A47"/>
                </a:solidFill>
                <a:latin typeface="Microsoft YaHei"/>
                <a:ea typeface="Microsoft YaHei"/>
                <a:cs typeface="Microsoft YaHei"/>
              </a:rPr>
              <a:t>计算口径：只在融合 kernel 与显式流水里计算重叠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424160" y="164592"/>
            <a:ext cx="1371600" cy="237744"/>
          </a:xfrm>
          <a:prstGeom prst="rect">
            <a:avLst/>
          </a:prstGeom>
          <a:noFill/>
        </p:spPr>
        <p:txBody>
          <a:bodyPr wrap="square" lIns="0" rIns="0" tIns="0" bIns="0" anchor="ctr"/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1200" b="0">
                <a:solidFill>
                  <a:srgbClr val="5A636E"/>
                </a:solidFill>
                <a:latin typeface="Microsoft YaHei"/>
                <a:ea typeface="Microsoft YaHei"/>
                <a:cs typeface="Microsoft YaHei"/>
              </a:rPr>
              <a:t>9  /  11</a:t>
            </a:r>
          </a:p>
        </p:txBody>
      </p:sp>
      <p:sp>
        <p:nvSpPr>
          <p:cNvPr id="6" name="Rectangle 5"/>
          <p:cNvSpPr/>
          <p:nvPr/>
        </p:nvSpPr>
        <p:spPr>
          <a:xfrm>
            <a:off x="384048" y="6565392"/>
            <a:ext cx="11430000" cy="9144"/>
          </a:xfrm>
          <a:prstGeom prst="rect">
            <a:avLst/>
          </a:prstGeom>
          <a:solidFill>
            <a:srgbClr val="D6DCE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384048" y="6583680"/>
            <a:ext cx="11430000" cy="219456"/>
          </a:xfrm>
          <a:prstGeom prst="rect">
            <a:avLst/>
          </a:prstGeom>
          <a:noFill/>
        </p:spPr>
        <p:txBody>
          <a:bodyPr wrap="square" lIns="0" rIns="0" tIns="0" bIns="0" anchor="ctr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5A636E"/>
                </a:solidFill>
                <a:latin typeface="Microsoft YaHei"/>
                <a:ea typeface="Microsoft YaHei"/>
                <a:cs typeface="Microsoft YaHei"/>
              </a:rPr>
              <a:t>10T 为外推    ·    96 GB / 486 T、一份 128 卡副本    ·    访存与通信 80%    ·    计算 70%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384048" y="841248"/>
            <a:ext cx="11430000" cy="420624"/>
          </a:xfrm>
          <a:prstGeom prst="roundRect">
            <a:avLst/>
          </a:prstGeom>
          <a:solidFill>
            <a:srgbClr val="E7F3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530352" y="841248"/>
            <a:ext cx="11137392" cy="420624"/>
          </a:xfrm>
          <a:prstGeom prst="rect">
            <a:avLst/>
          </a:prstGeom>
          <a:noFill/>
        </p:spPr>
        <p:txBody>
          <a:bodyPr wrap="square" lIns="0" rIns="0" tIns="0" bIns="0" anchor="ctr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300" b="1">
                <a:solidFill>
                  <a:srgbClr val="0E7A76"/>
                </a:solidFill>
                <a:latin typeface="Microsoft YaHei"/>
                <a:ea typeface="Microsoft YaHei"/>
                <a:cs typeface="Microsoft YaHei"/>
              </a:rPr>
              <a:t>Attention 与 MoE 前后相加。权重/数据读取与本地计算可在融合 kernel 内重叠；通信是否重叠按阶段单独说明。</a:t>
            </a:r>
          </a:p>
        </p:txBody>
      </p:sp>
      <p:graphicFrame>
        <p:nvGraphicFramePr>
          <p:cNvPr id="10" name="Table 9"/>
          <p:cNvGraphicFramePr>
            <a:graphicFrameLocks noGrp="1"/>
          </p:cNvGraphicFramePr>
          <p:nvPr/>
        </p:nvGraphicFramePr>
        <p:xfrm>
          <a:off x="384048" y="1371600"/>
          <a:ext cx="11430000" cy="4023360"/>
        </p:xfrm>
        <a:graphic>
          <a:graphicData uri="http://schemas.openxmlformats.org/drawingml/2006/table">
            <a:tbl>
              <a:tblPr firstRow="1"/>
              <a:tblGrid>
                <a:gridCol w="1508760"/>
                <a:gridCol w="4956048"/>
                <a:gridCol w="4965192"/>
              </a:tblGrid>
              <a:tr h="329184">
                <a:tc>
                  <a:txBody>
                    <a:bodyPr wrap="square"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  <a:lnSpc>
                          <a:spcPct val="100000"/>
                        </a:lnSpc>
                      </a:pPr>
                      <a:r>
                        <a:rPr sz="1200" b="1">
                          <a:solidFill>
                            <a:srgbClr val="FFFFFF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项目</a:t>
                      </a:r>
                    </a:p>
                  </a:txBody>
                  <a:tcPr marL="54864" marR="54864" marT="27432" marB="18288" anchor="ctr">
                    <a:solidFill>
                      <a:srgbClr val="0E2A47"/>
                    </a:solidFill>
                    <a:lnL w="6350">
                      <a:solidFill>
                        <a:srgbClr val="D6DCE2"/>
                      </a:solidFill>
                    </a:lnL>
                    <a:lnR w="6350">
                      <a:solidFill>
                        <a:srgbClr val="D6DCE2"/>
                      </a:solidFill>
                    </a:lnR>
                    <a:lnT w="6350">
                      <a:solidFill>
                        <a:srgbClr val="D6DCE2"/>
                      </a:solidFill>
                    </a:lnT>
                    <a:lnB w="6350">
                      <a:solidFill>
                        <a:srgbClr val="D6DCE2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  <a:lnSpc>
                          <a:spcPct val="100000"/>
                        </a:lnSpc>
                      </a:pPr>
                      <a:r>
                        <a:rPr sz="1200" b="1">
                          <a:solidFill>
                            <a:srgbClr val="FFFFFF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TTFT</a:t>
                      </a:r>
                    </a:p>
                  </a:txBody>
                  <a:tcPr marL="54864" marR="54864" marT="27432" marB="18288" anchor="ctr">
                    <a:solidFill>
                      <a:srgbClr val="0E2A47"/>
                    </a:solidFill>
                    <a:lnL w="6350">
                      <a:solidFill>
                        <a:srgbClr val="D6DCE2"/>
                      </a:solidFill>
                    </a:lnL>
                    <a:lnR w="6350">
                      <a:solidFill>
                        <a:srgbClr val="D6DCE2"/>
                      </a:solidFill>
                    </a:lnR>
                    <a:lnT w="6350">
                      <a:solidFill>
                        <a:srgbClr val="D6DCE2"/>
                      </a:solidFill>
                    </a:lnT>
                    <a:lnB w="6350">
                      <a:solidFill>
                        <a:srgbClr val="D6DCE2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  <a:lnSpc>
                          <a:spcPct val="100000"/>
                        </a:lnSpc>
                      </a:pPr>
                      <a:r>
                        <a:rPr sz="1200" b="1">
                          <a:solidFill>
                            <a:srgbClr val="FFFFFF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TPOT</a:t>
                      </a:r>
                    </a:p>
                  </a:txBody>
                  <a:tcPr marL="54864" marR="54864" marT="27432" marB="18288" anchor="ctr">
                    <a:solidFill>
                      <a:srgbClr val="0E2A47"/>
                    </a:solidFill>
                    <a:lnL w="6350">
                      <a:solidFill>
                        <a:srgbClr val="D6DCE2"/>
                      </a:solidFill>
                    </a:lnL>
                    <a:lnR w="6350">
                      <a:solidFill>
                        <a:srgbClr val="D6DCE2"/>
                      </a:solidFill>
                    </a:lnR>
                    <a:lnT w="6350">
                      <a:solidFill>
                        <a:srgbClr val="D6DCE2"/>
                      </a:solidFill>
                    </a:lnT>
                    <a:lnB w="6350">
                      <a:solidFill>
                        <a:srgbClr val="D6DCE2"/>
                      </a:solidFill>
                    </a:lnB>
                  </a:tcPr>
                </a:tc>
              </a:tr>
              <a:tr h="512064">
                <a:tc>
                  <a:txBody>
                    <a:bodyPr wrap="square"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  <a:lnSpc>
                          <a:spcPct val="100000"/>
                        </a:lnSpc>
                      </a:pPr>
                      <a:r>
                        <a:rPr sz="1200" b="1">
                          <a:solidFill>
                            <a:srgbClr val="0E2A47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并行域</a:t>
                      </a:r>
                    </a:p>
                  </a:txBody>
                  <a:tcPr marL="54864" marR="54864" marT="27432" marB="18288" anchor="ctr">
                    <a:solidFill>
                      <a:srgbClr val="F4F7FA"/>
                    </a:solidFill>
                    <a:lnL w="6350">
                      <a:solidFill>
                        <a:srgbClr val="D6DCE2"/>
                      </a:solidFill>
                    </a:lnL>
                    <a:lnR w="6350">
                      <a:solidFill>
                        <a:srgbClr val="D6DCE2"/>
                      </a:solidFill>
                    </a:lnR>
                    <a:lnT w="6350">
                      <a:solidFill>
                        <a:srgbClr val="D6DCE2"/>
                      </a:solidFill>
                    </a:lnT>
                    <a:lnB w="6350">
                      <a:solidFill>
                        <a:srgbClr val="D6DCE2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  <a:lnSpc>
                          <a:spcPct val="100000"/>
                        </a:lnSpc>
                      </a:pPr>
                      <a:r>
                        <a:rPr sz="1200" b="0">
                          <a:solidFill>
                            <a:srgbClr val="1C242E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Attention TP=8、DP=16；MoE EP=128</a:t>
                      </a:r>
                    </a:p>
                  </a:txBody>
                  <a:tcPr marL="54864" marR="54864" marT="27432" marB="18288" anchor="ctr">
                    <a:solidFill>
                      <a:srgbClr val="FFFFFF"/>
                    </a:solidFill>
                    <a:lnL w="6350">
                      <a:solidFill>
                        <a:srgbClr val="D6DCE2"/>
                      </a:solidFill>
                    </a:lnL>
                    <a:lnR w="6350">
                      <a:solidFill>
                        <a:srgbClr val="D6DCE2"/>
                      </a:solidFill>
                    </a:lnR>
                    <a:lnT w="6350">
                      <a:solidFill>
                        <a:srgbClr val="D6DCE2"/>
                      </a:solidFill>
                    </a:lnT>
                    <a:lnB w="6350">
                      <a:solidFill>
                        <a:srgbClr val="D6DCE2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  <a:lnSpc>
                          <a:spcPct val="100000"/>
                        </a:lnSpc>
                      </a:pPr>
                      <a:r>
                        <a:rPr sz="1200" b="0">
                          <a:solidFill>
                            <a:srgbClr val="1C242E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同左；最忙 TP 组 n=⌈BS/16⌉</a:t>
                      </a:r>
                    </a:p>
                  </a:txBody>
                  <a:tcPr marL="54864" marR="54864" marT="27432" marB="18288" anchor="ctr">
                    <a:solidFill>
                      <a:srgbClr val="FFFFFF"/>
                    </a:solidFill>
                    <a:lnL w="6350">
                      <a:solidFill>
                        <a:srgbClr val="D6DCE2"/>
                      </a:solidFill>
                    </a:lnL>
                    <a:lnR w="6350">
                      <a:solidFill>
                        <a:srgbClr val="D6DCE2"/>
                      </a:solidFill>
                    </a:lnR>
                    <a:lnT w="6350">
                      <a:solidFill>
                        <a:srgbClr val="D6DCE2"/>
                      </a:solidFill>
                    </a:lnT>
                    <a:lnB w="6350">
                      <a:solidFill>
                        <a:srgbClr val="D6DCE2"/>
                      </a:solidFill>
                    </a:lnB>
                  </a:tcPr>
                </a:tc>
              </a:tr>
              <a:tr h="530352">
                <a:tc>
                  <a:txBody>
                    <a:bodyPr wrap="square"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  <a:lnSpc>
                          <a:spcPct val="100000"/>
                        </a:lnSpc>
                      </a:pPr>
                      <a:r>
                        <a:rPr sz="1200" b="1">
                          <a:solidFill>
                            <a:srgbClr val="0E2A47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Attention</a:t>
                      </a:r>
                    </a:p>
                  </a:txBody>
                  <a:tcPr marL="54864" marR="54864" marT="27432" marB="18288" anchor="ctr">
                    <a:solidFill>
                      <a:srgbClr val="F4F7FA"/>
                    </a:solidFill>
                    <a:lnL w="6350">
                      <a:solidFill>
                        <a:srgbClr val="D6DCE2"/>
                      </a:solidFill>
                    </a:lnL>
                    <a:lnR w="6350">
                      <a:solidFill>
                        <a:srgbClr val="D6DCE2"/>
                      </a:solidFill>
                    </a:lnR>
                    <a:lnT w="6350">
                      <a:solidFill>
                        <a:srgbClr val="D6DCE2"/>
                      </a:solidFill>
                    </a:lnT>
                    <a:lnB w="6350">
                      <a:solidFill>
                        <a:srgbClr val="D6DCE2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  <a:lnSpc>
                          <a:spcPct val="100000"/>
                        </a:lnSpc>
                      </a:pPr>
                      <a:r>
                        <a:rPr sz="1200" b="0">
                          <a:solidFill>
                            <a:srgbClr val="1C242E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拉 prefix、融合 kernel、AR 跨 query chunk 流水，取瓶颈</a:t>
                      </a:r>
                    </a:p>
                  </a:txBody>
                  <a:tcPr marL="54864" marR="54864" marT="27432" marB="18288" anchor="ctr">
                    <a:solidFill>
                      <a:srgbClr val="FFFFFF"/>
                    </a:solidFill>
                    <a:lnL w="6350">
                      <a:solidFill>
                        <a:srgbClr val="D6DCE2"/>
                      </a:solidFill>
                    </a:lnL>
                    <a:lnR w="6350">
                      <a:solidFill>
                        <a:srgbClr val="D6DCE2"/>
                      </a:solidFill>
                    </a:lnR>
                    <a:lnT w="6350">
                      <a:solidFill>
                        <a:srgbClr val="D6DCE2"/>
                      </a:solidFill>
                    </a:lnT>
                    <a:lnB w="6350">
                      <a:solidFill>
                        <a:srgbClr val="D6DCE2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  <a:lnSpc>
                          <a:spcPct val="100000"/>
                        </a:lnSpc>
                      </a:pPr>
                      <a:r>
                        <a:rPr sz="1200" b="0">
                          <a:solidFill>
                            <a:srgbClr val="1C242E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SWAP 在前；融合 kernel 后再加 AR</a:t>
                      </a:r>
                    </a:p>
                  </a:txBody>
                  <a:tcPr marL="54864" marR="54864" marT="27432" marB="18288" anchor="ctr">
                    <a:solidFill>
                      <a:srgbClr val="FFFFFF"/>
                    </a:solidFill>
                    <a:lnL w="6350">
                      <a:solidFill>
                        <a:srgbClr val="D6DCE2"/>
                      </a:solidFill>
                    </a:lnL>
                    <a:lnR w="6350">
                      <a:solidFill>
                        <a:srgbClr val="D6DCE2"/>
                      </a:solidFill>
                    </a:lnR>
                    <a:lnT w="6350">
                      <a:solidFill>
                        <a:srgbClr val="D6DCE2"/>
                      </a:solidFill>
                    </a:lnT>
                    <a:lnB w="6350">
                      <a:solidFill>
                        <a:srgbClr val="D6DCE2"/>
                      </a:solidFill>
                    </a:lnB>
                  </a:tcPr>
                </a:tc>
              </a:tr>
              <a:tr h="530352">
                <a:tc>
                  <a:txBody>
                    <a:bodyPr wrap="square"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  <a:lnSpc>
                          <a:spcPct val="100000"/>
                        </a:lnSpc>
                      </a:pPr>
                      <a:r>
                        <a:rPr sz="1200" b="1">
                          <a:solidFill>
                            <a:srgbClr val="0E7A76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MoE</a:t>
                      </a:r>
                    </a:p>
                  </a:txBody>
                  <a:tcPr marL="54864" marR="54864" marT="27432" marB="18288" anchor="ctr">
                    <a:solidFill>
                      <a:srgbClr val="F4F7FA"/>
                    </a:solidFill>
                    <a:lnL w="6350">
                      <a:solidFill>
                        <a:srgbClr val="D6DCE2"/>
                      </a:solidFill>
                    </a:lnL>
                    <a:lnR w="6350">
                      <a:solidFill>
                        <a:srgbClr val="D6DCE2"/>
                      </a:solidFill>
                    </a:lnR>
                    <a:lnT w="6350">
                      <a:solidFill>
                        <a:srgbClr val="D6DCE2"/>
                      </a:solidFill>
                    </a:lnT>
                    <a:lnB w="6350">
                      <a:solidFill>
                        <a:srgbClr val="D6DCE2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  <a:lnSpc>
                          <a:spcPct val="100000"/>
                        </a:lnSpc>
                      </a:pPr>
                      <a:r>
                        <a:rPr sz="1200" b="1">
                          <a:solidFill>
                            <a:srgbClr val="0E7A76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dispatch + max(权重, GEMM) + combine</a:t>
                      </a:r>
                    </a:p>
                  </a:txBody>
                  <a:tcPr marL="54864" marR="54864" marT="27432" marB="18288" anchor="ctr">
                    <a:solidFill>
                      <a:srgbClr val="E7F3F2"/>
                    </a:solidFill>
                    <a:lnL w="6350">
                      <a:solidFill>
                        <a:srgbClr val="D6DCE2"/>
                      </a:solidFill>
                    </a:lnL>
                    <a:lnR w="6350">
                      <a:solidFill>
                        <a:srgbClr val="D6DCE2"/>
                      </a:solidFill>
                    </a:lnR>
                    <a:lnT w="6350">
                      <a:solidFill>
                        <a:srgbClr val="D6DCE2"/>
                      </a:solidFill>
                    </a:lnT>
                    <a:lnB w="6350">
                      <a:solidFill>
                        <a:srgbClr val="D6DCE2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  <a:lnSpc>
                          <a:spcPct val="100000"/>
                        </a:lnSpc>
                      </a:pPr>
                      <a:r>
                        <a:rPr sz="1200" b="1">
                          <a:solidFill>
                            <a:srgbClr val="0E7A76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同左；两个 EP 方向分别统计</a:t>
                      </a:r>
                    </a:p>
                  </a:txBody>
                  <a:tcPr marL="54864" marR="54864" marT="27432" marB="18288" anchor="ctr">
                    <a:solidFill>
                      <a:srgbClr val="E7F3F2"/>
                    </a:solidFill>
                    <a:lnL w="6350">
                      <a:solidFill>
                        <a:srgbClr val="D6DCE2"/>
                      </a:solidFill>
                    </a:lnL>
                    <a:lnR w="6350">
                      <a:solidFill>
                        <a:srgbClr val="D6DCE2"/>
                      </a:solidFill>
                    </a:lnR>
                    <a:lnT w="6350">
                      <a:solidFill>
                        <a:srgbClr val="D6DCE2"/>
                      </a:solidFill>
                    </a:lnT>
                    <a:lnB w="6350">
                      <a:solidFill>
                        <a:srgbClr val="D6DCE2"/>
                      </a:solidFill>
                    </a:lnB>
                  </a:tcPr>
                </a:tc>
              </a:tr>
              <a:tr h="530352">
                <a:tc>
                  <a:txBody>
                    <a:bodyPr wrap="square"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  <a:lnSpc>
                          <a:spcPct val="100000"/>
                        </a:lnSpc>
                      </a:pPr>
                      <a:r>
                        <a:rPr sz="1200" b="1">
                          <a:solidFill>
                            <a:srgbClr val="0E2A47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KV 位置</a:t>
                      </a:r>
                    </a:p>
                  </a:txBody>
                  <a:tcPr marL="54864" marR="54864" marT="27432" marB="18288" anchor="ctr">
                    <a:solidFill>
                      <a:srgbClr val="F4F7FA"/>
                    </a:solidFill>
                    <a:lnL w="6350">
                      <a:solidFill>
                        <a:srgbClr val="D6DCE2"/>
                      </a:solidFill>
                    </a:lnL>
                    <a:lnR w="6350">
                      <a:solidFill>
                        <a:srgbClr val="D6DCE2"/>
                      </a:solidFill>
                    </a:lnR>
                    <a:lnT w="6350">
                      <a:solidFill>
                        <a:srgbClr val="D6DCE2"/>
                      </a:solidFill>
                    </a:lnT>
                    <a:lnB w="6350">
                      <a:solidFill>
                        <a:srgbClr val="D6DCE2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  <a:lnSpc>
                          <a:spcPct val="100000"/>
                        </a:lnSpc>
                      </a:pPr>
                      <a:r>
                        <a:rPr sz="1200" b="0">
                          <a:solidFill>
                            <a:srgbClr val="1C242E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90% prefix 在主机 DDR；Decode 没有副本</a:t>
                      </a:r>
                    </a:p>
                  </a:txBody>
                  <a:tcPr marL="54864" marR="54864" marT="27432" marB="18288" anchor="ctr">
                    <a:solidFill>
                      <a:srgbClr val="FFFFFF"/>
                    </a:solidFill>
                    <a:lnL w="6350">
                      <a:solidFill>
                        <a:srgbClr val="D6DCE2"/>
                      </a:solidFill>
                    </a:lnL>
                    <a:lnR w="6350">
                      <a:solidFill>
                        <a:srgbClr val="D6DCE2"/>
                      </a:solidFill>
                    </a:lnR>
                    <a:lnT w="6350">
                      <a:solidFill>
                        <a:srgbClr val="D6DCE2"/>
                      </a:solidFill>
                    </a:lnT>
                    <a:lnB w="6350">
                      <a:solidFill>
                        <a:srgbClr val="D6DCE2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  <a:lnSpc>
                          <a:spcPct val="100000"/>
                        </a:lnSpc>
                      </a:pPr>
                      <a:r>
                        <a:rPr sz="1200" b="0">
                          <a:solidFill>
                            <a:srgbClr val="1C242E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HBM 放不下先从 DDR 池写回 HBM</a:t>
                      </a:r>
                    </a:p>
                  </a:txBody>
                  <a:tcPr marL="54864" marR="54864" marT="27432" marB="18288" anchor="ctr">
                    <a:solidFill>
                      <a:srgbClr val="FFFFFF"/>
                    </a:solidFill>
                    <a:lnL w="6350">
                      <a:solidFill>
                        <a:srgbClr val="D6DCE2"/>
                      </a:solidFill>
                    </a:lnL>
                    <a:lnR w="6350">
                      <a:solidFill>
                        <a:srgbClr val="D6DCE2"/>
                      </a:solidFill>
                    </a:lnR>
                    <a:lnT w="6350">
                      <a:solidFill>
                        <a:srgbClr val="D6DCE2"/>
                      </a:solidFill>
                    </a:lnT>
                    <a:lnB w="6350">
                      <a:solidFill>
                        <a:srgbClr val="D6DCE2"/>
                      </a:solidFill>
                    </a:lnB>
                  </a:tcPr>
                </a:tc>
              </a:tr>
              <a:tr h="530352">
                <a:tc>
                  <a:txBody>
                    <a:bodyPr wrap="square"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  <a:lnSpc>
                          <a:spcPct val="100000"/>
                        </a:lnSpc>
                      </a:pPr>
                      <a:r>
                        <a:rPr sz="1200" b="1">
                          <a:solidFill>
                            <a:srgbClr val="0E2A47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P→D</a:t>
                      </a:r>
                    </a:p>
                  </a:txBody>
                  <a:tcPr marL="54864" marR="54864" marT="27432" marB="18288" anchor="ctr">
                    <a:solidFill>
                      <a:srgbClr val="F4F7FA"/>
                    </a:solidFill>
                    <a:lnL w="6350">
                      <a:solidFill>
                        <a:srgbClr val="D6DCE2"/>
                      </a:solidFill>
                    </a:lnL>
                    <a:lnR w="6350">
                      <a:solidFill>
                        <a:srgbClr val="D6DCE2"/>
                      </a:solidFill>
                    </a:lnR>
                    <a:lnT w="6350">
                      <a:solidFill>
                        <a:srgbClr val="D6DCE2"/>
                      </a:solidFill>
                    </a:lnT>
                    <a:lnB w="6350">
                      <a:solidFill>
                        <a:srgbClr val="D6DCE2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  <a:lnSpc>
                          <a:spcPct val="100000"/>
                        </a:lnSpc>
                      </a:pPr>
                      <a:r>
                        <a:rPr sz="1200" b="0">
                          <a:solidFill>
                            <a:srgbClr val="1C242E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完整 KV 按层发送；只加未被后续计算隐藏的尾巴</a:t>
                      </a:r>
                    </a:p>
                  </a:txBody>
                  <a:tcPr marL="54864" marR="54864" marT="27432" marB="18288" anchor="ctr">
                    <a:solidFill>
                      <a:srgbClr val="FFFFFF"/>
                    </a:solidFill>
                    <a:lnL w="6350">
                      <a:solidFill>
                        <a:srgbClr val="D6DCE2"/>
                      </a:solidFill>
                    </a:lnL>
                    <a:lnR w="6350">
                      <a:solidFill>
                        <a:srgbClr val="D6DCE2"/>
                      </a:solidFill>
                    </a:lnR>
                    <a:lnT w="6350">
                      <a:solidFill>
                        <a:srgbClr val="D6DCE2"/>
                      </a:solidFill>
                    </a:lnT>
                    <a:lnB w="6350">
                      <a:solidFill>
                        <a:srgbClr val="D6DCE2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  <a:lnSpc>
                          <a:spcPct val="100000"/>
                        </a:lnSpc>
                      </a:pPr>
                      <a:r>
                        <a:rPr sz="1200" b="0">
                          <a:solidFill>
                            <a:srgbClr val="1C242E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不进入单步 TPOT</a:t>
                      </a:r>
                    </a:p>
                  </a:txBody>
                  <a:tcPr marL="54864" marR="54864" marT="27432" marB="18288" anchor="ctr">
                    <a:solidFill>
                      <a:srgbClr val="FFFFFF"/>
                    </a:solidFill>
                    <a:lnL w="6350">
                      <a:solidFill>
                        <a:srgbClr val="D6DCE2"/>
                      </a:solidFill>
                    </a:lnL>
                    <a:lnR w="6350">
                      <a:solidFill>
                        <a:srgbClr val="D6DCE2"/>
                      </a:solidFill>
                    </a:lnR>
                    <a:lnT w="6350">
                      <a:solidFill>
                        <a:srgbClr val="D6DCE2"/>
                      </a:solidFill>
                    </a:lnT>
                    <a:lnB w="6350">
                      <a:solidFill>
                        <a:srgbClr val="D6DCE2"/>
                      </a:solidFill>
                    </a:lnB>
                  </a:tcPr>
                </a:tc>
              </a:tr>
              <a:tr h="530352">
                <a:tc>
                  <a:txBody>
                    <a:bodyPr wrap="square"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  <a:lnSpc>
                          <a:spcPct val="100000"/>
                        </a:lnSpc>
                      </a:pPr>
                      <a:r>
                        <a:rPr sz="1200" b="1">
                          <a:solidFill>
                            <a:srgbClr val="0E2A47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负载</a:t>
                      </a:r>
                    </a:p>
                  </a:txBody>
                  <a:tcPr marL="54864" marR="54864" marT="27432" marB="18288" anchor="ctr">
                    <a:solidFill>
                      <a:srgbClr val="F4F7FA"/>
                    </a:solidFill>
                    <a:lnL w="6350">
                      <a:solidFill>
                        <a:srgbClr val="D6DCE2"/>
                      </a:solidFill>
                    </a:lnL>
                    <a:lnR w="6350">
                      <a:solidFill>
                        <a:srgbClr val="D6DCE2"/>
                      </a:solidFill>
                    </a:lnR>
                    <a:lnT w="6350">
                      <a:solidFill>
                        <a:srgbClr val="D6DCE2"/>
                      </a:solidFill>
                    </a:lnT>
                    <a:lnB w="6350">
                      <a:solidFill>
                        <a:srgbClr val="D6DCE2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  <a:lnSpc>
                          <a:spcPct val="100000"/>
                        </a:lnSpc>
                      </a:pPr>
                      <a:r>
                        <a:rPr sz="1200" b="0">
                          <a:solidFill>
                            <a:srgbClr val="1C242E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Attention 按 TP=8；MoE 取最忙 EP 卡，逐专家 16 行 padding</a:t>
                      </a:r>
                    </a:p>
                  </a:txBody>
                  <a:tcPr marL="54864" marR="54864" marT="27432" marB="18288" anchor="ctr">
                    <a:solidFill>
                      <a:srgbClr val="FFFFFF"/>
                    </a:solidFill>
                    <a:lnL w="6350">
                      <a:solidFill>
                        <a:srgbClr val="D6DCE2"/>
                      </a:solidFill>
                    </a:lnL>
                    <a:lnR w="6350">
                      <a:solidFill>
                        <a:srgbClr val="D6DCE2"/>
                      </a:solidFill>
                    </a:lnR>
                    <a:lnT w="6350">
                      <a:solidFill>
                        <a:srgbClr val="D6DCE2"/>
                      </a:solidFill>
                    </a:lnT>
                    <a:lnB w="6350">
                      <a:solidFill>
                        <a:srgbClr val="D6DCE2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  <a:lnSpc>
                          <a:spcPct val="100000"/>
                        </a:lnSpc>
                      </a:pPr>
                      <a:r>
                        <a:rPr sz="1200" b="0">
                          <a:solidFill>
                            <a:srgbClr val="1C242E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同左</a:t>
                      </a:r>
                    </a:p>
                  </a:txBody>
                  <a:tcPr marL="54864" marR="54864" marT="27432" marB="18288" anchor="ctr">
                    <a:solidFill>
                      <a:srgbClr val="FFFFFF"/>
                    </a:solidFill>
                    <a:lnL w="6350">
                      <a:solidFill>
                        <a:srgbClr val="D6DCE2"/>
                      </a:solidFill>
                    </a:lnL>
                    <a:lnR w="6350">
                      <a:solidFill>
                        <a:srgbClr val="D6DCE2"/>
                      </a:solidFill>
                    </a:lnR>
                    <a:lnT w="6350">
                      <a:solidFill>
                        <a:srgbClr val="D6DCE2"/>
                      </a:solidFill>
                    </a:lnT>
                    <a:lnB w="6350">
                      <a:solidFill>
                        <a:srgbClr val="D6DCE2"/>
                      </a:solidFill>
                    </a:lnB>
                  </a:tcPr>
                </a:tc>
              </a:tr>
              <a:tr h="530352">
                <a:tc>
                  <a:txBody>
                    <a:bodyPr wrap="square"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  <a:lnSpc>
                          <a:spcPct val="100000"/>
                        </a:lnSpc>
                      </a:pPr>
                      <a:r>
                        <a:rPr sz="1200" b="1">
                          <a:solidFill>
                            <a:srgbClr val="1C242E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固定开销</a:t>
                      </a:r>
                    </a:p>
                  </a:txBody>
                  <a:tcPr marL="54864" marR="54864" marT="27432" marB="18288" anchor="ctr">
                    <a:solidFill>
                      <a:srgbClr val="F4F7FA"/>
                    </a:solidFill>
                    <a:lnL w="6350">
                      <a:solidFill>
                        <a:srgbClr val="D6DCE2"/>
                      </a:solidFill>
                    </a:lnL>
                    <a:lnR w="6350">
                      <a:solidFill>
                        <a:srgbClr val="D6DCE2"/>
                      </a:solidFill>
                    </a:lnR>
                    <a:lnT w="6350">
                      <a:solidFill>
                        <a:srgbClr val="D6DCE2"/>
                      </a:solidFill>
                    </a:lnT>
                    <a:lnB w="6350">
                      <a:solidFill>
                        <a:srgbClr val="D6DCE2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  <a:lnSpc>
                          <a:spcPct val="100000"/>
                        </a:lnSpc>
                      </a:pPr>
                      <a:r>
                        <a:rPr sz="1200" b="0">
                          <a:solidFill>
                            <a:srgbClr val="1C242E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不伪造数值；单列为未计入项</a:t>
                      </a:r>
                    </a:p>
                  </a:txBody>
                  <a:tcPr marL="54864" marR="54864" marT="27432" marB="18288" anchor="ctr">
                    <a:solidFill>
                      <a:srgbClr val="F8F1E4"/>
                    </a:solidFill>
                    <a:lnL w="6350">
                      <a:solidFill>
                        <a:srgbClr val="D6DCE2"/>
                      </a:solidFill>
                    </a:lnL>
                    <a:lnR w="6350">
                      <a:solidFill>
                        <a:srgbClr val="D6DCE2"/>
                      </a:solidFill>
                    </a:lnR>
                    <a:lnT w="6350">
                      <a:solidFill>
                        <a:srgbClr val="D6DCE2"/>
                      </a:solidFill>
                    </a:lnT>
                    <a:lnB w="6350">
                      <a:solidFill>
                        <a:srgbClr val="D6DCE2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  <a:lnSpc>
                          <a:spcPct val="100000"/>
                        </a:lnSpc>
                      </a:pPr>
                      <a:r>
                        <a:rPr sz="1200" b="0">
                          <a:solidFill>
                            <a:srgbClr val="1C242E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不伪造数值；SLO 结果是数据面理论上限</a:t>
                      </a:r>
                    </a:p>
                  </a:txBody>
                  <a:tcPr marL="54864" marR="54864" marT="27432" marB="18288" anchor="ctr">
                    <a:solidFill>
                      <a:srgbClr val="F8F1E4"/>
                    </a:solidFill>
                    <a:lnL w="6350">
                      <a:solidFill>
                        <a:srgbClr val="D6DCE2"/>
                      </a:solidFill>
                    </a:lnL>
                    <a:lnR w="6350">
                      <a:solidFill>
                        <a:srgbClr val="D6DCE2"/>
                      </a:solidFill>
                    </a:lnR>
                    <a:lnT w="6350">
                      <a:solidFill>
                        <a:srgbClr val="D6DCE2"/>
                      </a:solidFill>
                    </a:lnT>
                    <a:lnB w="6350">
                      <a:solidFill>
                        <a:srgbClr val="D6DCE2"/>
                      </a:solidFill>
                    </a:lnB>
                  </a:tcPr>
                </a:tc>
              </a:tr>
            </a:tbl>
          </a:graphicData>
        </a:graphic>
      </p:graphicFrame>
      <p:sp>
        <p:nvSpPr>
          <p:cNvPr id="11" name="Rounded Rectangle 10"/>
          <p:cNvSpPr/>
          <p:nvPr/>
        </p:nvSpPr>
        <p:spPr>
          <a:xfrm>
            <a:off x="384048" y="5705856"/>
            <a:ext cx="11430000" cy="713232"/>
          </a:xfrm>
          <a:prstGeom prst="roundRect">
            <a:avLst/>
          </a:prstGeom>
          <a:solidFill>
            <a:srgbClr val="F8F1E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30352" y="5742432"/>
            <a:ext cx="11137392" cy="640080"/>
          </a:xfrm>
          <a:prstGeom prst="rect">
            <a:avLst/>
          </a:prstGeom>
          <a:noFill/>
        </p:spPr>
        <p:txBody>
          <a:bodyPr wrap="square" lIns="0" rIns="0" tIns="0" bIns="0" anchor="ctr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200" b="0">
                <a:solidFill>
                  <a:srgbClr val="7A541C"/>
                </a:solidFill>
                <a:latin typeface="Microsoft YaHei"/>
                <a:ea typeface="Microsoft YaHei"/>
                <a:cs typeface="Microsoft YaHei"/>
              </a:rPr>
              <a:t>固定开销 = 调度 + kernel 启动 + collective 启动 + RMSNorm / RoPE / Router / 激活 / residual + logits / sampling + P/D 控制。当前没有实测值，不并入 BS 摸高；生产 SLO 必须从 10/30 毫秒预算里另留余量。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145A9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84048" y="146304"/>
            <a:ext cx="9692640" cy="256032"/>
          </a:xfrm>
          <a:prstGeom prst="rect">
            <a:avLst/>
          </a:prstGeom>
          <a:noFill/>
        </p:spPr>
        <p:txBody>
          <a:bodyPr wrap="square" lIns="0" rIns="0" tIns="0" bIns="0" anchor="ctr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200" b="1">
                <a:solidFill>
                  <a:srgbClr val="145A96"/>
                </a:solidFill>
                <a:latin typeface="Microsoft YaHei"/>
                <a:ea typeface="Microsoft YaHei"/>
                <a:cs typeface="Microsoft YaHei"/>
              </a:rPr>
              <a:t>公式    ·    TTFT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84048" y="384048"/>
            <a:ext cx="11430000" cy="384048"/>
          </a:xfrm>
          <a:prstGeom prst="rect">
            <a:avLst/>
          </a:prstGeom>
          <a:noFill/>
        </p:spPr>
        <p:txBody>
          <a:bodyPr wrap="square" lIns="0" rIns="0" tIns="0" bIns="0" anchor="ctr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600" b="1">
                <a:solidFill>
                  <a:srgbClr val="0E2A47"/>
                </a:solidFill>
                <a:latin typeface="Microsoft YaHei"/>
                <a:ea typeface="Microsoft YaHei"/>
                <a:cs typeface="Microsoft YaHei"/>
              </a:rPr>
              <a:t>TTFT = Attention + MoE + P→D 尾时延 + 固定开销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424160" y="164592"/>
            <a:ext cx="1371600" cy="237744"/>
          </a:xfrm>
          <a:prstGeom prst="rect">
            <a:avLst/>
          </a:prstGeom>
          <a:noFill/>
        </p:spPr>
        <p:txBody>
          <a:bodyPr wrap="square" lIns="0" rIns="0" tIns="0" bIns="0" anchor="ctr"/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1200" b="0">
                <a:solidFill>
                  <a:srgbClr val="5A636E"/>
                </a:solidFill>
                <a:latin typeface="Microsoft YaHei"/>
                <a:ea typeface="Microsoft YaHei"/>
                <a:cs typeface="Microsoft YaHei"/>
              </a:rPr>
              <a:t>10  /  11</a:t>
            </a:r>
          </a:p>
        </p:txBody>
      </p:sp>
      <p:sp>
        <p:nvSpPr>
          <p:cNvPr id="6" name="Rectangle 5"/>
          <p:cNvSpPr/>
          <p:nvPr/>
        </p:nvSpPr>
        <p:spPr>
          <a:xfrm>
            <a:off x="384048" y="6565392"/>
            <a:ext cx="11430000" cy="9144"/>
          </a:xfrm>
          <a:prstGeom prst="rect">
            <a:avLst/>
          </a:prstGeom>
          <a:solidFill>
            <a:srgbClr val="D6DCE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384048" y="6583680"/>
            <a:ext cx="11430000" cy="219456"/>
          </a:xfrm>
          <a:prstGeom prst="rect">
            <a:avLst/>
          </a:prstGeom>
          <a:noFill/>
        </p:spPr>
        <p:txBody>
          <a:bodyPr wrap="square" lIns="0" rIns="0" tIns="0" bIns="0" anchor="ctr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5A636E"/>
                </a:solidFill>
                <a:latin typeface="Microsoft YaHei"/>
                <a:ea typeface="Microsoft YaHei"/>
                <a:cs typeface="Microsoft YaHei"/>
              </a:rPr>
              <a:t>10T 为外推    ·    96 GB / 486 T、一份 128 卡副本    ·    访存与通信 80%    ·    计算 70%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384048" y="841248"/>
            <a:ext cx="11430000" cy="420624"/>
          </a:xfrm>
          <a:prstGeom prst="roundRect">
            <a:avLst/>
          </a:prstGeom>
          <a:solidFill>
            <a:srgbClr val="E7F3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530352" y="841248"/>
            <a:ext cx="11137392" cy="420624"/>
          </a:xfrm>
          <a:prstGeom prst="rect">
            <a:avLst/>
          </a:prstGeom>
          <a:noFill/>
        </p:spPr>
        <p:txBody>
          <a:bodyPr wrap="square" lIns="0" rIns="0" tIns="0" bIns="0" anchor="ctr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400" b="1">
                <a:solidFill>
                  <a:srgbClr val="0E7A76"/>
                </a:solidFill>
                <a:latin typeface="Microsoft YaHei"/>
                <a:ea typeface="Microsoft YaHei"/>
                <a:cs typeface="Microsoft YaHei"/>
              </a:rPr>
              <a:t>本页所有时间已经包含完整 61 层。90% prefix 在主机 DDR，Decode 没有副本。</a:t>
            </a:r>
          </a:p>
        </p:txBody>
      </p:sp>
      <p:graphicFrame>
        <p:nvGraphicFramePr>
          <p:cNvPr id="10" name="Table 9"/>
          <p:cNvGraphicFramePr>
            <a:graphicFrameLocks noGrp="1"/>
          </p:cNvGraphicFramePr>
          <p:nvPr/>
        </p:nvGraphicFramePr>
        <p:xfrm>
          <a:off x="384048" y="1353312"/>
          <a:ext cx="11430000" cy="3895344"/>
        </p:xfrm>
        <a:graphic>
          <a:graphicData uri="http://schemas.openxmlformats.org/drawingml/2006/table">
            <a:tbl>
              <a:tblPr firstRow="1"/>
              <a:tblGrid>
                <a:gridCol w="1554480"/>
                <a:gridCol w="5623560"/>
                <a:gridCol w="4251960"/>
              </a:tblGrid>
              <a:tr h="310896">
                <a:tc>
                  <a:txBody>
                    <a:bodyPr wrap="square"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  <a:lnSpc>
                          <a:spcPct val="100000"/>
                        </a:lnSpc>
                      </a:pPr>
                      <a:r>
                        <a:rPr sz="1200" b="1">
                          <a:solidFill>
                            <a:srgbClr val="FFFFFF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部分</a:t>
                      </a:r>
                    </a:p>
                  </a:txBody>
                  <a:tcPr marL="54864" marR="54864" marT="27432" marB="18288" anchor="ctr">
                    <a:solidFill>
                      <a:srgbClr val="0E2A47"/>
                    </a:solidFill>
                    <a:lnL w="6350">
                      <a:solidFill>
                        <a:srgbClr val="D6DCE2"/>
                      </a:solidFill>
                    </a:lnL>
                    <a:lnR w="6350">
                      <a:solidFill>
                        <a:srgbClr val="D6DCE2"/>
                      </a:solidFill>
                    </a:lnR>
                    <a:lnT w="6350">
                      <a:solidFill>
                        <a:srgbClr val="D6DCE2"/>
                      </a:solidFill>
                    </a:lnT>
                    <a:lnB w="6350">
                      <a:solidFill>
                        <a:srgbClr val="D6DCE2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  <a:lnSpc>
                          <a:spcPct val="100000"/>
                        </a:lnSpc>
                      </a:pPr>
                      <a:r>
                        <a:rPr sz="1200" b="1">
                          <a:solidFill>
                            <a:srgbClr val="FFFFFF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公式</a:t>
                      </a:r>
                    </a:p>
                  </a:txBody>
                  <a:tcPr marL="54864" marR="54864" marT="27432" marB="18288" anchor="ctr">
                    <a:solidFill>
                      <a:srgbClr val="0E2A47"/>
                    </a:solidFill>
                    <a:lnL w="6350">
                      <a:solidFill>
                        <a:srgbClr val="D6DCE2"/>
                      </a:solidFill>
                    </a:lnL>
                    <a:lnR w="6350">
                      <a:solidFill>
                        <a:srgbClr val="D6DCE2"/>
                      </a:solidFill>
                    </a:lnR>
                    <a:lnT w="6350">
                      <a:solidFill>
                        <a:srgbClr val="D6DCE2"/>
                      </a:solidFill>
                    </a:lnT>
                    <a:lnB w="6350">
                      <a:solidFill>
                        <a:srgbClr val="D6DCE2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  <a:lnSpc>
                          <a:spcPct val="100000"/>
                        </a:lnSpc>
                      </a:pPr>
                      <a:r>
                        <a:rPr sz="1200" b="1">
                          <a:solidFill>
                            <a:srgbClr val="FFFFFF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注释</a:t>
                      </a:r>
                    </a:p>
                  </a:txBody>
                  <a:tcPr marL="54864" marR="54864" marT="27432" marB="18288" anchor="ctr">
                    <a:solidFill>
                      <a:srgbClr val="0E2A47"/>
                    </a:solidFill>
                    <a:lnL w="6350">
                      <a:solidFill>
                        <a:srgbClr val="D6DCE2"/>
                      </a:solidFill>
                    </a:lnL>
                    <a:lnR w="6350">
                      <a:solidFill>
                        <a:srgbClr val="D6DCE2"/>
                      </a:solidFill>
                    </a:lnR>
                    <a:lnT w="6350">
                      <a:solidFill>
                        <a:srgbClr val="D6DCE2"/>
                      </a:solidFill>
                    </a:lnT>
                    <a:lnB w="6350">
                      <a:solidFill>
                        <a:srgbClr val="D6DCE2"/>
                      </a:solidFill>
                    </a:lnB>
                  </a:tcPr>
                </a:tc>
              </a:tr>
              <a:tr h="438912">
                <a:tc>
                  <a:txBody>
                    <a:bodyPr wrap="square"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  <a:lnSpc>
                          <a:spcPct val="100000"/>
                        </a:lnSpc>
                      </a:pPr>
                      <a:r>
                        <a:rPr sz="1200" b="1">
                          <a:solidFill>
                            <a:srgbClr val="0E7A76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Attention</a:t>
                      </a:r>
                    </a:p>
                  </a:txBody>
                  <a:tcPr marL="54864" marR="54864" marT="27432" marB="18288" anchor="ctr">
                    <a:solidFill>
                      <a:srgbClr val="F4F7FA"/>
                    </a:solidFill>
                    <a:lnL w="6350">
                      <a:solidFill>
                        <a:srgbClr val="D6DCE2"/>
                      </a:solidFill>
                    </a:lnL>
                    <a:lnR w="6350">
                      <a:solidFill>
                        <a:srgbClr val="D6DCE2"/>
                      </a:solidFill>
                    </a:lnR>
                    <a:lnT w="6350">
                      <a:solidFill>
                        <a:srgbClr val="D6DCE2"/>
                      </a:solidFill>
                    </a:lnT>
                    <a:lnB w="6350">
                      <a:solidFill>
                        <a:srgbClr val="D6DCE2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  <a:lnSpc>
                          <a:spcPct val="100000"/>
                        </a:lnSpc>
                      </a:pPr>
                      <a:r>
                        <a:rPr sz="1200" b="1">
                          <a:solidFill>
                            <a:srgbClr val="0E7A76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max(拉 prefix，HBM，Attention 计算，AR)</a:t>
                      </a:r>
                    </a:p>
                  </a:txBody>
                  <a:tcPr marL="54864" marR="54864" marT="27432" marB="18288" anchor="ctr">
                    <a:solidFill>
                      <a:srgbClr val="E7F3F2"/>
                    </a:solidFill>
                    <a:lnL w="6350">
                      <a:solidFill>
                        <a:srgbClr val="D6DCE2"/>
                      </a:solidFill>
                    </a:lnL>
                    <a:lnR w="6350">
                      <a:solidFill>
                        <a:srgbClr val="D6DCE2"/>
                      </a:solidFill>
                    </a:lnR>
                    <a:lnT w="6350">
                      <a:solidFill>
                        <a:srgbClr val="D6DCE2"/>
                      </a:solidFill>
                    </a:lnT>
                    <a:lnB w="6350">
                      <a:solidFill>
                        <a:srgbClr val="D6DCE2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  <a:lnSpc>
                          <a:spcPct val="100000"/>
                        </a:lnSpc>
                      </a:pPr>
                      <a:r>
                        <a:rPr sz="1200" b="1">
                          <a:solidFill>
                            <a:srgbClr val="0E7A76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四条通路跨 query chunk 流水</a:t>
                      </a:r>
                    </a:p>
                  </a:txBody>
                  <a:tcPr marL="54864" marR="54864" marT="27432" marB="18288" anchor="ctr">
                    <a:solidFill>
                      <a:srgbClr val="E7F3F2"/>
                    </a:solidFill>
                    <a:lnL w="6350">
                      <a:solidFill>
                        <a:srgbClr val="D6DCE2"/>
                      </a:solidFill>
                    </a:lnL>
                    <a:lnR w="6350">
                      <a:solidFill>
                        <a:srgbClr val="D6DCE2"/>
                      </a:solidFill>
                    </a:lnR>
                    <a:lnT w="6350">
                      <a:solidFill>
                        <a:srgbClr val="D6DCE2"/>
                      </a:solidFill>
                    </a:lnT>
                    <a:lnB w="6350">
                      <a:solidFill>
                        <a:srgbClr val="D6DCE2"/>
                      </a:solidFill>
                    </a:lnB>
                  </a:tcPr>
                </a:tc>
              </a:tr>
              <a:tr h="475488">
                <a:tc>
                  <a:txBody>
                    <a:bodyPr wrap="square"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  <a:lnSpc>
                          <a:spcPct val="100000"/>
                        </a:lnSpc>
                      </a:pPr>
                      <a:r>
                        <a:rPr sz="1200" b="1">
                          <a:solidFill>
                            <a:srgbClr val="0E2A47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拉 prefix</a:t>
                      </a:r>
                    </a:p>
                  </a:txBody>
                  <a:tcPr marL="54864" marR="54864" marT="27432" marB="18288" anchor="ctr">
                    <a:solidFill>
                      <a:srgbClr val="F4F7FA"/>
                    </a:solidFill>
                    <a:lnL w="6350">
                      <a:solidFill>
                        <a:srgbClr val="D6DCE2"/>
                      </a:solidFill>
                    </a:lnL>
                    <a:lnR w="6350">
                      <a:solidFill>
                        <a:srgbClr val="D6DCE2"/>
                      </a:solidFill>
                    </a:lnR>
                    <a:lnT w="6350">
                      <a:solidFill>
                        <a:srgbClr val="D6DCE2"/>
                      </a:solidFill>
                    </a:lnT>
                    <a:lnB w="6350">
                      <a:solidFill>
                        <a:srgbClr val="D6DCE2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  <a:lnSpc>
                          <a:spcPct val="100000"/>
                        </a:lnSpc>
                      </a:pPr>
                      <a:r>
                        <a:rPr sz="1200" b="0">
                          <a:solidFill>
                            <a:srgbClr val="1C242E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⌈BS/16⌉ × 0.9S × 4939.5 / (8 × 51.2 GB/s)</a:t>
                      </a:r>
                    </a:p>
                  </a:txBody>
                  <a:tcPr marL="54864" marR="54864" marT="27432" marB="18288" anchor="ctr">
                    <a:solidFill>
                      <a:srgbClr val="FFFFFF"/>
                    </a:solidFill>
                    <a:lnL w="6350">
                      <a:solidFill>
                        <a:srgbClr val="D6DCE2"/>
                      </a:solidFill>
                    </a:lnL>
                    <a:lnR w="6350">
                      <a:solidFill>
                        <a:srgbClr val="D6DCE2"/>
                      </a:solidFill>
                    </a:lnR>
                    <a:lnT w="6350">
                      <a:solidFill>
                        <a:srgbClr val="D6DCE2"/>
                      </a:solidFill>
                    </a:lnT>
                    <a:lnB w="6350">
                      <a:solidFill>
                        <a:srgbClr val="D6DCE2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  <a:lnSpc>
                          <a:spcPct val="100000"/>
                        </a:lnSpc>
                      </a:pPr>
                      <a:r>
                        <a:rPr sz="1200" b="0">
                          <a:solidFill>
                            <a:srgbClr val="1C242E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DDR → H2D → HBM；写入后 kernel 还会读一次</a:t>
                      </a:r>
                    </a:p>
                  </a:txBody>
                  <a:tcPr marL="54864" marR="54864" marT="27432" marB="18288" anchor="ctr">
                    <a:solidFill>
                      <a:srgbClr val="FFFFFF"/>
                    </a:solidFill>
                    <a:lnL w="6350">
                      <a:solidFill>
                        <a:srgbClr val="D6DCE2"/>
                      </a:solidFill>
                    </a:lnL>
                    <a:lnR w="6350">
                      <a:solidFill>
                        <a:srgbClr val="D6DCE2"/>
                      </a:solidFill>
                    </a:lnR>
                    <a:lnT w="6350">
                      <a:solidFill>
                        <a:srgbClr val="D6DCE2"/>
                      </a:solidFill>
                    </a:lnT>
                    <a:lnB w="6350">
                      <a:solidFill>
                        <a:srgbClr val="D6DCE2"/>
                      </a:solidFill>
                    </a:lnB>
                  </a:tcPr>
                </a:tc>
              </a:tr>
              <a:tr h="475488">
                <a:tc>
                  <a:txBody>
                    <a:bodyPr wrap="square"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  <a:lnSpc>
                          <a:spcPct val="100000"/>
                        </a:lnSpc>
                      </a:pPr>
                      <a:r>
                        <a:rPr sz="1200" b="1">
                          <a:solidFill>
                            <a:srgbClr val="0E2A47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计算上下文</a:t>
                      </a:r>
                    </a:p>
                  </a:txBody>
                  <a:tcPr marL="54864" marR="54864" marT="27432" marB="18288" anchor="ctr">
                    <a:solidFill>
                      <a:srgbClr val="F4F7FA"/>
                    </a:solidFill>
                    <a:lnL w="6350">
                      <a:solidFill>
                        <a:srgbClr val="D6DCE2"/>
                      </a:solidFill>
                    </a:lnL>
                    <a:lnR w="6350">
                      <a:solidFill>
                        <a:srgbClr val="D6DCE2"/>
                      </a:solidFill>
                    </a:lnR>
                    <a:lnT w="6350">
                      <a:solidFill>
                        <a:srgbClr val="D6DCE2"/>
                      </a:solidFill>
                    </a:lnT>
                    <a:lnB w="6350">
                      <a:solidFill>
                        <a:srgbClr val="D6DCE2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  <a:lnSpc>
                          <a:spcPct val="100000"/>
                        </a:lnSpc>
                      </a:pPr>
                      <a:r>
                        <a:rPr sz="1200" b="0">
                          <a:solidFill>
                            <a:srgbClr val="1C242E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C = 0.1S × 0.9S + 0.1S × (0.1S + 1) / 2</a:t>
                      </a:r>
                    </a:p>
                  </a:txBody>
                  <a:tcPr marL="54864" marR="54864" marT="27432" marB="18288" anchor="ctr">
                    <a:solidFill>
                      <a:srgbClr val="FFFFFF"/>
                    </a:solidFill>
                    <a:lnL w="6350">
                      <a:solidFill>
                        <a:srgbClr val="D6DCE2"/>
                      </a:solidFill>
                    </a:lnL>
                    <a:lnR w="6350">
                      <a:solidFill>
                        <a:srgbClr val="D6DCE2"/>
                      </a:solidFill>
                    </a:lnR>
                    <a:lnT w="6350">
                      <a:solidFill>
                        <a:srgbClr val="D6DCE2"/>
                      </a:solidFill>
                    </a:lnT>
                    <a:lnB w="6350">
                      <a:solidFill>
                        <a:srgbClr val="D6DCE2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  <a:lnSpc>
                          <a:spcPct val="100000"/>
                        </a:lnSpc>
                      </a:pPr>
                      <a:r>
                        <a:rPr sz="1200" b="0">
                          <a:solidFill>
                            <a:srgbClr val="1C242E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新 token 平均看到约 95% 的完整上下文</a:t>
                      </a:r>
                    </a:p>
                  </a:txBody>
                  <a:tcPr marL="54864" marR="54864" marT="27432" marB="18288" anchor="ctr">
                    <a:solidFill>
                      <a:srgbClr val="FFFFFF"/>
                    </a:solidFill>
                    <a:lnL w="6350">
                      <a:solidFill>
                        <a:srgbClr val="D6DCE2"/>
                      </a:solidFill>
                    </a:lnL>
                    <a:lnR w="6350">
                      <a:solidFill>
                        <a:srgbClr val="D6DCE2"/>
                      </a:solidFill>
                    </a:lnR>
                    <a:lnT w="6350">
                      <a:solidFill>
                        <a:srgbClr val="D6DCE2"/>
                      </a:solidFill>
                    </a:lnT>
                    <a:lnB w="6350">
                      <a:solidFill>
                        <a:srgbClr val="D6DCE2"/>
                      </a:solidFill>
                    </a:lnB>
                  </a:tcPr>
                </a:tc>
              </a:tr>
              <a:tr h="438912">
                <a:tc>
                  <a:txBody>
                    <a:bodyPr wrap="square"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  <a:lnSpc>
                          <a:spcPct val="100000"/>
                        </a:lnSpc>
                      </a:pPr>
                      <a:r>
                        <a:rPr sz="1200" b="1">
                          <a:solidFill>
                            <a:srgbClr val="0E2A47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融合 kernel</a:t>
                      </a:r>
                    </a:p>
                  </a:txBody>
                  <a:tcPr marL="54864" marR="54864" marT="27432" marB="18288" anchor="ctr">
                    <a:solidFill>
                      <a:srgbClr val="F4F7FA"/>
                    </a:solidFill>
                    <a:lnL w="6350">
                      <a:solidFill>
                        <a:srgbClr val="D6DCE2"/>
                      </a:solidFill>
                    </a:lnL>
                    <a:lnR w="6350">
                      <a:solidFill>
                        <a:srgbClr val="D6DCE2"/>
                      </a:solidFill>
                    </a:lnR>
                    <a:lnT w="6350">
                      <a:solidFill>
                        <a:srgbClr val="D6DCE2"/>
                      </a:solidFill>
                    </a:lnT>
                    <a:lnB w="6350">
                      <a:solidFill>
                        <a:srgbClr val="D6DCE2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  <a:lnSpc>
                          <a:spcPct val="100000"/>
                        </a:lnSpc>
                      </a:pPr>
                      <a:r>
                        <a:rPr sz="1200" b="0">
                          <a:solidFill>
                            <a:srgbClr val="1C242E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max(Attention HBM，Attention FLOP / 340.2 T)</a:t>
                      </a:r>
                    </a:p>
                  </a:txBody>
                  <a:tcPr marL="54864" marR="54864" marT="27432" marB="18288" anchor="ctr">
                    <a:solidFill>
                      <a:srgbClr val="FFFFFF"/>
                    </a:solidFill>
                    <a:lnL w="6350">
                      <a:solidFill>
                        <a:srgbClr val="D6DCE2"/>
                      </a:solidFill>
                    </a:lnL>
                    <a:lnR w="6350">
                      <a:solidFill>
                        <a:srgbClr val="D6DCE2"/>
                      </a:solidFill>
                    </a:lnR>
                    <a:lnT w="6350">
                      <a:solidFill>
                        <a:srgbClr val="D6DCE2"/>
                      </a:solidFill>
                    </a:lnT>
                    <a:lnB w="6350">
                      <a:solidFill>
                        <a:srgbClr val="D6DCE2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  <a:lnSpc>
                          <a:spcPct val="100000"/>
                        </a:lnSpc>
                      </a:pPr>
                      <a:r>
                        <a:rPr sz="1200" b="0">
                          <a:solidFill>
                            <a:srgbClr val="1C242E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HBM 含权重、prefix KV、新 KV 和激活</a:t>
                      </a:r>
                    </a:p>
                  </a:txBody>
                  <a:tcPr marL="54864" marR="54864" marT="27432" marB="18288" anchor="ctr">
                    <a:solidFill>
                      <a:srgbClr val="FFFFFF"/>
                    </a:solidFill>
                    <a:lnL w="6350">
                      <a:solidFill>
                        <a:srgbClr val="D6DCE2"/>
                      </a:solidFill>
                    </a:lnL>
                    <a:lnR w="6350">
                      <a:solidFill>
                        <a:srgbClr val="D6DCE2"/>
                      </a:solidFill>
                    </a:lnR>
                    <a:lnT w="6350">
                      <a:solidFill>
                        <a:srgbClr val="D6DCE2"/>
                      </a:solidFill>
                    </a:lnT>
                    <a:lnB w="6350">
                      <a:solidFill>
                        <a:srgbClr val="D6DCE2"/>
                      </a:solidFill>
                    </a:lnB>
                  </a:tcPr>
                </a:tc>
              </a:tr>
              <a:tr h="438912">
                <a:tc>
                  <a:txBody>
                    <a:bodyPr wrap="square"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  <a:lnSpc>
                          <a:spcPct val="100000"/>
                        </a:lnSpc>
                      </a:pPr>
                      <a:r>
                        <a:rPr sz="1200" b="1">
                          <a:solidFill>
                            <a:srgbClr val="0E7A76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MoE</a:t>
                      </a:r>
                    </a:p>
                  </a:txBody>
                  <a:tcPr marL="54864" marR="54864" marT="27432" marB="18288" anchor="ctr">
                    <a:solidFill>
                      <a:srgbClr val="F4F7FA"/>
                    </a:solidFill>
                    <a:lnL w="6350">
                      <a:solidFill>
                        <a:srgbClr val="D6DCE2"/>
                      </a:solidFill>
                    </a:lnL>
                    <a:lnR w="6350">
                      <a:solidFill>
                        <a:srgbClr val="D6DCE2"/>
                      </a:solidFill>
                    </a:lnR>
                    <a:lnT w="6350">
                      <a:solidFill>
                        <a:srgbClr val="D6DCE2"/>
                      </a:solidFill>
                    </a:lnT>
                    <a:lnB w="6350">
                      <a:solidFill>
                        <a:srgbClr val="D6DCE2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  <a:lnSpc>
                          <a:spcPct val="100000"/>
                        </a:lnSpc>
                      </a:pPr>
                      <a:r>
                        <a:rPr sz="1200" b="1">
                          <a:solidFill>
                            <a:srgbClr val="0E7A76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dispatch + max(专家权重，专家 GEMM) + combine</a:t>
                      </a:r>
                    </a:p>
                  </a:txBody>
                  <a:tcPr marL="54864" marR="54864" marT="27432" marB="18288" anchor="ctr">
                    <a:solidFill>
                      <a:srgbClr val="E7F3F2"/>
                    </a:solidFill>
                    <a:lnL w="6350">
                      <a:solidFill>
                        <a:srgbClr val="D6DCE2"/>
                      </a:solidFill>
                    </a:lnL>
                    <a:lnR w="6350">
                      <a:solidFill>
                        <a:srgbClr val="D6DCE2"/>
                      </a:solidFill>
                    </a:lnR>
                    <a:lnT w="6350">
                      <a:solidFill>
                        <a:srgbClr val="D6DCE2"/>
                      </a:solidFill>
                    </a:lnT>
                    <a:lnB w="6350">
                      <a:solidFill>
                        <a:srgbClr val="D6DCE2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  <a:lnSpc>
                          <a:spcPct val="100000"/>
                        </a:lnSpc>
                      </a:pPr>
                      <a:r>
                        <a:rPr sz="1200" b="1">
                          <a:solidFill>
                            <a:srgbClr val="0E7A76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最忙 EP 卡；逐专家 16 行 padding</a:t>
                      </a:r>
                    </a:p>
                  </a:txBody>
                  <a:tcPr marL="54864" marR="54864" marT="27432" marB="18288" anchor="ctr">
                    <a:solidFill>
                      <a:srgbClr val="E7F3F2"/>
                    </a:solidFill>
                    <a:lnL w="6350">
                      <a:solidFill>
                        <a:srgbClr val="D6DCE2"/>
                      </a:solidFill>
                    </a:lnL>
                    <a:lnR w="6350">
                      <a:solidFill>
                        <a:srgbClr val="D6DCE2"/>
                      </a:solidFill>
                    </a:lnR>
                    <a:lnT w="6350">
                      <a:solidFill>
                        <a:srgbClr val="D6DCE2"/>
                      </a:solidFill>
                    </a:lnT>
                    <a:lnB w="6350">
                      <a:solidFill>
                        <a:srgbClr val="D6DCE2"/>
                      </a:solidFill>
                    </a:lnB>
                  </a:tcPr>
                </a:tc>
              </a:tr>
              <a:tr h="438912">
                <a:tc>
                  <a:txBody>
                    <a:bodyPr wrap="square"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  <a:lnSpc>
                          <a:spcPct val="100000"/>
                        </a:lnSpc>
                      </a:pPr>
                      <a:r>
                        <a:rPr sz="1200" b="1">
                          <a:solidFill>
                            <a:srgbClr val="0E2A47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P→D 总量</a:t>
                      </a:r>
                    </a:p>
                  </a:txBody>
                  <a:tcPr marL="54864" marR="54864" marT="27432" marB="18288" anchor="ctr">
                    <a:solidFill>
                      <a:srgbClr val="F4F7FA"/>
                    </a:solidFill>
                    <a:lnL w="6350">
                      <a:solidFill>
                        <a:srgbClr val="D6DCE2"/>
                      </a:solidFill>
                    </a:lnL>
                    <a:lnR w="6350">
                      <a:solidFill>
                        <a:srgbClr val="D6DCE2"/>
                      </a:solidFill>
                    </a:lnR>
                    <a:lnT w="6350">
                      <a:solidFill>
                        <a:srgbClr val="D6DCE2"/>
                      </a:solidFill>
                    </a:lnT>
                    <a:lnB w="6350">
                      <a:solidFill>
                        <a:srgbClr val="D6DCE2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  <a:lnSpc>
                          <a:spcPct val="100000"/>
                        </a:lnSpc>
                      </a:pPr>
                      <a:r>
                        <a:rPr sz="1200" b="0">
                          <a:solidFill>
                            <a:srgbClr val="1C242E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⌈BS/16⌉ × S × 4939.5 / (8 × 40 GB/s)</a:t>
                      </a:r>
                    </a:p>
                  </a:txBody>
                  <a:tcPr marL="54864" marR="54864" marT="27432" marB="18288" anchor="ctr">
                    <a:solidFill>
                      <a:srgbClr val="FFFFFF"/>
                    </a:solidFill>
                    <a:lnL w="6350">
                      <a:solidFill>
                        <a:srgbClr val="D6DCE2"/>
                      </a:solidFill>
                    </a:lnL>
                    <a:lnR w="6350">
                      <a:solidFill>
                        <a:srgbClr val="D6DCE2"/>
                      </a:solidFill>
                    </a:lnR>
                    <a:lnT w="6350">
                      <a:solidFill>
                        <a:srgbClr val="D6DCE2"/>
                      </a:solidFill>
                    </a:lnT>
                    <a:lnB w="6350">
                      <a:solidFill>
                        <a:srgbClr val="D6DCE2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  <a:lnSpc>
                          <a:spcPct val="100000"/>
                        </a:lnSpc>
                      </a:pPr>
                      <a:r>
                        <a:rPr sz="1200" b="0">
                          <a:solidFill>
                            <a:srgbClr val="1C242E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Decode 无 prefix 副本，必须收到完整 KV</a:t>
                      </a:r>
                    </a:p>
                  </a:txBody>
                  <a:tcPr marL="54864" marR="54864" marT="27432" marB="18288" anchor="ctr">
                    <a:solidFill>
                      <a:srgbClr val="FFFFFF"/>
                    </a:solidFill>
                    <a:lnL w="6350">
                      <a:solidFill>
                        <a:srgbClr val="D6DCE2"/>
                      </a:solidFill>
                    </a:lnL>
                    <a:lnR w="6350">
                      <a:solidFill>
                        <a:srgbClr val="D6DCE2"/>
                      </a:solidFill>
                    </a:lnR>
                    <a:lnT w="6350">
                      <a:solidFill>
                        <a:srgbClr val="D6DCE2"/>
                      </a:solidFill>
                    </a:lnT>
                    <a:lnB w="6350">
                      <a:solidFill>
                        <a:srgbClr val="D6DCE2"/>
                      </a:solidFill>
                    </a:lnB>
                  </a:tcPr>
                </a:tc>
              </a:tr>
              <a:tr h="438912">
                <a:tc>
                  <a:txBody>
                    <a:bodyPr wrap="square"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  <a:lnSpc>
                          <a:spcPct val="100000"/>
                        </a:lnSpc>
                      </a:pPr>
                      <a:r>
                        <a:rPr sz="1200" b="1">
                          <a:solidFill>
                            <a:srgbClr val="0E2A47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P→D 尾巴</a:t>
                      </a:r>
                    </a:p>
                  </a:txBody>
                  <a:tcPr marL="54864" marR="54864" marT="27432" marB="18288" anchor="ctr">
                    <a:solidFill>
                      <a:srgbClr val="F4F7FA"/>
                    </a:solidFill>
                    <a:lnL w="6350">
                      <a:solidFill>
                        <a:srgbClr val="D6DCE2"/>
                      </a:solidFill>
                    </a:lnL>
                    <a:lnR w="6350">
                      <a:solidFill>
                        <a:srgbClr val="D6DCE2"/>
                      </a:solidFill>
                    </a:lnR>
                    <a:lnT w="6350">
                      <a:solidFill>
                        <a:srgbClr val="D6DCE2"/>
                      </a:solidFill>
                    </a:lnT>
                    <a:lnB w="6350">
                      <a:solidFill>
                        <a:srgbClr val="D6DCE2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  <a:lnSpc>
                          <a:spcPct val="100000"/>
                        </a:lnSpc>
                      </a:pPr>
                      <a:r>
                        <a:rPr sz="1200" b="0">
                          <a:solidFill>
                            <a:srgbClr val="1C242E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max(0，P→D 总量 − 可重叠计算时间)</a:t>
                      </a:r>
                    </a:p>
                  </a:txBody>
                  <a:tcPr marL="54864" marR="54864" marT="27432" marB="18288" anchor="ctr">
                    <a:solidFill>
                      <a:srgbClr val="FFFFFF"/>
                    </a:solidFill>
                    <a:lnL w="6350">
                      <a:solidFill>
                        <a:srgbClr val="D6DCE2"/>
                      </a:solidFill>
                    </a:lnL>
                    <a:lnR w="6350">
                      <a:solidFill>
                        <a:srgbClr val="D6DCE2"/>
                      </a:solidFill>
                    </a:lnR>
                    <a:lnT w="6350">
                      <a:solidFill>
                        <a:srgbClr val="D6DCE2"/>
                      </a:solidFill>
                    </a:lnT>
                    <a:lnB w="6350">
                      <a:solidFill>
                        <a:srgbClr val="D6DCE2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  <a:lnSpc>
                          <a:spcPct val="100000"/>
                        </a:lnSpc>
                      </a:pPr>
                      <a:r>
                        <a:rPr sz="1200" b="0">
                          <a:solidFill>
                            <a:srgbClr val="1C242E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layer-wise 发送；只加最后没隐藏的部分</a:t>
                      </a:r>
                    </a:p>
                  </a:txBody>
                  <a:tcPr marL="54864" marR="54864" marT="27432" marB="18288" anchor="ctr">
                    <a:solidFill>
                      <a:srgbClr val="FFFFFF"/>
                    </a:solidFill>
                    <a:lnL w="6350">
                      <a:solidFill>
                        <a:srgbClr val="D6DCE2"/>
                      </a:solidFill>
                    </a:lnL>
                    <a:lnR w="6350">
                      <a:solidFill>
                        <a:srgbClr val="D6DCE2"/>
                      </a:solidFill>
                    </a:lnR>
                    <a:lnT w="6350">
                      <a:solidFill>
                        <a:srgbClr val="D6DCE2"/>
                      </a:solidFill>
                    </a:lnT>
                    <a:lnB w="6350">
                      <a:solidFill>
                        <a:srgbClr val="D6DCE2"/>
                      </a:solidFill>
                    </a:lnB>
                  </a:tcPr>
                </a:tc>
              </a:tr>
              <a:tr h="438912">
                <a:tc>
                  <a:txBody>
                    <a:bodyPr wrap="square"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  <a:lnSpc>
                          <a:spcPct val="100000"/>
                        </a:lnSpc>
                      </a:pPr>
                      <a:r>
                        <a:rPr sz="1200" b="1">
                          <a:solidFill>
                            <a:srgbClr val="0E2A47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最终</a:t>
                      </a:r>
                    </a:p>
                  </a:txBody>
                  <a:tcPr marL="54864" marR="54864" marT="27432" marB="18288" anchor="ctr">
                    <a:solidFill>
                      <a:srgbClr val="F4F7FA"/>
                    </a:solidFill>
                    <a:lnL w="6350">
                      <a:solidFill>
                        <a:srgbClr val="D6DCE2"/>
                      </a:solidFill>
                    </a:lnL>
                    <a:lnR w="6350">
                      <a:solidFill>
                        <a:srgbClr val="D6DCE2"/>
                      </a:solidFill>
                    </a:lnR>
                    <a:lnT w="6350">
                      <a:solidFill>
                        <a:srgbClr val="D6DCE2"/>
                      </a:solidFill>
                    </a:lnT>
                    <a:lnB w="6350">
                      <a:solidFill>
                        <a:srgbClr val="D6DCE2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  <a:lnSpc>
                          <a:spcPct val="100000"/>
                        </a:lnSpc>
                      </a:pPr>
                      <a:r>
                        <a:rPr sz="1200" b="1">
                          <a:solidFill>
                            <a:srgbClr val="0E2A47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TTFT = Attention + MoE + P→D 尾巴 + fixed</a:t>
                      </a:r>
                    </a:p>
                  </a:txBody>
                  <a:tcPr marL="54864" marR="54864" marT="27432" marB="18288" anchor="ctr">
                    <a:solidFill>
                      <a:srgbClr val="F4F7FA"/>
                    </a:solidFill>
                    <a:lnL w="6350">
                      <a:solidFill>
                        <a:srgbClr val="D6DCE2"/>
                      </a:solidFill>
                    </a:lnL>
                    <a:lnR w="6350">
                      <a:solidFill>
                        <a:srgbClr val="D6DCE2"/>
                      </a:solidFill>
                    </a:lnR>
                    <a:lnT w="6350">
                      <a:solidFill>
                        <a:srgbClr val="D6DCE2"/>
                      </a:solidFill>
                    </a:lnT>
                    <a:lnB w="6350">
                      <a:solidFill>
                        <a:srgbClr val="D6DCE2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  <a:lnSpc>
                          <a:spcPct val="100000"/>
                        </a:lnSpc>
                      </a:pPr>
                      <a:r>
                        <a:rPr sz="1200" b="1">
                          <a:solidFill>
                            <a:srgbClr val="0E2A47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本档计算中 P→D 尾巴为 0</a:t>
                      </a:r>
                    </a:p>
                  </a:txBody>
                  <a:tcPr marL="54864" marR="54864" marT="27432" marB="18288" anchor="ctr">
                    <a:solidFill>
                      <a:srgbClr val="F4F7FA"/>
                    </a:solidFill>
                    <a:lnL w="6350">
                      <a:solidFill>
                        <a:srgbClr val="D6DCE2"/>
                      </a:solidFill>
                    </a:lnL>
                    <a:lnR w="6350">
                      <a:solidFill>
                        <a:srgbClr val="D6DCE2"/>
                      </a:solidFill>
                    </a:lnR>
                    <a:lnT w="6350">
                      <a:solidFill>
                        <a:srgbClr val="D6DCE2"/>
                      </a:solidFill>
                    </a:lnT>
                    <a:lnB w="6350">
                      <a:solidFill>
                        <a:srgbClr val="D6DCE2"/>
                      </a:solidFill>
                    </a:lnB>
                  </a:tcPr>
                </a:tc>
              </a:tr>
            </a:tbl>
          </a:graphicData>
        </a:graphic>
      </p:graphicFrame>
      <p:sp>
        <p:nvSpPr>
          <p:cNvPr id="11" name="Rounded Rectangle 10"/>
          <p:cNvSpPr/>
          <p:nvPr/>
        </p:nvSpPr>
        <p:spPr>
          <a:xfrm>
            <a:off x="384048" y="5468112"/>
            <a:ext cx="11430000" cy="950976"/>
          </a:xfrm>
          <a:prstGeom prst="roundRect">
            <a:avLst/>
          </a:prstGeom>
          <a:solidFill>
            <a:srgbClr val="F8F1E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30352" y="5513832"/>
            <a:ext cx="11137392" cy="859536"/>
          </a:xfrm>
          <a:prstGeom prst="rect">
            <a:avLst/>
          </a:prstGeom>
          <a:noFill/>
        </p:spPr>
        <p:txBody>
          <a:bodyPr wrap="square" lIns="0" rIns="0" tIns="0" bIns="0" anchor="ctr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300" b="0">
                <a:solidFill>
                  <a:srgbClr val="7A541C"/>
                </a:solidFill>
                <a:latin typeface="Microsoft YaHei"/>
                <a:ea typeface="Microsoft YaHei"/>
                <a:cs typeface="Microsoft YaHei"/>
              </a:rPr>
              <a:t>冷请求最大输入 25.1 万：Attention 9.60 秒，其中 AR 9.60 秒、计算 6.56 秒；MoE 0.40 秒；P→D 总量 3.9 毫秒，全部被后续计算隐藏；数据面合计 10.00 秒。固定开销未计入。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145A9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84048" y="146304"/>
            <a:ext cx="9692640" cy="256032"/>
          </a:xfrm>
          <a:prstGeom prst="rect">
            <a:avLst/>
          </a:prstGeom>
          <a:noFill/>
        </p:spPr>
        <p:txBody>
          <a:bodyPr wrap="square" lIns="0" rIns="0" tIns="0" bIns="0" anchor="ctr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200" b="1">
                <a:solidFill>
                  <a:srgbClr val="145A96"/>
                </a:solidFill>
                <a:latin typeface="Microsoft YaHei"/>
                <a:ea typeface="Microsoft YaHei"/>
                <a:cs typeface="Microsoft YaHei"/>
              </a:rPr>
              <a:t>公式    ·    TPOT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84048" y="384048"/>
            <a:ext cx="11430000" cy="384048"/>
          </a:xfrm>
          <a:prstGeom prst="rect">
            <a:avLst/>
          </a:prstGeom>
          <a:noFill/>
        </p:spPr>
        <p:txBody>
          <a:bodyPr wrap="square" lIns="0" rIns="0" tIns="0" bIns="0" anchor="ctr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600" b="1">
                <a:solidFill>
                  <a:srgbClr val="0E2A47"/>
                </a:solidFill>
                <a:latin typeface="Microsoft YaHei"/>
                <a:ea typeface="Microsoft YaHei"/>
                <a:cs typeface="Microsoft YaHei"/>
              </a:rPr>
              <a:t>TPOT = Decode Attention + Decode MoE + 固定开销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424160" y="164592"/>
            <a:ext cx="1371600" cy="237744"/>
          </a:xfrm>
          <a:prstGeom prst="rect">
            <a:avLst/>
          </a:prstGeom>
          <a:noFill/>
        </p:spPr>
        <p:txBody>
          <a:bodyPr wrap="square" lIns="0" rIns="0" tIns="0" bIns="0" anchor="ctr"/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1200" b="0">
                <a:solidFill>
                  <a:srgbClr val="5A636E"/>
                </a:solidFill>
                <a:latin typeface="Microsoft YaHei"/>
                <a:ea typeface="Microsoft YaHei"/>
                <a:cs typeface="Microsoft YaHei"/>
              </a:rPr>
              <a:t>11  /  11</a:t>
            </a:r>
          </a:p>
        </p:txBody>
      </p:sp>
      <p:sp>
        <p:nvSpPr>
          <p:cNvPr id="6" name="Rectangle 5"/>
          <p:cNvSpPr/>
          <p:nvPr/>
        </p:nvSpPr>
        <p:spPr>
          <a:xfrm>
            <a:off x="384048" y="6565392"/>
            <a:ext cx="11430000" cy="9144"/>
          </a:xfrm>
          <a:prstGeom prst="rect">
            <a:avLst/>
          </a:prstGeom>
          <a:solidFill>
            <a:srgbClr val="D6DCE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384048" y="6583680"/>
            <a:ext cx="11430000" cy="219456"/>
          </a:xfrm>
          <a:prstGeom prst="rect">
            <a:avLst/>
          </a:prstGeom>
          <a:noFill/>
        </p:spPr>
        <p:txBody>
          <a:bodyPr wrap="square" lIns="0" rIns="0" tIns="0" bIns="0" anchor="ctr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5A636E"/>
                </a:solidFill>
                <a:latin typeface="Microsoft YaHei"/>
                <a:ea typeface="Microsoft YaHei"/>
                <a:cs typeface="Microsoft YaHei"/>
              </a:rPr>
              <a:t>10T 为外推    ·    96 GB / 486 T、一份 128 卡副本    ·    访存与通信 80%    ·    计算 70%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384048" y="841248"/>
            <a:ext cx="11430000" cy="420624"/>
          </a:xfrm>
          <a:prstGeom prst="roundRect">
            <a:avLst/>
          </a:prstGeom>
          <a:solidFill>
            <a:srgbClr val="E7F3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530352" y="841248"/>
            <a:ext cx="11137392" cy="420624"/>
          </a:xfrm>
          <a:prstGeom prst="rect">
            <a:avLst/>
          </a:prstGeom>
          <a:noFill/>
        </p:spPr>
        <p:txBody>
          <a:bodyPr wrap="square" lIns="0" rIns="0" tIns="0" bIns="0" anchor="ctr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300" b="1">
                <a:solidFill>
                  <a:srgbClr val="0E7A76"/>
                </a:solidFill>
                <a:latin typeface="Microsoft YaHei"/>
                <a:ea typeface="Microsoft YaHei"/>
                <a:cs typeface="Microsoft YaHei"/>
              </a:rPr>
              <a:t>Decode 不用 H2D。DDR 池里的 KV 必须先写回 HBM；标准执行不假设 GEMM 与 AR 融合。</a:t>
            </a:r>
          </a:p>
        </p:txBody>
      </p:sp>
      <p:graphicFrame>
        <p:nvGraphicFramePr>
          <p:cNvPr id="10" name="Table 9"/>
          <p:cNvGraphicFramePr>
            <a:graphicFrameLocks noGrp="1"/>
          </p:cNvGraphicFramePr>
          <p:nvPr/>
        </p:nvGraphicFramePr>
        <p:xfrm>
          <a:off x="384048" y="1353312"/>
          <a:ext cx="11430000" cy="3950208"/>
        </p:xfrm>
        <a:graphic>
          <a:graphicData uri="http://schemas.openxmlformats.org/drawingml/2006/table">
            <a:tbl>
              <a:tblPr firstRow="1"/>
              <a:tblGrid>
                <a:gridCol w="1572768"/>
                <a:gridCol w="5870448"/>
                <a:gridCol w="3986784"/>
              </a:tblGrid>
              <a:tr h="310896">
                <a:tc>
                  <a:txBody>
                    <a:bodyPr wrap="square"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  <a:lnSpc>
                          <a:spcPct val="100000"/>
                        </a:lnSpc>
                      </a:pPr>
                      <a:r>
                        <a:rPr sz="1200" b="1">
                          <a:solidFill>
                            <a:srgbClr val="FFFFFF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部分</a:t>
                      </a:r>
                    </a:p>
                  </a:txBody>
                  <a:tcPr marL="54864" marR="54864" marT="27432" marB="18288" anchor="ctr">
                    <a:solidFill>
                      <a:srgbClr val="0E2A47"/>
                    </a:solidFill>
                    <a:lnL w="6350">
                      <a:solidFill>
                        <a:srgbClr val="D6DCE2"/>
                      </a:solidFill>
                    </a:lnL>
                    <a:lnR w="6350">
                      <a:solidFill>
                        <a:srgbClr val="D6DCE2"/>
                      </a:solidFill>
                    </a:lnR>
                    <a:lnT w="6350">
                      <a:solidFill>
                        <a:srgbClr val="D6DCE2"/>
                      </a:solidFill>
                    </a:lnT>
                    <a:lnB w="6350">
                      <a:solidFill>
                        <a:srgbClr val="D6DCE2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  <a:lnSpc>
                          <a:spcPct val="100000"/>
                        </a:lnSpc>
                      </a:pPr>
                      <a:r>
                        <a:rPr sz="1200" b="1">
                          <a:solidFill>
                            <a:srgbClr val="FFFFFF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公式</a:t>
                      </a:r>
                    </a:p>
                  </a:txBody>
                  <a:tcPr marL="54864" marR="54864" marT="27432" marB="18288" anchor="ctr">
                    <a:solidFill>
                      <a:srgbClr val="0E2A47"/>
                    </a:solidFill>
                    <a:lnL w="6350">
                      <a:solidFill>
                        <a:srgbClr val="D6DCE2"/>
                      </a:solidFill>
                    </a:lnL>
                    <a:lnR w="6350">
                      <a:solidFill>
                        <a:srgbClr val="D6DCE2"/>
                      </a:solidFill>
                    </a:lnR>
                    <a:lnT w="6350">
                      <a:solidFill>
                        <a:srgbClr val="D6DCE2"/>
                      </a:solidFill>
                    </a:lnT>
                    <a:lnB w="6350">
                      <a:solidFill>
                        <a:srgbClr val="D6DCE2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  <a:lnSpc>
                          <a:spcPct val="100000"/>
                        </a:lnSpc>
                      </a:pPr>
                      <a:r>
                        <a:rPr sz="1200" b="1">
                          <a:solidFill>
                            <a:srgbClr val="FFFFFF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注释</a:t>
                      </a:r>
                    </a:p>
                  </a:txBody>
                  <a:tcPr marL="54864" marR="54864" marT="27432" marB="18288" anchor="ctr">
                    <a:solidFill>
                      <a:srgbClr val="0E2A47"/>
                    </a:solidFill>
                    <a:lnL w="6350">
                      <a:solidFill>
                        <a:srgbClr val="D6DCE2"/>
                      </a:solidFill>
                    </a:lnL>
                    <a:lnR w="6350">
                      <a:solidFill>
                        <a:srgbClr val="D6DCE2"/>
                      </a:solidFill>
                    </a:lnR>
                    <a:lnT w="6350">
                      <a:solidFill>
                        <a:srgbClr val="D6DCE2"/>
                      </a:solidFill>
                    </a:lnT>
                    <a:lnB w="6350">
                      <a:solidFill>
                        <a:srgbClr val="D6DCE2"/>
                      </a:solidFill>
                    </a:lnB>
                  </a:tcPr>
                </a:tc>
              </a:tr>
              <a:tr h="438912">
                <a:tc>
                  <a:txBody>
                    <a:bodyPr wrap="square"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  <a:lnSpc>
                          <a:spcPct val="100000"/>
                        </a:lnSpc>
                      </a:pPr>
                      <a:r>
                        <a:rPr sz="1200" b="1">
                          <a:solidFill>
                            <a:srgbClr val="0E2A47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最忙 TP 组</a:t>
                      </a:r>
                    </a:p>
                  </a:txBody>
                  <a:tcPr marL="54864" marR="54864" marT="27432" marB="18288" anchor="ctr">
                    <a:solidFill>
                      <a:srgbClr val="F4F7FA"/>
                    </a:solidFill>
                    <a:lnL w="6350">
                      <a:solidFill>
                        <a:srgbClr val="D6DCE2"/>
                      </a:solidFill>
                    </a:lnL>
                    <a:lnR w="6350">
                      <a:solidFill>
                        <a:srgbClr val="D6DCE2"/>
                      </a:solidFill>
                    </a:lnR>
                    <a:lnT w="6350">
                      <a:solidFill>
                        <a:srgbClr val="D6DCE2"/>
                      </a:solidFill>
                    </a:lnT>
                    <a:lnB w="6350">
                      <a:solidFill>
                        <a:srgbClr val="D6DCE2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  <a:lnSpc>
                          <a:spcPct val="100000"/>
                        </a:lnSpc>
                      </a:pPr>
                      <a:r>
                        <a:rPr sz="1200" b="0">
                          <a:solidFill>
                            <a:srgbClr val="1C242E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n = ⌈BS / 16⌉；每卡 KV 读量 = n × RKV(S) / 8</a:t>
                      </a:r>
                    </a:p>
                  </a:txBody>
                  <a:tcPr marL="54864" marR="54864" marT="27432" marB="18288" anchor="ctr">
                    <a:solidFill>
                      <a:srgbClr val="FFFFFF"/>
                    </a:solidFill>
                    <a:lnL w="6350">
                      <a:solidFill>
                        <a:srgbClr val="D6DCE2"/>
                      </a:solidFill>
                    </a:lnL>
                    <a:lnR w="6350">
                      <a:solidFill>
                        <a:srgbClr val="D6DCE2"/>
                      </a:solidFill>
                    </a:lnR>
                    <a:lnT w="6350">
                      <a:solidFill>
                        <a:srgbClr val="D6DCE2"/>
                      </a:solidFill>
                    </a:lnT>
                    <a:lnB w="6350">
                      <a:solidFill>
                        <a:srgbClr val="D6DCE2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  <a:lnSpc>
                          <a:spcPct val="100000"/>
                        </a:lnSpc>
                      </a:pPr>
                      <a:r>
                        <a:rPr sz="1200" b="0">
                          <a:solidFill>
                            <a:srgbClr val="1C242E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不再按 BS/128 的平均值</a:t>
                      </a:r>
                    </a:p>
                  </a:txBody>
                  <a:tcPr marL="54864" marR="54864" marT="27432" marB="18288" anchor="ctr">
                    <a:solidFill>
                      <a:srgbClr val="FFFFFF"/>
                    </a:solidFill>
                    <a:lnL w="6350">
                      <a:solidFill>
                        <a:srgbClr val="D6DCE2"/>
                      </a:solidFill>
                    </a:lnL>
                    <a:lnR w="6350">
                      <a:solidFill>
                        <a:srgbClr val="D6DCE2"/>
                      </a:solidFill>
                    </a:lnR>
                    <a:lnT w="6350">
                      <a:solidFill>
                        <a:srgbClr val="D6DCE2"/>
                      </a:solidFill>
                    </a:lnT>
                    <a:lnB w="6350">
                      <a:solidFill>
                        <a:srgbClr val="D6DCE2"/>
                      </a:solidFill>
                    </a:lnB>
                  </a:tcPr>
                </a:tc>
              </a:tr>
              <a:tr h="457200">
                <a:tc>
                  <a:txBody>
                    <a:bodyPr wrap="square"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  <a:lnSpc>
                          <a:spcPct val="100000"/>
                        </a:lnSpc>
                      </a:pPr>
                      <a:r>
                        <a:rPr sz="1200" b="1">
                          <a:solidFill>
                            <a:srgbClr val="0E2A47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溢出比例</a:t>
                      </a:r>
                    </a:p>
                  </a:txBody>
                  <a:tcPr marL="54864" marR="54864" marT="27432" marB="18288" anchor="ctr">
                    <a:solidFill>
                      <a:srgbClr val="F4F7FA"/>
                    </a:solidFill>
                    <a:lnL w="6350">
                      <a:solidFill>
                        <a:srgbClr val="D6DCE2"/>
                      </a:solidFill>
                    </a:lnL>
                    <a:lnR w="6350">
                      <a:solidFill>
                        <a:srgbClr val="D6DCE2"/>
                      </a:solidFill>
                    </a:lnR>
                    <a:lnT w="6350">
                      <a:solidFill>
                        <a:srgbClr val="D6DCE2"/>
                      </a:solidFill>
                    </a:lnT>
                    <a:lnB w="6350">
                      <a:solidFill>
                        <a:srgbClr val="D6DCE2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  <a:lnSpc>
                          <a:spcPct val="100000"/>
                        </a:lnSpc>
                      </a:pPr>
                      <a:r>
                        <a:rPr sz="1200" b="0">
                          <a:solidFill>
                            <a:srgbClr val="1C242E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f = max(0，(BS × KV 存量 − 5.72 TB) / (BS × KV 存量))</a:t>
                      </a:r>
                    </a:p>
                  </a:txBody>
                  <a:tcPr marL="54864" marR="54864" marT="27432" marB="18288" anchor="ctr">
                    <a:solidFill>
                      <a:srgbClr val="FFFFFF"/>
                    </a:solidFill>
                    <a:lnL w="6350">
                      <a:solidFill>
                        <a:srgbClr val="D6DCE2"/>
                      </a:solidFill>
                    </a:lnL>
                    <a:lnR w="6350">
                      <a:solidFill>
                        <a:srgbClr val="D6DCE2"/>
                      </a:solidFill>
                    </a:lnR>
                    <a:lnT w="6350">
                      <a:solidFill>
                        <a:srgbClr val="D6DCE2"/>
                      </a:solidFill>
                    </a:lnT>
                    <a:lnB w="6350">
                      <a:solidFill>
                        <a:srgbClr val="D6DCE2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  <a:lnSpc>
                          <a:spcPct val="100000"/>
                        </a:lnSpc>
                      </a:pPr>
                      <a:r>
                        <a:rPr sz="1200" b="0">
                          <a:solidFill>
                            <a:srgbClr val="1C242E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池容量不设上限</a:t>
                      </a:r>
                    </a:p>
                  </a:txBody>
                  <a:tcPr marL="54864" marR="54864" marT="27432" marB="18288" anchor="ctr">
                    <a:solidFill>
                      <a:srgbClr val="FFFFFF"/>
                    </a:solidFill>
                    <a:lnL w="6350">
                      <a:solidFill>
                        <a:srgbClr val="D6DCE2"/>
                      </a:solidFill>
                    </a:lnL>
                    <a:lnR w="6350">
                      <a:solidFill>
                        <a:srgbClr val="D6DCE2"/>
                      </a:solidFill>
                    </a:lnR>
                    <a:lnT w="6350">
                      <a:solidFill>
                        <a:srgbClr val="D6DCE2"/>
                      </a:solidFill>
                    </a:lnT>
                    <a:lnB w="6350">
                      <a:solidFill>
                        <a:srgbClr val="D6DCE2"/>
                      </a:solidFill>
                    </a:lnB>
                  </a:tcPr>
                </a:tc>
              </a:tr>
              <a:tr h="438912">
                <a:tc>
                  <a:txBody>
                    <a:bodyPr wrap="square"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  <a:lnSpc>
                          <a:spcPct val="100000"/>
                        </a:lnSpc>
                      </a:pPr>
                      <a:r>
                        <a:rPr sz="1200" b="1">
                          <a:solidFill>
                            <a:srgbClr val="0E7A76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SWAP</a:t>
                      </a:r>
                    </a:p>
                  </a:txBody>
                  <a:tcPr marL="54864" marR="54864" marT="27432" marB="18288" anchor="ctr">
                    <a:solidFill>
                      <a:srgbClr val="F4F7FA"/>
                    </a:solidFill>
                    <a:lnL w="6350">
                      <a:solidFill>
                        <a:srgbClr val="D6DCE2"/>
                      </a:solidFill>
                    </a:lnL>
                    <a:lnR w="6350">
                      <a:solidFill>
                        <a:srgbClr val="D6DCE2"/>
                      </a:solidFill>
                    </a:lnR>
                    <a:lnT w="6350">
                      <a:solidFill>
                        <a:srgbClr val="D6DCE2"/>
                      </a:solidFill>
                    </a:lnT>
                    <a:lnB w="6350">
                      <a:solidFill>
                        <a:srgbClr val="D6DCE2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  <a:lnSpc>
                          <a:spcPct val="100000"/>
                        </a:lnSpc>
                      </a:pPr>
                      <a:r>
                        <a:rPr sz="1200" b="1">
                          <a:solidFill>
                            <a:srgbClr val="0E7A76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f × 每卡 KV 读量 / 320 GB/s</a:t>
                      </a:r>
                    </a:p>
                  </a:txBody>
                  <a:tcPr marL="54864" marR="54864" marT="27432" marB="18288" anchor="ctr">
                    <a:solidFill>
                      <a:srgbClr val="E7F3F2"/>
                    </a:solidFill>
                    <a:lnL w="6350">
                      <a:solidFill>
                        <a:srgbClr val="D6DCE2"/>
                      </a:solidFill>
                    </a:lnL>
                    <a:lnR w="6350">
                      <a:solidFill>
                        <a:srgbClr val="D6DCE2"/>
                      </a:solidFill>
                    </a:lnR>
                    <a:lnT w="6350">
                      <a:solidFill>
                        <a:srgbClr val="D6DCE2"/>
                      </a:solidFill>
                    </a:lnT>
                    <a:lnB w="6350">
                      <a:solidFill>
                        <a:srgbClr val="D6DCE2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  <a:lnSpc>
                          <a:spcPct val="100000"/>
                        </a:lnSpc>
                      </a:pPr>
                      <a:r>
                        <a:rPr sz="1200" b="1">
                          <a:solidFill>
                            <a:srgbClr val="0E7A76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DDR 池 → D2D → HBM；必须先完成</a:t>
                      </a:r>
                    </a:p>
                  </a:txBody>
                  <a:tcPr marL="54864" marR="54864" marT="27432" marB="18288" anchor="ctr">
                    <a:solidFill>
                      <a:srgbClr val="E7F3F2"/>
                    </a:solidFill>
                    <a:lnL w="6350">
                      <a:solidFill>
                        <a:srgbClr val="D6DCE2"/>
                      </a:solidFill>
                    </a:lnL>
                    <a:lnR w="6350">
                      <a:solidFill>
                        <a:srgbClr val="D6DCE2"/>
                      </a:solidFill>
                    </a:lnR>
                    <a:lnT w="6350">
                      <a:solidFill>
                        <a:srgbClr val="D6DCE2"/>
                      </a:solidFill>
                    </a:lnT>
                    <a:lnB w="6350">
                      <a:solidFill>
                        <a:srgbClr val="D6DCE2"/>
                      </a:solidFill>
                    </a:lnB>
                  </a:tcPr>
                </a:tc>
              </a:tr>
              <a:tr h="512064">
                <a:tc>
                  <a:txBody>
                    <a:bodyPr wrap="square"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  <a:lnSpc>
                          <a:spcPct val="100000"/>
                        </a:lnSpc>
                      </a:pPr>
                      <a:r>
                        <a:rPr sz="1200" b="1">
                          <a:solidFill>
                            <a:srgbClr val="0E2A47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Attention kernel</a:t>
                      </a:r>
                    </a:p>
                  </a:txBody>
                  <a:tcPr marL="54864" marR="54864" marT="27432" marB="18288" anchor="ctr">
                    <a:solidFill>
                      <a:srgbClr val="F4F7FA"/>
                    </a:solidFill>
                    <a:lnL w="6350">
                      <a:solidFill>
                        <a:srgbClr val="D6DCE2"/>
                      </a:solidFill>
                    </a:lnL>
                    <a:lnR w="6350">
                      <a:solidFill>
                        <a:srgbClr val="D6DCE2"/>
                      </a:solidFill>
                    </a:lnR>
                    <a:lnT w="6350">
                      <a:solidFill>
                        <a:srgbClr val="D6DCE2"/>
                      </a:solidFill>
                    </a:lnT>
                    <a:lnB w="6350">
                      <a:solidFill>
                        <a:srgbClr val="D6DCE2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  <a:lnSpc>
                          <a:spcPct val="100000"/>
                        </a:lnSpc>
                      </a:pPr>
                      <a:r>
                        <a:rPr sz="1200" b="0">
                          <a:solidFill>
                            <a:srgbClr val="1C242E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max((全部 KV + 2.42 GB 权重) / 3.20 TB/s，FLOP / 340.2 T)</a:t>
                      </a:r>
                    </a:p>
                  </a:txBody>
                  <a:tcPr marL="54864" marR="54864" marT="27432" marB="18288" anchor="ctr">
                    <a:solidFill>
                      <a:srgbClr val="FFFFFF"/>
                    </a:solidFill>
                    <a:lnL w="6350">
                      <a:solidFill>
                        <a:srgbClr val="D6DCE2"/>
                      </a:solidFill>
                    </a:lnL>
                    <a:lnR w="6350">
                      <a:solidFill>
                        <a:srgbClr val="D6DCE2"/>
                      </a:solidFill>
                    </a:lnR>
                    <a:lnT w="6350">
                      <a:solidFill>
                        <a:srgbClr val="D6DCE2"/>
                      </a:solidFill>
                    </a:lnT>
                    <a:lnB w="6350">
                      <a:solidFill>
                        <a:srgbClr val="D6DCE2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  <a:lnSpc>
                          <a:spcPct val="100000"/>
                        </a:lnSpc>
                      </a:pPr>
                      <a:r>
                        <a:rPr sz="1200" b="0">
                          <a:solidFill>
                            <a:srgbClr val="1C242E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换入 KV 仍从 HBM 再读；kernel 内访存/计算重叠</a:t>
                      </a:r>
                    </a:p>
                  </a:txBody>
                  <a:tcPr marL="54864" marR="54864" marT="27432" marB="18288" anchor="ctr">
                    <a:solidFill>
                      <a:srgbClr val="FFFFFF"/>
                    </a:solidFill>
                    <a:lnL w="6350">
                      <a:solidFill>
                        <a:srgbClr val="D6DCE2"/>
                      </a:solidFill>
                    </a:lnL>
                    <a:lnR w="6350">
                      <a:solidFill>
                        <a:srgbClr val="D6DCE2"/>
                      </a:solidFill>
                    </a:lnR>
                    <a:lnT w="6350">
                      <a:solidFill>
                        <a:srgbClr val="D6DCE2"/>
                      </a:solidFill>
                    </a:lnT>
                    <a:lnB w="6350">
                      <a:solidFill>
                        <a:srgbClr val="D6DCE2"/>
                      </a:solidFill>
                    </a:lnB>
                  </a:tcPr>
                </a:tc>
              </a:tr>
              <a:tr h="438912">
                <a:tc>
                  <a:txBody>
                    <a:bodyPr wrap="square"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  <a:lnSpc>
                          <a:spcPct val="100000"/>
                        </a:lnSpc>
                      </a:pPr>
                      <a:r>
                        <a:rPr sz="1200" b="1">
                          <a:solidFill>
                            <a:srgbClr val="0E2A47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AR</a:t>
                      </a:r>
                    </a:p>
                  </a:txBody>
                  <a:tcPr marL="54864" marR="54864" marT="27432" marB="18288" anchor="ctr">
                    <a:solidFill>
                      <a:srgbClr val="F4F7FA"/>
                    </a:solidFill>
                    <a:lnL w="6350">
                      <a:solidFill>
                        <a:srgbClr val="D6DCE2"/>
                      </a:solidFill>
                    </a:lnL>
                    <a:lnR w="6350">
                      <a:solidFill>
                        <a:srgbClr val="D6DCE2"/>
                      </a:solidFill>
                    </a:lnR>
                    <a:lnT w="6350">
                      <a:solidFill>
                        <a:srgbClr val="D6DCE2"/>
                      </a:solidFill>
                    </a:lnT>
                    <a:lnB w="6350">
                      <a:solidFill>
                        <a:srgbClr val="D6DCE2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  <a:lnSpc>
                          <a:spcPct val="100000"/>
                        </a:lnSpc>
                      </a:pPr>
                      <a:r>
                        <a:rPr sz="1200" b="0">
                          <a:solidFill>
                            <a:srgbClr val="1C242E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61 × 2×7/8 × n×7168×2 / 40 GB/s</a:t>
                      </a:r>
                    </a:p>
                  </a:txBody>
                  <a:tcPr marL="54864" marR="54864" marT="27432" marB="18288" anchor="ctr">
                    <a:solidFill>
                      <a:srgbClr val="FFFFFF"/>
                    </a:solidFill>
                    <a:lnL w="6350">
                      <a:solidFill>
                        <a:srgbClr val="D6DCE2"/>
                      </a:solidFill>
                    </a:lnL>
                    <a:lnR w="6350">
                      <a:solidFill>
                        <a:srgbClr val="D6DCE2"/>
                      </a:solidFill>
                    </a:lnR>
                    <a:lnT w="6350">
                      <a:solidFill>
                        <a:srgbClr val="D6DCE2"/>
                      </a:solidFill>
                    </a:lnT>
                    <a:lnB w="6350">
                      <a:solidFill>
                        <a:srgbClr val="D6DCE2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  <a:lnSpc>
                          <a:spcPct val="100000"/>
                        </a:lnSpc>
                      </a:pPr>
                      <a:r>
                        <a:rPr sz="1200" b="0">
                          <a:solidFill>
                            <a:srgbClr val="1C242E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没有实测融合，单独加在 kernel 后面</a:t>
                      </a:r>
                    </a:p>
                  </a:txBody>
                  <a:tcPr marL="54864" marR="54864" marT="27432" marB="18288" anchor="ctr">
                    <a:solidFill>
                      <a:srgbClr val="FFFFFF"/>
                    </a:solidFill>
                    <a:lnL w="6350">
                      <a:solidFill>
                        <a:srgbClr val="D6DCE2"/>
                      </a:solidFill>
                    </a:lnL>
                    <a:lnR w="6350">
                      <a:solidFill>
                        <a:srgbClr val="D6DCE2"/>
                      </a:solidFill>
                    </a:lnR>
                    <a:lnT w="6350">
                      <a:solidFill>
                        <a:srgbClr val="D6DCE2"/>
                      </a:solidFill>
                    </a:lnT>
                    <a:lnB w="6350">
                      <a:solidFill>
                        <a:srgbClr val="D6DCE2"/>
                      </a:solidFill>
                    </a:lnB>
                  </a:tcPr>
                </a:tc>
              </a:tr>
              <a:tr h="420624">
                <a:tc>
                  <a:txBody>
                    <a:bodyPr wrap="square"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  <a:lnSpc>
                          <a:spcPct val="100000"/>
                        </a:lnSpc>
                      </a:pPr>
                      <a:r>
                        <a:rPr sz="1200" b="1">
                          <a:solidFill>
                            <a:srgbClr val="0E2A47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Decode Attention</a:t>
                      </a:r>
                    </a:p>
                  </a:txBody>
                  <a:tcPr marL="54864" marR="54864" marT="27432" marB="18288" anchor="ctr">
                    <a:solidFill>
                      <a:srgbClr val="F4F7FA"/>
                    </a:solidFill>
                    <a:lnL w="6350">
                      <a:solidFill>
                        <a:srgbClr val="D6DCE2"/>
                      </a:solidFill>
                    </a:lnL>
                    <a:lnR w="6350">
                      <a:solidFill>
                        <a:srgbClr val="D6DCE2"/>
                      </a:solidFill>
                    </a:lnR>
                    <a:lnT w="6350">
                      <a:solidFill>
                        <a:srgbClr val="D6DCE2"/>
                      </a:solidFill>
                    </a:lnT>
                    <a:lnB w="6350">
                      <a:solidFill>
                        <a:srgbClr val="D6DCE2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  <a:lnSpc>
                          <a:spcPct val="100000"/>
                        </a:lnSpc>
                      </a:pPr>
                      <a:r>
                        <a:rPr sz="1200" b="1">
                          <a:solidFill>
                            <a:srgbClr val="0E2A47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SWAP + Attention kernel + AR</a:t>
                      </a:r>
                    </a:p>
                  </a:txBody>
                  <a:tcPr marL="54864" marR="54864" marT="27432" marB="18288" anchor="ctr">
                    <a:solidFill>
                      <a:srgbClr val="F4F7FA"/>
                    </a:solidFill>
                    <a:lnL w="6350">
                      <a:solidFill>
                        <a:srgbClr val="D6DCE2"/>
                      </a:solidFill>
                    </a:lnL>
                    <a:lnR w="6350">
                      <a:solidFill>
                        <a:srgbClr val="D6DCE2"/>
                      </a:solidFill>
                    </a:lnR>
                    <a:lnT w="6350">
                      <a:solidFill>
                        <a:srgbClr val="D6DCE2"/>
                      </a:solidFill>
                    </a:lnT>
                    <a:lnB w="6350">
                      <a:solidFill>
                        <a:srgbClr val="D6DCE2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  <a:lnSpc>
                          <a:spcPct val="100000"/>
                        </a:lnSpc>
                      </a:pPr>
                      <a:r>
                        <a:rPr sz="1200" b="1">
                          <a:solidFill>
                            <a:srgbClr val="0E2A47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三段存在业务依赖</a:t>
                      </a:r>
                    </a:p>
                  </a:txBody>
                  <a:tcPr marL="54864" marR="54864" marT="27432" marB="18288" anchor="ctr">
                    <a:solidFill>
                      <a:srgbClr val="F4F7FA"/>
                    </a:solidFill>
                    <a:lnL w="6350">
                      <a:solidFill>
                        <a:srgbClr val="D6DCE2"/>
                      </a:solidFill>
                    </a:lnL>
                    <a:lnR w="6350">
                      <a:solidFill>
                        <a:srgbClr val="D6DCE2"/>
                      </a:solidFill>
                    </a:lnR>
                    <a:lnT w="6350">
                      <a:solidFill>
                        <a:srgbClr val="D6DCE2"/>
                      </a:solidFill>
                    </a:lnT>
                    <a:lnB w="6350">
                      <a:solidFill>
                        <a:srgbClr val="D6DCE2"/>
                      </a:solidFill>
                    </a:lnB>
                  </a:tcPr>
                </a:tc>
              </a:tr>
              <a:tr h="493776">
                <a:tc>
                  <a:txBody>
                    <a:bodyPr wrap="square"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  <a:lnSpc>
                          <a:spcPct val="100000"/>
                        </a:lnSpc>
                      </a:pPr>
                      <a:r>
                        <a:rPr sz="1200" b="1">
                          <a:solidFill>
                            <a:srgbClr val="0E7A76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Decode MoE</a:t>
                      </a:r>
                    </a:p>
                  </a:txBody>
                  <a:tcPr marL="54864" marR="54864" marT="27432" marB="18288" anchor="ctr">
                    <a:solidFill>
                      <a:srgbClr val="F4F7FA"/>
                    </a:solidFill>
                    <a:lnL w="6350">
                      <a:solidFill>
                        <a:srgbClr val="D6DCE2"/>
                      </a:solidFill>
                    </a:lnL>
                    <a:lnR w="6350">
                      <a:solidFill>
                        <a:srgbClr val="D6DCE2"/>
                      </a:solidFill>
                    </a:lnR>
                    <a:lnT w="6350">
                      <a:solidFill>
                        <a:srgbClr val="D6DCE2"/>
                      </a:solidFill>
                    </a:lnT>
                    <a:lnB w="6350">
                      <a:solidFill>
                        <a:srgbClr val="D6DCE2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  <a:lnSpc>
                          <a:spcPct val="100000"/>
                        </a:lnSpc>
                      </a:pPr>
                      <a:r>
                        <a:rPr sz="1200" b="1">
                          <a:solidFill>
                            <a:srgbClr val="0E7A76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dispatch + max(专家权重，专家 GEMM) + combine</a:t>
                      </a:r>
                    </a:p>
                  </a:txBody>
                  <a:tcPr marL="54864" marR="54864" marT="27432" marB="18288" anchor="ctr">
                    <a:solidFill>
                      <a:srgbClr val="E7F3F2"/>
                    </a:solidFill>
                    <a:lnL w="6350">
                      <a:solidFill>
                        <a:srgbClr val="D6DCE2"/>
                      </a:solidFill>
                    </a:lnL>
                    <a:lnR w="6350">
                      <a:solidFill>
                        <a:srgbClr val="D6DCE2"/>
                      </a:solidFill>
                    </a:lnR>
                    <a:lnT w="6350">
                      <a:solidFill>
                        <a:srgbClr val="D6DCE2"/>
                      </a:solidFill>
                    </a:lnT>
                    <a:lnB w="6350">
                      <a:solidFill>
                        <a:srgbClr val="D6DCE2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  <a:lnSpc>
                          <a:spcPct val="100000"/>
                        </a:lnSpc>
                      </a:pPr>
                      <a:r>
                        <a:rPr sz="1200" b="1">
                          <a:solidFill>
                            <a:srgbClr val="0E7A76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EP 两个方向分别统计；最忙卡、逐专家 padding</a:t>
                      </a:r>
                    </a:p>
                  </a:txBody>
                  <a:tcPr marL="54864" marR="54864" marT="27432" marB="18288" anchor="ctr">
                    <a:solidFill>
                      <a:srgbClr val="E7F3F2"/>
                    </a:solidFill>
                    <a:lnL w="6350">
                      <a:solidFill>
                        <a:srgbClr val="D6DCE2"/>
                      </a:solidFill>
                    </a:lnL>
                    <a:lnR w="6350">
                      <a:solidFill>
                        <a:srgbClr val="D6DCE2"/>
                      </a:solidFill>
                    </a:lnR>
                    <a:lnT w="6350">
                      <a:solidFill>
                        <a:srgbClr val="D6DCE2"/>
                      </a:solidFill>
                    </a:lnT>
                    <a:lnB w="6350">
                      <a:solidFill>
                        <a:srgbClr val="D6DCE2"/>
                      </a:solidFill>
                    </a:lnB>
                  </a:tcPr>
                </a:tc>
              </a:tr>
              <a:tr h="438912">
                <a:tc>
                  <a:txBody>
                    <a:bodyPr wrap="square"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  <a:lnSpc>
                          <a:spcPct val="100000"/>
                        </a:lnSpc>
                      </a:pPr>
                      <a:r>
                        <a:rPr sz="1200" b="1">
                          <a:solidFill>
                            <a:srgbClr val="0E2A47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最终</a:t>
                      </a:r>
                    </a:p>
                  </a:txBody>
                  <a:tcPr marL="54864" marR="54864" marT="27432" marB="18288" anchor="ctr">
                    <a:solidFill>
                      <a:srgbClr val="F4F7FA"/>
                    </a:solidFill>
                    <a:lnL w="6350">
                      <a:solidFill>
                        <a:srgbClr val="D6DCE2"/>
                      </a:solidFill>
                    </a:lnL>
                    <a:lnR w="6350">
                      <a:solidFill>
                        <a:srgbClr val="D6DCE2"/>
                      </a:solidFill>
                    </a:lnR>
                    <a:lnT w="6350">
                      <a:solidFill>
                        <a:srgbClr val="D6DCE2"/>
                      </a:solidFill>
                    </a:lnT>
                    <a:lnB w="6350">
                      <a:solidFill>
                        <a:srgbClr val="D6DCE2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  <a:lnSpc>
                          <a:spcPct val="100000"/>
                        </a:lnSpc>
                      </a:pPr>
                      <a:r>
                        <a:rPr sz="1200" b="1">
                          <a:solidFill>
                            <a:srgbClr val="0E2A47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TPOT = Decode Attention + Decode MoE + fixed</a:t>
                      </a:r>
                    </a:p>
                  </a:txBody>
                  <a:tcPr marL="54864" marR="54864" marT="27432" marB="18288" anchor="ctr">
                    <a:solidFill>
                      <a:srgbClr val="F4F7FA"/>
                    </a:solidFill>
                    <a:lnL w="6350">
                      <a:solidFill>
                        <a:srgbClr val="D6DCE2"/>
                      </a:solidFill>
                    </a:lnL>
                    <a:lnR w="6350">
                      <a:solidFill>
                        <a:srgbClr val="D6DCE2"/>
                      </a:solidFill>
                    </a:lnR>
                    <a:lnT w="6350">
                      <a:solidFill>
                        <a:srgbClr val="D6DCE2"/>
                      </a:solidFill>
                    </a:lnT>
                    <a:lnB w="6350">
                      <a:solidFill>
                        <a:srgbClr val="D6DCE2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  <a:lnSpc>
                          <a:spcPct val="100000"/>
                        </a:lnSpc>
                      </a:pPr>
                      <a:r>
                        <a:rPr sz="1200" b="1">
                          <a:solidFill>
                            <a:srgbClr val="0E2A47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固定开销未计入，结果是数据面理论上限</a:t>
                      </a:r>
                    </a:p>
                  </a:txBody>
                  <a:tcPr marL="54864" marR="54864" marT="27432" marB="18288" anchor="ctr">
                    <a:solidFill>
                      <a:srgbClr val="F4F7FA"/>
                    </a:solidFill>
                    <a:lnL w="6350">
                      <a:solidFill>
                        <a:srgbClr val="D6DCE2"/>
                      </a:solidFill>
                    </a:lnL>
                    <a:lnR w="6350">
                      <a:solidFill>
                        <a:srgbClr val="D6DCE2"/>
                      </a:solidFill>
                    </a:lnR>
                    <a:lnT w="6350">
                      <a:solidFill>
                        <a:srgbClr val="D6DCE2"/>
                      </a:solidFill>
                    </a:lnT>
                    <a:lnB w="6350">
                      <a:solidFill>
                        <a:srgbClr val="D6DCE2"/>
                      </a:solidFill>
                    </a:lnB>
                  </a:tcPr>
                </a:tc>
              </a:tr>
            </a:tbl>
          </a:graphicData>
        </a:graphic>
      </p:graphicFrame>
      <p:sp>
        <p:nvSpPr>
          <p:cNvPr id="11" name="Rounded Rectangle 10"/>
          <p:cNvSpPr/>
          <p:nvPr/>
        </p:nvSpPr>
        <p:spPr>
          <a:xfrm>
            <a:off x="384048" y="5504688"/>
            <a:ext cx="11430000" cy="914400"/>
          </a:xfrm>
          <a:prstGeom prst="roundRect">
            <a:avLst/>
          </a:prstGeom>
          <a:solidFill>
            <a:srgbClr val="F8F1E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30352" y="5550408"/>
            <a:ext cx="11137392" cy="822960"/>
          </a:xfrm>
          <a:prstGeom prst="rect">
            <a:avLst/>
          </a:prstGeom>
          <a:noFill/>
        </p:spPr>
        <p:txBody>
          <a:bodyPr wrap="square" lIns="0" rIns="0" tIns="0" bIns="0" anchor="ctr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300" b="0">
                <a:solidFill>
                  <a:srgbClr val="7A541C"/>
                </a:solidFill>
                <a:latin typeface="Microsoft YaHei"/>
                <a:ea typeface="Microsoft YaHei"/>
                <a:cs typeface="Microsoft YaHei"/>
              </a:rPr>
              <a:t>4K：10 毫秒批 201，Attention 1.27 毫秒 + MoE 8.73 毫秒 = 10.00 毫秒；30 毫秒批 4352，Attention 15.26 毫秒 + MoE 14.67 毫秒 = 29.93 毫秒。两档都没有给 fixed 留余量。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10T DeepSeek：96 GB / 486 T 上的 TTFT / TPOT</dc:title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