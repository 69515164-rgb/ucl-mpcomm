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GLM-5.3 config：78 层，隐藏 6144，MoE 中间维 2048，256 个路由专家，1 个共享，top-8，前 3 层稠密，中间维 12288。MLA：kv_lora 512 + rope 64 = 576，64 头，qk 256，v 256，q_lora 2048。DSA：index_topk 2048，indexer 头 32、维 128。indexer_types 里 21 层为 full，其余 shared，即每 4 层共享一次。主干回推 743.3B，激活 39.23B。官方口径 744B-A40B。技术报告正文写 80 层，发布 config 是 78 层，外推跟权重。10T：E=3526，总参数 1.000114e+13。专家 FP8 字节等于参数个数。每卡路由专家 77.99 GB，共享 2.83 GB，稠密 0.68 GB，注意力 0.82 GB。扣掉 6 GB 预留后，每卡 KV 余量 91.68 GB，128 卡 11.74 TB。词表 154880 和 MTP 留在参数回推里，时延页的显存扣减沿用原先的 GLM 页，不另扣这两项。注意力 TP=16 留在 16 卡 fullmesh，DP=8。MoE EP=128 走 D2D。128 卡 = 8 台 16 卡机器。机器 DDR 768 GB、1288.8 GB/s 是一台的数。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单请求不跨副本。增加 Prefill 节点是多放几份 128 卡副本。这一页的时间 = max(计算, 读权重) + 把 KV 送到 Decode。计算全部除以 128×3.50×10^15。indexer 点积：32 头 × 128 维 × 2 = 8192 FLOP/对，只有 21 层计算，其余层复用 top-2048 下标。稀疏 MLA：64 头 × 256 维，QK 和 AV 合计每条 65536 FLOP，78 层都做，每 token 只看 2048 条，所以过了 2048 之后这项随 S 线性。S=4839685：indexer 8.994s，稀疏 0.113s，专家 0.551s，投影 0.282s，稠密 0.015s，合计计算 9.955s。读权重 11.43 ms，KV 搬运 45.09 ms。4K 单条 TTFT 是 11.5 毫秒，停在读权重。1M 单条、无命中是 0.64 秒。机内 allreduce 不进这一页的 10 秒，下一页按批把它加进去。算法与 DeepSeek 配置 2 那一页的拆分相同。400 Gb/s 写成 50 GB/s 再取 80%。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全局批是 128 卡副本上的条数。注意力 TP=16、DP=8，MoE EP=128。KV 命中 90%。每条只把 10% 的 token 送进计算，这 10% 的 query 仍看全长上下文，indexer 仍按 q×S。时间 = 参数面读 KV + 注意力侧较长的一项 + 专家侧较长的一项。注意力侧在注意力计算、机内 allreduce、注意力权重之间取最大。专家侧在专家 GEMM 加稠密 MLP、读专家权重、EP 之间取最大。4K 全局批 3419：现算 1.4004e+06，allreduce 7.865s，注意力 0.117s，专家 GEMM 0.160s，稠密 0.0042s，EP 2.017s，读权重 11.32 ms，读 KV 117.4 ms，合计 9.999s。1M 全局批 13：allreduce 7.655s，注意力 0.660s（indexer 0.549s），EP 1.963s，合计 9.733s。再加一条是 10.48s。HBM 余量 11.74 TB。4K 能放 60064 条，1M 能放 234 条。单条 1,048,576 token、90% 命中的 TTFT 是 0.75 秒，其中 allreduce 0.59 秒，参数面读 KV 8.8 毫秒。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与 Prefill 同一份切分。一步 = 注意力侧最长的一笔 + 专家侧最长的一笔。BS=328，命中率 0.525，最忙卡 19.70 个专家，读权重 8.14 ms。全部本地专家加共享是 11.23 ms，超过 10 ms，所以这一档停在部分专家。机内 allreduce：ceil(328/8) = 41 条，每条 6144×2 字节，环上 2×15/16，78 层，除以 40 GB/s，得 1.84 ms。两项相加 9.98 ms，表上记 10.0 毫秒。329 条是 10.04 ms。专家计算 0.42 ms，效率 0.089。EP 0.34 ms。注意力计算 0.03 ms。4K 到 512K 全局批都是这个数，KV 全在 HBM。1M 降到 242，2M 降到 130，4.84×10^6 降到 55。前 3 层稠密 MLP 的 GEMM 在这个批上远短于读专家，沿用 GLM 解码式，不单列。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BS=3336，命中率 0.9995，每卡 27.547 个专家全醒。读权重 11.23 ms。allreduce ceil(3336/8)=417 条，18.73 ms。两项相加 29.96 ms，表上记 30.0 毫秒。3337 条是 30.00 ms。专家计算 0.80 ms，效率 0.473。EP 4.80 ms。注意力计算 0.29 ms。显存余量 11.74 TB。溢出进卡的口是 64.44 GB/s，即 min(H2D 80 GB/s, 机器 DDR 有效带宽 / 16)。约 8.4 万 token 以内全局批仍是这个数。128K 起 H2D 上的稀疏 KV 读把批压下来。4K、输出 512、命中 90%：Prefill 342 请求/秒。10 毫秒 Decode 64 请求/秒，P:D 约 1:5.3。30 毫秒 Decode 217 请求/秒，P:D 约 1:1.6。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存量 = S×47700 字节。一步真正读的是 21 层 indexer 的 132 字节/token，加上 78 层里最多 2048 条 latent，每条 576 字节。HBM 余量 11.74 TB。溢出进 GPU 的口是每卡 64.44 GB/s。S=4096 b10=328 spill10=0.0% b30=3336 spill30=0.0% S=8192 b10=328 spill10=0.0% b30=3336 spill30=0.0% S=32768 b10=328 spill10=0.0% b30=3336 spill30=0.0% S=131072 b10=328 spill10=0.0% b30=2217 spill30=15.3% S=262144 b10=328 spill10=0.0% b30=1127 spill30=16.7% S=524288 b10=328 spill10=0.0% b30=575 spill30=18.4% S=1048576 b10=242 spill10=3.0% b30=295 spill30=20.5% 单条冷 1M 的 TTFT 是 0.64 秒。单条 1M、90% 命中是 0.75 秒。第 3 页 Prefill：4K 3419，8K 1709，32K 427，128K 106，256K 53，512K 26，1M 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GLM-5.3 发布权重    ·    外推到 10T</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同一骨架，只加路由专家</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1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一份 128 卡副本    ·    访存与通信取峰值的 80%    ·    权重按 FP8，算力 3.50 P，Cube 按 16 行对齐</a:t>
            </a:r>
          </a:p>
        </p:txBody>
      </p:sp>
      <p:sp>
        <p:nvSpPr>
          <p:cNvPr id="8" name="TextBox 7"/>
          <p:cNvSpPr txBox="1"/>
          <p:nvPr/>
        </p:nvSpPr>
        <p:spPr>
          <a:xfrm>
            <a:off x="384048" y="822960"/>
            <a:ext cx="11430000" cy="292608"/>
          </a:xfrm>
          <a:prstGeom prst="rect">
            <a:avLst/>
          </a:prstGeom>
          <a:noFill/>
        </p:spPr>
        <p:txBody>
          <a:bodyPr wrap="square" lIns="0" rIns="0" tIns="0" bIns="0" anchor="ctr"/>
          <a:lstStyle/>
          <a:p>
            <a:pPr algn="l">
              <a:spcBef>
                <a:spcPts val="0"/>
              </a:spcBef>
              <a:spcAft>
                <a:spcPts val="0"/>
              </a:spcAft>
            </a:pPr>
            <a:r>
              <a:rPr sz="1400" b="0">
                <a:solidFill>
                  <a:srgbClr val="1C242E"/>
                </a:solidFill>
                <a:latin typeface="Microsoft YaHei"/>
                <a:ea typeface="Microsoft YaHei"/>
                <a:cs typeface="Microsoft YaHei"/>
              </a:rPr>
              <a:t>最新发布权重是 GLM-5.3，架构与 GLM-5.2 相同。官方口径 744B / 40B。10T 冻结层数、宽度和 top-8，只加路由专家。</a:t>
            </a:r>
          </a:p>
        </p:txBody>
      </p:sp>
      <p:graphicFrame>
        <p:nvGraphicFramePr>
          <p:cNvPr id="9" name="Table 8"/>
          <p:cNvGraphicFramePr>
            <a:graphicFrameLocks noGrp="1"/>
          </p:cNvGraphicFramePr>
          <p:nvPr/>
        </p:nvGraphicFramePr>
        <p:xfrm>
          <a:off x="384048" y="1152144"/>
          <a:ext cx="11430000" cy="3913632"/>
        </p:xfrm>
        <a:graphic>
          <a:graphicData uri="http://schemas.openxmlformats.org/drawingml/2006/table">
            <a:tbl>
              <a:tblPr firstRow="1"/>
              <a:tblGrid>
                <a:gridCol w="2148840"/>
                <a:gridCol w="2606040"/>
                <a:gridCol w="2240280"/>
                <a:gridCol w="4434840"/>
              </a:tblGrid>
              <a:tr h="292608">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项目</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GLM-5.3 发布权重</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10T 外推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备注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回推总参数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7.433×10^11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1.000×10^13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不含 MTP。官方 744B，差额是 MTP 与舍入</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路由专家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256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3526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×13.8。增量只记在专家个数上</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 token 仍是 8 个路由专家 + 1 个共享</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激活比</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5.28%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专家表变大，单 token 激活不变</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FP8 专家表</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0.725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9.983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单专家全层 2.831 GB。发布精度是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层 / 隐藏 / 中间维</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 6144 / 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前 3 层稠密，后 75 层 MoE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MLA-256，DSA top-2048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层有 indexer，每 4 层共享一次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1.106×10^7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 3 × 6144 × 75，与专家总数无关</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47700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78×576 + 21×132，按 FP8 布局</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0" name="Rounded Rectangle 9"/>
          <p:cNvSpPr/>
          <p:nvPr/>
        </p:nvSpPr>
        <p:spPr>
          <a:xfrm>
            <a:off x="384048" y="5193792"/>
            <a:ext cx="11430000" cy="1261872"/>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5248656"/>
            <a:ext cx="11137392" cy="1152144"/>
          </a:xfrm>
          <a:prstGeom prst="rect">
            <a:avLst/>
          </a:prstGeom>
          <a:noFill/>
        </p:spPr>
        <p:txBody>
          <a:bodyPr wrap="square" lIns="0" rIns="0" tIns="0" bIns="0" anchor="ctr"/>
          <a:lstStyle/>
          <a:p>
            <a:pPr algn="l">
              <a:spcBef>
                <a:spcPts val="0"/>
              </a:spcBef>
              <a:spcAft>
                <a:spcPts val="0"/>
              </a:spcAft>
            </a:pPr>
            <a:r>
              <a:rPr sz="1300" b="0">
                <a:solidFill>
                  <a:srgbClr val="7A541C"/>
                </a:solidFill>
                <a:latin typeface="Microsoft YaHei"/>
                <a:ea typeface="Microsoft YaHei"/>
                <a:cs typeface="Microsoft YaHei"/>
              </a:rPr>
              <a:t>外推式：总参数 = 专家数 × 2.831×10^9 + 1.848×10^10。单个专家 = 3 × 6144 × 2048 × 75。</a:t>
            </a:r>
          </a:p>
          <a:p>
            <a:pPr algn="l">
              <a:spcBef>
                <a:spcPts val="0"/>
              </a:spcBef>
              <a:spcAft>
                <a:spcPts val="0"/>
              </a:spcAft>
            </a:pPr>
            <a:r>
              <a:rPr sz="1300" b="0">
                <a:solidFill>
                  <a:srgbClr val="7A541C"/>
                </a:solidFill>
                <a:latin typeface="Microsoft YaHei"/>
                <a:ea typeface="Microsoft YaHei"/>
                <a:cs typeface="Microsoft YaHei"/>
              </a:rPr>
              <a:t>发布权重是 FP8。时延页的 GEMM 用 3.50 P，即配置 2 里 FP4 峰值 7 P 的一半。HBM 180 GB，带宽 9 TB/s 取 80%。</a:t>
            </a:r>
          </a:p>
          <a:p>
            <a:pPr algn="l">
              <a:spcBef>
                <a:spcPts val="0"/>
              </a:spcBef>
              <a:spcAft>
                <a:spcPts val="0"/>
              </a:spcAft>
            </a:pPr>
            <a:r>
              <a:rPr sz="1300" b="0">
                <a:solidFill>
                  <a:srgbClr val="7A541C"/>
                </a:solidFill>
                <a:latin typeface="Microsoft YaHei"/>
                <a:ea typeface="Microsoft YaHei"/>
                <a:cs typeface="Microsoft YaHei"/>
              </a:rPr>
              <a:t>400 Gb/s 取 80% 为 40 GB/s，800 Gb/s 取 80% 为 80 GB/s。进卡再与每卡 DDR 份额 64.4 GB/s 取慢。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秒对应的最大输入是 4.84×10^6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2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一份 128 卡副本    ·    访存与通信取峰值的 80%    ·    权重按 FP8，算力 3.50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一条请求放在一个 128 卡副本上。计算 10.0 秒，读权重 11.4 毫秒，送 KV 45.1 毫秒。indexer 的 S² 占 8.99 秒，线性项占 0.96 秒。</a:t>
            </a:r>
          </a:p>
        </p:txBody>
      </p:sp>
      <p:sp>
        <p:nvSpPr>
          <p:cNvPr id="10" name="TextBox 9"/>
          <p:cNvSpPr txBox="1"/>
          <p:nvPr/>
        </p:nvSpPr>
        <p:spPr>
          <a:xfrm>
            <a:off x="384048" y="1316736"/>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graphicFrame>
        <p:nvGraphicFramePr>
          <p:cNvPr id="11" name="Table 10"/>
          <p:cNvGraphicFramePr>
            <a:graphicFrameLocks noGrp="1"/>
          </p:cNvGraphicFramePr>
          <p:nvPr/>
        </p:nvGraphicFramePr>
        <p:xfrm>
          <a:off x="384048" y="1554480"/>
          <a:ext cx="11430000" cy="2157984"/>
        </p:xfrm>
        <a:graphic>
          <a:graphicData uri="http://schemas.openxmlformats.org/drawingml/2006/table">
            <a:tbl>
              <a:tblPr firstRow="1"/>
              <a:tblGrid>
                <a:gridCol w="1417320"/>
                <a:gridCol w="4937760"/>
                <a:gridCol w="507492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机内 TP=16</a:t>
                      </a:r>
                    </a:p>
                    <a:p>
                      <a:pPr algn="l">
                        <a:spcBef>
                          <a:spcPts val="0"/>
                        </a:spcBef>
                        <a:spcAft>
                          <a:spcPts val="0"/>
                        </a:spcAft>
                        <a:lnSpc>
                          <a:spcPct val="100000"/>
                        </a:lnSpc>
                      </a:pPr>
                      <a:r>
                        <a:rPr sz="1200" b="0">
                          <a:solidFill>
                            <a:srgbClr val="1C242E"/>
                          </a:solidFill>
                          <a:latin typeface="Microsoft YaHei"/>
                          <a:ea typeface="Microsoft YaHei"/>
                          <a:cs typeface="Microsoft YaHei"/>
                        </a:rPr>
                        <a:t>8 台机器做 DP=8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超节点 EP=128</a:t>
                      </a:r>
                    </a:p>
                    <a:p>
                      <a:pPr algn="l">
                        <a:spcBef>
                          <a:spcPts val="0"/>
                        </a:spcBef>
                        <a:spcAft>
                          <a:spcPts val="0"/>
                        </a:spcAft>
                        <a:lnSpc>
                          <a:spcPct val="100000"/>
                        </a:lnSpc>
                      </a:pPr>
                      <a:r>
                        <a:rPr sz="1200" b="0">
                          <a:solidFill>
                            <a:srgbClr val="1C242E"/>
                          </a:solidFill>
                          <a:latin typeface="Microsoft YaHei"/>
                          <a:ea typeface="Microsoft YaHei"/>
                          <a:cs typeface="Microsoft YaHei"/>
                        </a:rPr>
                        <a:t>一份模型铺满 128 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12064">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通信域</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16 卡 fullmesh</a:t>
                      </a:r>
                    </a:p>
                    <a:p>
                      <a:pPr algn="l">
                        <a:spcBef>
                          <a:spcPts val="0"/>
                        </a:spcBef>
                        <a:spcAft>
                          <a:spcPts val="0"/>
                        </a:spcAft>
                        <a:lnSpc>
                          <a:spcPct val="100000"/>
                        </a:lnSpc>
                      </a:pPr>
                      <a:r>
                        <a:rPr sz="1200" b="0">
                          <a:solidFill>
                            <a:srgbClr val="1C242E"/>
                          </a:solidFill>
                          <a:latin typeface="Microsoft YaHei"/>
                          <a:ea typeface="Microsoft YaHei"/>
                          <a:cs typeface="Microsoft YaHei"/>
                        </a:rPr>
                        <a:t>有效 40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128 卡 D2D，有效 40 GB/s</a:t>
                      </a:r>
                    </a:p>
                    <a:p>
                      <a:pPr algn="l">
                        <a:spcBef>
                          <a:spcPts val="0"/>
                        </a:spcBef>
                        <a:spcAft>
                          <a:spcPts val="0"/>
                        </a:spcAft>
                        <a:lnSpc>
                          <a:spcPct val="100000"/>
                        </a:lnSpc>
                      </a:pPr>
                      <a:r>
                        <a:rPr sz="1200" b="0">
                          <a:solidFill>
                            <a:srgbClr val="1C242E"/>
                          </a:solidFill>
                          <a:latin typeface="Microsoft YaHei"/>
                          <a:ea typeface="Microsoft YaHei"/>
                          <a:cs typeface="Microsoft YaHei"/>
                        </a:rPr>
                        <a:t>KV 走参数面，有效 40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每卡权重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 13.07 GB / 16</a:t>
                      </a:r>
                    </a:p>
                    <a:p>
                      <a:pPr algn="l">
                        <a:spcBef>
                          <a:spcPts val="0"/>
                        </a:spcBef>
                        <a:spcAft>
                          <a:spcPts val="0"/>
                        </a:spcAft>
                        <a:lnSpc>
                          <a:spcPct val="100000"/>
                        </a:lnSpc>
                      </a:pPr>
                      <a:r>
                        <a:rPr sz="1200" b="0">
                          <a:solidFill>
                            <a:srgbClr val="1C242E"/>
                          </a:solidFill>
                          <a:latin typeface="Microsoft YaHei"/>
                          <a:ea typeface="Microsoft YaHei"/>
                          <a:cs typeface="Microsoft YaHei"/>
                        </a:rPr>
                        <a:t>= 0.82 GB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路由专家 27.5 个，78.0 GB FP8</a:t>
                      </a:r>
                    </a:p>
                    <a:p>
                      <a:pPr algn="l">
                        <a:spcBef>
                          <a:spcPts val="0"/>
                        </a:spcBef>
                        <a:spcAft>
                          <a:spcPts val="0"/>
                        </a:spcAft>
                        <a:lnSpc>
                          <a:spcPct val="100000"/>
                        </a:lnSpc>
                      </a:pPr>
                      <a:r>
                        <a:rPr sz="1200" b="0">
                          <a:solidFill>
                            <a:srgbClr val="1C242E"/>
                          </a:solidFill>
                          <a:latin typeface="Microsoft YaHei"/>
                          <a:ea typeface="Microsoft YaHei"/>
                          <a:cs typeface="Microsoft YaHei"/>
                        </a:rPr>
                        <a:t>共享专家 2.83 GB，每卡一份</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本阶段角色</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S² 只来自 21 层 indexer</a:t>
                      </a:r>
                    </a:p>
                    <a:p>
                      <a:pPr algn="l">
                        <a:spcBef>
                          <a:spcPts val="0"/>
                        </a:spcBef>
                        <a:spcAft>
                          <a:spcPts val="0"/>
                        </a:spcAft>
                        <a:lnSpc>
                          <a:spcPct val="100000"/>
                        </a:lnSpc>
                      </a:pPr>
                      <a:r>
                        <a:rPr sz="1200" b="0">
                          <a:solidFill>
                            <a:srgbClr val="1C242E"/>
                          </a:solidFill>
                          <a:latin typeface="Microsoft YaHei"/>
                          <a:ea typeface="Microsoft YaHei"/>
                          <a:cs typeface="Microsoft YaHei"/>
                        </a:rPr>
                        <a:t>决定输入能写多长</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 GEMM 随 token 线性</a:t>
                      </a:r>
                    </a:p>
                    <a:p>
                      <a:pPr algn="l">
                        <a:spcBef>
                          <a:spcPts val="0"/>
                        </a:spcBef>
                        <a:spcAft>
                          <a:spcPts val="0"/>
                        </a:spcAft>
                        <a:lnSpc>
                          <a:spcPct val="100000"/>
                        </a:lnSpc>
                      </a:pPr>
                      <a:r>
                        <a:rPr sz="1200" b="0">
                          <a:solidFill>
                            <a:srgbClr val="1C242E"/>
                          </a:solidFill>
                          <a:latin typeface="Microsoft YaHei"/>
                          <a:ea typeface="Microsoft YaHei"/>
                          <a:cs typeface="Microsoft YaHei"/>
                        </a:rPr>
                        <a:t>到这个长度约占 0.55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03904"/>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秒怎么落到这个输入长度</a:t>
            </a:r>
          </a:p>
        </p:txBody>
      </p:sp>
      <p:graphicFrame>
        <p:nvGraphicFramePr>
          <p:cNvPr id="13" name="Table 12"/>
          <p:cNvGraphicFramePr>
            <a:graphicFrameLocks noGrp="1"/>
          </p:cNvGraphicFramePr>
          <p:nvPr/>
        </p:nvGraphicFramePr>
        <p:xfrm>
          <a:off x="384048" y="4023360"/>
          <a:ext cx="11430000" cy="1847088"/>
        </p:xfrm>
        <a:graphic>
          <a:graphicData uri="http://schemas.openxmlformats.org/drawingml/2006/table">
            <a:tbl>
              <a:tblPr firstRow="1"/>
              <a:tblGrid>
                <a:gridCol w="1554480"/>
                <a:gridCol w="6903720"/>
                <a:gridCol w="2971800"/>
              </a:tblGrid>
              <a:tr h="23774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这一笔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S = 4.84×10^6 时</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indexer</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 × 8192 × S²，除以 128 × 3.50×10^15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8.99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稀疏 MLA</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层，每个 token 看 2048 条 latent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0.11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 GEMM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 个专家 × 2.831×10^9 × 2 × S，除以同一批卡的 FP8 算力</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0.55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投影 + 稠密</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注意力投影，加前 3 层稠密 MLP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读权重 + 送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每卡 82.3 GB / 7.2 TB/s；KV 230.9 GB / (128×40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11.4 毫秒 + 45.1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9260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合计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计算和读权重取长的一项，再加送 KV。机内 allreduce 记在下一页</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    ·    KV 命中 90%</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4K 的 prefill 全局批是 3419，1M 是 13</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3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一份 128 卡副本    ·    访存与通信取峰值的 80%    ·    权重按 FP8，算力 3.50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多条同时进同一份 128 卡副本。命中 90% 的 KV 走参数面，只现算 10%。注意力侧取 allreduce，专家侧取 EP。</a:t>
            </a:r>
          </a:p>
        </p:txBody>
      </p:sp>
      <p:sp>
        <p:nvSpPr>
          <p:cNvPr id="10" name="TextBox 9"/>
          <p:cNvSpPr txBox="1"/>
          <p:nvPr/>
        </p:nvSpPr>
        <p:spPr>
          <a:xfrm>
            <a:off x="384048" y="1316736"/>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秒在两个端点上怎么加完</a:t>
            </a:r>
          </a:p>
        </p:txBody>
      </p:sp>
      <p:graphicFrame>
        <p:nvGraphicFramePr>
          <p:cNvPr id="11" name="Table 10"/>
          <p:cNvGraphicFramePr>
            <a:graphicFrameLocks noGrp="1"/>
          </p:cNvGraphicFramePr>
          <p:nvPr/>
        </p:nvGraphicFramePr>
        <p:xfrm>
          <a:off x="384048" y="1536192"/>
          <a:ext cx="11430000" cy="2176272"/>
        </p:xfrm>
        <a:graphic>
          <a:graphicData uri="http://schemas.openxmlformats.org/drawingml/2006/table">
            <a:tbl>
              <a:tblPr firstRow="1"/>
              <a:tblGrid>
                <a:gridCol w="1554480"/>
                <a:gridCol w="4709160"/>
                <a:gridCol w="2606040"/>
                <a:gridCol w="2560320"/>
              </a:tblGrid>
              <a:tr h="23774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4K，全局批 3419</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1M，全局批 13</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现算 token</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批 × 输入 × 0.1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1.40×10^6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1.36×10^6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 allreduce</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每组现算 token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2×15/16 / 40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7.86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7.66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indexer、2048 条稀疏 MLA、投影</a:t>
                      </a:r>
                    </a:p>
                    <a:p>
                      <a:pPr algn="l">
                        <a:spcBef>
                          <a:spcPts val="0"/>
                        </a:spcBef>
                        <a:spcAft>
                          <a:spcPts val="0"/>
                        </a:spcAft>
                        <a:lnSpc>
                          <a:spcPct val="100000"/>
                        </a:lnSpc>
                      </a:pPr>
                      <a:r>
                        <a:rPr sz="1200" b="0">
                          <a:solidFill>
                            <a:srgbClr val="1C242E"/>
                          </a:solidFill>
                          <a:latin typeface="Microsoft YaHei"/>
                          <a:ea typeface="Microsoft YaHei"/>
                          <a:cs typeface="Microsoft YaHei"/>
                        </a:rPr>
                        <a:t>除以 FP8 的 3.50 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0.12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0.66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专家侧</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最忙卡 BF16 combine / 40 GB/s</a:t>
                      </a:r>
                    </a:p>
                    <a:p>
                      <a:pPr algn="l">
                        <a:spcBef>
                          <a:spcPts val="0"/>
                        </a:spcBef>
                        <a:spcAft>
                          <a:spcPts val="0"/>
                        </a:spcAft>
                        <a:lnSpc>
                          <a:spcPct val="100000"/>
                        </a:lnSpc>
                      </a:pPr>
                      <a:r>
                        <a:rPr sz="1200" b="1">
                          <a:solidFill>
                            <a:srgbClr val="0E7A76"/>
                          </a:solidFill>
                          <a:latin typeface="Microsoft YaHei"/>
                          <a:ea typeface="Microsoft YaHei"/>
                          <a:cs typeface="Microsoft YaHei"/>
                        </a:rPr>
                        <a:t>GEMM 约 0.16 秒，短于这一笔</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2.02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1.96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1089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注意力侧取 allreduce，专家侧取 EP，再加参数面读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9.73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22191"/>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同一条 10 秒，输入从 4K 到 1M</a:t>
            </a:r>
          </a:p>
        </p:txBody>
      </p:sp>
      <p:graphicFrame>
        <p:nvGraphicFramePr>
          <p:cNvPr id="13" name="Table 12"/>
          <p:cNvGraphicFramePr>
            <a:graphicFrameLocks noGrp="1"/>
          </p:cNvGraphicFramePr>
          <p:nvPr/>
        </p:nvGraphicFramePr>
        <p:xfrm>
          <a:off x="384048" y="4096512"/>
          <a:ext cx="11430000" cy="1755648"/>
        </p:xfrm>
        <a:graphic>
          <a:graphicData uri="http://schemas.openxmlformats.org/drawingml/2006/table">
            <a:tbl>
              <a:tblPr firstRow="1"/>
              <a:tblGrid>
                <a:gridCol w="960120"/>
                <a:gridCol w="1417320"/>
                <a:gridCol w="868680"/>
                <a:gridCol w="1554480"/>
                <a:gridCol w="1417320"/>
                <a:gridCol w="1325880"/>
                <a:gridCol w="1691640"/>
                <a:gridCol w="2194560"/>
              </a:tblGrid>
              <a:tr h="219456">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10 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现算 token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allreduce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专家侧</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注意力计算</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读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3419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26.7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1.40×10^6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7.86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2.02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0.12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117.4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1709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13.4</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1.40×10^6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7.86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2.02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0.12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117.4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427</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3.3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1.40×10^6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7.86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2.01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0.13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117.3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0.83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1.39×10^6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7.80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2.00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0.18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116.5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53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1.39×10^6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7.80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2.00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0.25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116.5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0.20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1.36×10^6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7.66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1.96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114.3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13</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0.10</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1.36×10^6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7.66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1.96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0.66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114.3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TextBox 13"/>
          <p:cNvSpPr txBox="1"/>
          <p:nvPr/>
        </p:nvSpPr>
        <p:spPr>
          <a:xfrm>
            <a:off x="384048" y="6053328"/>
            <a:ext cx="11430000" cy="237744"/>
          </a:xfrm>
          <a:prstGeom prst="rect">
            <a:avLst/>
          </a:prstGeom>
          <a:noFill/>
        </p:spPr>
        <p:txBody>
          <a:bodyPr wrap="square" lIns="0" rIns="0" tIns="0" bIns="0" anchor="ctr"/>
          <a:lstStyle/>
          <a:p>
            <a:pPr algn="l">
              <a:spcBef>
                <a:spcPts val="0"/>
              </a:spcBef>
              <a:spcAft>
                <a:spcPts val="0"/>
              </a:spcAft>
            </a:pPr>
            <a:r>
              <a:rPr sz="1300" b="0">
                <a:solidFill>
                  <a:srgbClr val="5A636E"/>
                </a:solidFill>
                <a:latin typeface="Microsoft YaHei"/>
                <a:ea typeface="Microsoft YaHei"/>
                <a:cs typeface="Microsoft YaHei"/>
              </a:rPr>
              <a:t>这些批的 KV 都放得进 HBM：4K 能放 6.01 万 条，1M 能放 234 条。参数面读命中 KV 约 117.4 毫秒。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10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毫秒、短输入，全局批 328</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4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一份 128 卡副本    ·    访存与通信取峰值的 80%    ·    权重按 FP8，算力 3.50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这一档读 19.7 个专家，8.14 毫秒。allreduce 1.84 毫秒。27.5 个全读要 11.23 毫秒。</a:t>
            </a:r>
          </a:p>
        </p:txBody>
      </p:sp>
      <p:sp>
        <p:nvSpPr>
          <p:cNvPr id="10" name="TextBox 9"/>
          <p:cNvSpPr txBox="1"/>
          <p:nvPr/>
        </p:nvSpPr>
        <p:spPr>
          <a:xfrm>
            <a:off x="384048" y="1335024"/>
            <a:ext cx="548640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短输入（4K）这一步怎么加到 10 毫秒</a:t>
            </a:r>
          </a:p>
        </p:txBody>
      </p:sp>
      <p:graphicFrame>
        <p:nvGraphicFramePr>
          <p:cNvPr id="12" name="Table 11"/>
          <p:cNvGraphicFramePr>
            <a:graphicFrameLocks noGrp="1"/>
          </p:cNvGraphicFramePr>
          <p:nvPr/>
        </p:nvGraphicFramePr>
        <p:xfrm>
          <a:off x="384048" y="1591056"/>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TP=16，DP=8</a:t>
                      </a:r>
                    </a:p>
                    <a:p>
                      <a:pPr algn="l">
                        <a:spcBef>
                          <a:spcPts val="0"/>
                        </a:spcBef>
                        <a:spcAft>
                          <a:spcPts val="0"/>
                        </a:spcAft>
                        <a:lnSpc>
                          <a:spcPct val="100000"/>
                        </a:lnSpc>
                      </a:pPr>
                      <a:r>
                        <a:rPr sz="1200" b="0">
                          <a:solidFill>
                            <a:srgbClr val="1C242E"/>
                          </a:solidFill>
                          <a:latin typeface="Microsoft YaHei"/>
                          <a:ea typeface="Microsoft YaHei"/>
                          <a:cs typeface="Microsoft YaHei"/>
                        </a:rPr>
                        <a:t>每组 token 数 = ⌈BS / 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每层机内 allreduce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1.84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BF16 combine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0.34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注意力权重 0.82 GB</a:t>
                      </a:r>
                    </a:p>
                    <a:p>
                      <a:pPr algn="l">
                        <a:spcBef>
                          <a:spcPts val="0"/>
                        </a:spcBef>
                        <a:spcAft>
                          <a:spcPts val="0"/>
                        </a:spcAft>
                        <a:lnSpc>
                          <a:spcPct val="100000"/>
                        </a:lnSpc>
                      </a:pPr>
                      <a:r>
                        <a:rPr sz="1200" b="1">
                          <a:solidFill>
                            <a:srgbClr val="0E7A76"/>
                          </a:solidFill>
                          <a:latin typeface="Microsoft YaHei"/>
                          <a:ea typeface="Microsoft YaHei"/>
                          <a:cs typeface="Microsoft YaHei"/>
                        </a:rPr>
                        <a:t>这一步 0.11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19.7 个专家这一步 8.14 毫秒</a:t>
                      </a:r>
                    </a:p>
                    <a:p>
                      <a:pPr algn="l">
                        <a:spcBef>
                          <a:spcPts val="0"/>
                        </a:spcBef>
                        <a:spcAft>
                          <a:spcPts val="0"/>
                        </a:spcAft>
                        <a:lnSpc>
                          <a:spcPct val="100000"/>
                        </a:lnSpc>
                      </a:pPr>
                      <a:r>
                        <a:rPr sz="1200" b="1">
                          <a:solidFill>
                            <a:srgbClr val="0E7A76"/>
                          </a:solidFill>
                          <a:latin typeface="Microsoft YaHei"/>
                          <a:ea typeface="Microsoft YaHei"/>
                          <a:cs typeface="Microsoft YaHei"/>
                        </a:rPr>
                        <a:t>全读要 11.23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行数 = ⌈BS / 8⌉</a:t>
                      </a:r>
                    </a:p>
                    <a:p>
                      <a:pPr algn="l">
                        <a:spcBef>
                          <a:spcPts val="0"/>
                        </a:spcBef>
                        <a:spcAft>
                          <a:spcPts val="0"/>
                        </a:spcAft>
                        <a:lnSpc>
                          <a:spcPct val="100000"/>
                        </a:lnSpc>
                      </a:pPr>
                      <a:r>
                        <a:rPr sz="1200" b="0">
                          <a:solidFill>
                            <a:srgbClr val="1C242E"/>
                          </a:solidFill>
                          <a:latin typeface="Microsoft YaHei"/>
                          <a:ea typeface="Microsoft YaHei"/>
                          <a:cs typeface="Microsoft YaHei"/>
                        </a:rPr>
                        <a:t>按 16 行砖对齐</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1.4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591056"/>
          <a:ext cx="5349240" cy="2926080"/>
        </p:xfrm>
        <a:graphic>
          <a:graphicData uri="http://schemas.openxmlformats.org/drawingml/2006/table">
            <a:tbl>
              <a:tblPr firstRow="1"/>
              <a:tblGrid>
                <a:gridCol w="1097280"/>
                <a:gridCol w="320040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12064">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命中</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1 − exp(−8×328 / 3526) = 52%</a:t>
                      </a:r>
                    </a:p>
                    <a:p>
                      <a:pPr algn="l">
                        <a:spcBef>
                          <a:spcPts val="0"/>
                        </a:spcBef>
                        <a:spcAft>
                          <a:spcPts val="0"/>
                        </a:spcAft>
                        <a:lnSpc>
                          <a:spcPct val="100000"/>
                        </a:lnSpc>
                      </a:pPr>
                      <a:r>
                        <a:rPr sz="1200" b="0">
                          <a:solidFill>
                            <a:srgbClr val="1C242E"/>
                          </a:solidFill>
                          <a:latin typeface="Microsoft YaHei"/>
                          <a:ea typeface="Microsoft YaHei"/>
                          <a:cs typeface="Microsoft YaHei"/>
                        </a:rPr>
                        <a:t>最忙卡按均值 + 2σ，19.7 个</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93776">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19.7 × 2.831 GB + 共享 2.83 GB</a:t>
                      </a:r>
                    </a:p>
                    <a:p>
                      <a:pPr algn="l">
                        <a:spcBef>
                          <a:spcPts val="0"/>
                        </a:spcBef>
                        <a:spcAft>
                          <a:spcPts val="0"/>
                        </a:spcAft>
                        <a:lnSpc>
                          <a:spcPct val="100000"/>
                        </a:lnSpc>
                      </a:pPr>
                      <a:r>
                        <a:rPr sz="1200" b="1">
                          <a:solidFill>
                            <a:srgbClr val="0E7A76"/>
                          </a:solidFill>
                          <a:latin typeface="Microsoft YaHei"/>
                          <a:ea typeface="Microsoft YaHei"/>
                          <a:cs typeface="Microsoft YaHei"/>
                        </a:rPr>
                        <a:t>除以 7.2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8.14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41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2×15/16 / 40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1.84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1.4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0.42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最忙卡送出的 BF16 combine / 40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1.84 毫秒，专家侧 8.14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512K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328</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2.6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242</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1.9 条</a:t>
            </a:r>
          </a:p>
          <a:p>
            <a:pPr algn="l">
              <a:spcBef>
                <a:spcPts val="0"/>
              </a:spcBef>
              <a:spcAft>
                <a:spcPts val="0"/>
              </a:spcAft>
            </a:pPr>
            <a:r>
              <a:rPr sz="1300" b="0">
                <a:solidFill>
                  <a:srgbClr val="1C242E"/>
                </a:solidFill>
                <a:latin typeface="Microsoft YaHei"/>
                <a:ea typeface="Microsoft YaHei"/>
                <a:cs typeface="Microsoft YaHei"/>
              </a:rPr>
              <a:t>3.0% 经本卡 H2D</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2M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130</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1.0 条</a:t>
            </a:r>
          </a:p>
          <a:p>
            <a:pPr algn="l">
              <a:spcBef>
                <a:spcPts val="0"/>
              </a:spcBef>
              <a:spcAft>
                <a:spcPts val="0"/>
              </a:spcAft>
            </a:pPr>
            <a:r>
              <a:rPr sz="1300" b="0">
                <a:solidFill>
                  <a:srgbClr val="1C242E"/>
                </a:solidFill>
                <a:latin typeface="Microsoft YaHei"/>
                <a:ea typeface="Microsoft YaHei"/>
                <a:cs typeface="Microsoft YaHei"/>
              </a:rPr>
              <a:t>5.4% 经本卡 H2D</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4.84×10^6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55</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0.43 条</a:t>
            </a:r>
          </a:p>
          <a:p>
            <a:pPr algn="l">
              <a:spcBef>
                <a:spcPts val="0"/>
              </a:spcBef>
              <a:spcAft>
                <a:spcPts val="0"/>
              </a:spcAft>
            </a:pPr>
            <a:r>
              <a:rPr sz="1300" b="0">
                <a:solidFill>
                  <a:srgbClr val="1C242E"/>
                </a:solidFill>
                <a:latin typeface="Microsoft YaHei"/>
                <a:ea typeface="Microsoft YaHei"/>
                <a:cs typeface="Microsoft YaHei"/>
              </a:rPr>
              <a:t>7.6% 经本卡 H2D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30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30 毫秒、短输入，全局批 3336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5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一份 128 卡副本    ·    访存与通信取峰值的 80%    ·    权重按 FP8，算力 3.50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27.5 个专家全读，11.23 毫秒。机内 allreduce 18.73 毫秒。专家域通信 4.80 毫秒。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    ·    和 10 毫秒同一份切分</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短输入、全局批 3336，这一步怎么加</a:t>
            </a:r>
          </a:p>
        </p:txBody>
      </p:sp>
      <p:graphicFrame>
        <p:nvGraphicFramePr>
          <p:cNvPr id="12" name="Table 11"/>
          <p:cNvGraphicFramePr>
            <a:graphicFrameLocks noGrp="1"/>
          </p:cNvGraphicFramePr>
          <p:nvPr/>
        </p:nvGraphicFramePr>
        <p:xfrm>
          <a:off x="384048" y="1591056"/>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TP=16，DP=8</a:t>
                      </a:r>
                    </a:p>
                    <a:p>
                      <a:pPr algn="l">
                        <a:spcBef>
                          <a:spcPts val="0"/>
                        </a:spcBef>
                        <a:spcAft>
                          <a:spcPts val="0"/>
                        </a:spcAft>
                        <a:lnSpc>
                          <a:spcPct val="100000"/>
                        </a:lnSpc>
                      </a:pPr>
                      <a:r>
                        <a:rPr sz="1200" b="0">
                          <a:solidFill>
                            <a:srgbClr val="1C242E"/>
                          </a:solidFill>
                          <a:latin typeface="Microsoft YaHei"/>
                          <a:ea typeface="Microsoft YaHei"/>
                          <a:cs typeface="Microsoft YaHei"/>
                        </a:rPr>
                        <a:t>3336 / 8 = 417 条 / 组</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个专家全醒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allreduce 随批线性涨</a:t>
                      </a:r>
                    </a:p>
                    <a:p>
                      <a:pPr algn="l">
                        <a:spcBef>
                          <a:spcPts val="0"/>
                        </a:spcBef>
                        <a:spcAft>
                          <a:spcPts val="0"/>
                        </a:spcAft>
                        <a:lnSpc>
                          <a:spcPct val="100000"/>
                        </a:lnSpc>
                      </a:pPr>
                      <a:r>
                        <a:rPr sz="1200" b="1">
                          <a:solidFill>
                            <a:srgbClr val="0E7A76"/>
                          </a:solidFill>
                          <a:latin typeface="Microsoft YaHei"/>
                          <a:ea typeface="Microsoft YaHei"/>
                          <a:cs typeface="Microsoft YaHei"/>
                        </a:rPr>
                        <a:t>这一档是注意力侧最长</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combine 走 40 GB/s</a:t>
                      </a:r>
                    </a:p>
                    <a:p>
                      <a:pPr algn="l">
                        <a:spcBef>
                          <a:spcPts val="0"/>
                        </a:spcBef>
                        <a:spcAft>
                          <a:spcPts val="0"/>
                        </a:spcAft>
                        <a:lnSpc>
                          <a:spcPct val="100000"/>
                        </a:lnSpc>
                      </a:pPr>
                      <a:r>
                        <a:rPr sz="1200" b="1">
                          <a:solidFill>
                            <a:srgbClr val="0E7A76"/>
                          </a:solidFill>
                          <a:latin typeface="Microsoft YaHei"/>
                          <a:ea typeface="Microsoft YaHei"/>
                          <a:cs typeface="Microsoft YaHei"/>
                        </a:rPr>
                        <a:t>4.80 毫秒，短于读权重</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短输入全在 HBM</a:t>
                      </a:r>
                    </a:p>
                    <a:p>
                      <a:pPr algn="l">
                        <a:spcBef>
                          <a:spcPts val="0"/>
                        </a:spcBef>
                        <a:spcAft>
                          <a:spcPts val="0"/>
                        </a:spcAft>
                        <a:lnSpc>
                          <a:spcPct val="100000"/>
                        </a:lnSpc>
                      </a:pPr>
                      <a:r>
                        <a:rPr sz="1200" b="0">
                          <a:solidFill>
                            <a:srgbClr val="1C242E"/>
                          </a:solidFill>
                          <a:latin typeface="Microsoft YaHei"/>
                          <a:ea typeface="Microsoft YaHei"/>
                          <a:cs typeface="Microsoft YaHei"/>
                        </a:rPr>
                        <a:t>放不下走本卡 H2D 64.4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78.0 GB 路由 + 2.83 GB 共享</a:t>
                      </a:r>
                    </a:p>
                    <a:p>
                      <a:pPr algn="l">
                        <a:spcBef>
                          <a:spcPts val="0"/>
                        </a:spcBef>
                        <a:spcAft>
                          <a:spcPts val="0"/>
                        </a:spcAft>
                        <a:lnSpc>
                          <a:spcPct val="100000"/>
                        </a:lnSpc>
                      </a:pPr>
                      <a:r>
                        <a:rPr sz="1200" b="0">
                          <a:solidFill>
                            <a:srgbClr val="1C242E"/>
                          </a:solidFill>
                          <a:latin typeface="Microsoft YaHei"/>
                          <a:ea typeface="Microsoft YaHei"/>
                          <a:cs typeface="Microsoft YaHei"/>
                        </a:rPr>
                        <a:t>/ 7.2 TB/s = 11.23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注意力计算 0.29 毫秒</a:t>
                      </a:r>
                    </a:p>
                    <a:p>
                      <a:pPr algn="l">
                        <a:spcBef>
                          <a:spcPts val="0"/>
                        </a:spcBef>
                        <a:spcAft>
                          <a:spcPts val="0"/>
                        </a:spcAft>
                        <a:lnSpc>
                          <a:spcPct val="100000"/>
                        </a:lnSpc>
                      </a:pPr>
                      <a:r>
                        <a:rPr sz="1200" b="0">
                          <a:solidFill>
                            <a:srgbClr val="1C242E"/>
                          </a:solidFill>
                          <a:latin typeface="Microsoft YaHei"/>
                          <a:ea typeface="Microsoft YaHei"/>
                          <a:cs typeface="Microsoft YaHei"/>
                        </a:rPr>
                        <a:t>短于 allreduce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每专家约 7.6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47%，0.80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591056"/>
          <a:ext cx="5349240" cy="2816352"/>
        </p:xfrm>
        <a:graphic>
          <a:graphicData uri="http://schemas.openxmlformats.org/drawingml/2006/table">
            <a:tbl>
              <a:tblPr firstRow="1"/>
              <a:tblGrid>
                <a:gridCol w="1143000"/>
                <a:gridCol w="315468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命中率 100%，27.5 个专家全读</a:t>
                      </a:r>
                    </a:p>
                    <a:p>
                      <a:pPr algn="l">
                        <a:spcBef>
                          <a:spcPts val="0"/>
                        </a:spcBef>
                        <a:spcAft>
                          <a:spcPts val="0"/>
                        </a:spcAft>
                        <a:lnSpc>
                          <a:spcPct val="100000"/>
                        </a:lnSpc>
                      </a:pPr>
                      <a:r>
                        <a:rPr sz="1200" b="1">
                          <a:solidFill>
                            <a:srgbClr val="0E7A76"/>
                          </a:solidFill>
                          <a:latin typeface="Microsoft YaHei"/>
                          <a:ea typeface="Microsoft YaHei"/>
                          <a:cs typeface="Microsoft YaHei"/>
                        </a:rPr>
                        <a:t>加共享专家，除以 7.2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11.23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417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2×15/16 / 40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18.73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3336 × 8 / 3526 ≈ 7.6 token / 专家</a:t>
                      </a:r>
                    </a:p>
                    <a:p>
                      <a:pPr algn="l">
                        <a:spcBef>
                          <a:spcPts val="0"/>
                        </a:spcBef>
                        <a:spcAft>
                          <a:spcPts val="0"/>
                        </a:spcAft>
                        <a:lnSpc>
                          <a:spcPct val="100000"/>
                        </a:lnSpc>
                      </a:pPr>
                      <a:r>
                        <a:rPr sz="1200" b="0">
                          <a:solidFill>
                            <a:srgbClr val="1C242E"/>
                          </a:solidFill>
                          <a:latin typeface="Microsoft YaHei"/>
                          <a:ea typeface="Microsoft YaHei"/>
                          <a:cs typeface="Microsoft YaHei"/>
                        </a:rPr>
                        <a:t>对齐效率 47%</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0.80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combine / 40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4.80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短输入的 indexer、稀疏 MLA 和投影</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0.29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18.73 毫秒，专家侧 11.23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32K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3336</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26.1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128K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2217</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17.3 条</a:t>
            </a:r>
          </a:p>
          <a:p>
            <a:pPr algn="l">
              <a:spcBef>
                <a:spcPts val="0"/>
              </a:spcBef>
              <a:spcAft>
                <a:spcPts val="0"/>
              </a:spcAft>
            </a:pPr>
            <a:r>
              <a:rPr sz="1300" b="0">
                <a:solidFill>
                  <a:srgbClr val="1C242E"/>
                </a:solidFill>
                <a:latin typeface="Microsoft YaHei"/>
                <a:ea typeface="Microsoft YaHei"/>
                <a:cs typeface="Microsoft YaHei"/>
              </a:rPr>
              <a:t>15% 经本卡 H2D</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512K</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575</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4.5 条</a:t>
            </a:r>
          </a:p>
          <a:p>
            <a:pPr algn="l">
              <a:spcBef>
                <a:spcPts val="0"/>
              </a:spcBef>
              <a:spcAft>
                <a:spcPts val="0"/>
              </a:spcAft>
            </a:pPr>
            <a:r>
              <a:rPr sz="1300" b="0">
                <a:solidFill>
                  <a:srgbClr val="1C242E"/>
                </a:solidFill>
                <a:latin typeface="Microsoft YaHei"/>
                <a:ea typeface="Microsoft YaHei"/>
                <a:cs typeface="Microsoft YaHei"/>
              </a:rPr>
              <a:t>18% 经本卡 H2D</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295</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2.3 条</a:t>
            </a:r>
          </a:p>
          <a:p>
            <a:pPr algn="l">
              <a:spcBef>
                <a:spcPts val="0"/>
              </a:spcBef>
              <a:spcAft>
                <a:spcPts val="0"/>
              </a:spcAft>
            </a:pPr>
            <a:r>
              <a:rPr sz="1300" b="0">
                <a:solidFill>
                  <a:srgbClr val="1C242E"/>
                </a:solidFill>
                <a:latin typeface="Microsoft YaHei"/>
                <a:ea typeface="Microsoft YaHei"/>
                <a:cs typeface="Microsoft YaHei"/>
              </a:rPr>
              <a:t>20% 经本卡 H2D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不同输入下的最大全局批</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输入越长，30 毫秒的全局批掉得越快</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6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一份 128 卡副本    ·    访存与通信取峰值的 80%    ·    权重按 FP8，算力 3.50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全局批是 128 卡上的条数。溢出 KV 走本卡 H2D，按 64.4 GB/s：800 Gb/s 的 80% 与每卡 DDR 份额里较慢的一条。</a:t>
            </a:r>
          </a:p>
        </p:txBody>
      </p:sp>
      <p:graphicFrame>
        <p:nvGraphicFramePr>
          <p:cNvPr id="10" name="Table 9"/>
          <p:cNvGraphicFramePr>
            <a:graphicFrameLocks noGrp="1"/>
          </p:cNvGraphicFramePr>
          <p:nvPr/>
        </p:nvGraphicFramePr>
        <p:xfrm>
          <a:off x="384048" y="1389888"/>
          <a:ext cx="11430000" cy="3145536"/>
        </p:xfrm>
        <a:graphic>
          <a:graphicData uri="http://schemas.openxmlformats.org/drawingml/2006/table">
            <a:tbl>
              <a:tblPr firstRow="1"/>
              <a:tblGrid>
                <a:gridCol w="1051560"/>
                <a:gridCol w="1234440"/>
                <a:gridCol w="1234440"/>
                <a:gridCol w="1554480"/>
                <a:gridCol w="914400"/>
                <a:gridCol w="1600200"/>
                <a:gridCol w="914400"/>
                <a:gridCol w="2926080"/>
              </a:tblGrid>
              <a:tr h="32918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每条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HBM 能放</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毫秒的 KV 放哪</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195.4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6.01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3336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26.1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390.8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3.00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3336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26.1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1.56 GB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7508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3336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26.1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6.25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1877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328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2217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17.3</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15% 经本卡 H2D</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12.50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938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328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1127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 经本卡 H2D</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25.01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469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328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575</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4.5</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18% 经本卡 H2D</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02336">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50.02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234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242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295</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2.3</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20% 经本卡 H2D</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1" name="Rounded Rectangle 10"/>
          <p:cNvSpPr/>
          <p:nvPr/>
        </p:nvSpPr>
        <p:spPr>
          <a:xfrm>
            <a:off x="384048" y="5029200"/>
            <a:ext cx="11430000" cy="1426464"/>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5102352"/>
            <a:ext cx="11137392" cy="1280160"/>
          </a:xfrm>
          <a:prstGeom prst="rect">
            <a:avLst/>
          </a:prstGeom>
          <a:noFill/>
        </p:spPr>
        <p:txBody>
          <a:bodyPr wrap="square" lIns="0" rIns="0" tIns="0" bIns="0" anchor="ctr"/>
          <a:lstStyle/>
          <a:p>
            <a:pPr algn="l">
              <a:spcBef>
                <a:spcPts val="0"/>
              </a:spcBef>
              <a:spcAft>
                <a:spcPts val="0"/>
              </a:spcAft>
            </a:pPr>
            <a:r>
              <a:rPr sz="1400" b="0">
                <a:solidFill>
                  <a:srgbClr val="7A541C"/>
                </a:solidFill>
                <a:latin typeface="Microsoft YaHei"/>
                <a:ea typeface="Microsoft YaHei"/>
                <a:cs typeface="Microsoft YaHei"/>
              </a:rPr>
              <a:t>10 毫秒在 512K 及更短是 328，全在 HBM。一步是读 19.7 个专家 8.14 毫秒，加 allreduce 1.84 毫秒。1M 降到 242，4.84×10^6 降到 55。</a:t>
            </a:r>
          </a:p>
          <a:p>
            <a:pPr algn="l">
              <a:spcBef>
                <a:spcPts val="0"/>
              </a:spcBef>
              <a:spcAft>
                <a:spcPts val="0"/>
              </a:spcAft>
            </a:pPr>
            <a:r>
              <a:rPr sz="1400" b="0">
                <a:solidFill>
                  <a:srgbClr val="7A541C"/>
                </a:solidFill>
                <a:latin typeface="Microsoft YaHei"/>
                <a:ea typeface="Microsoft YaHei"/>
                <a:cs typeface="Microsoft YaHei"/>
              </a:rPr>
              <a:t>30 毫秒在约 8.4 万 token 以内仍是 3336，卡在 allreduce 18.73 毫秒 加读满专家 11.23 毫秒。128K 为 2217，1M 为 295，2M 为 158。</a:t>
            </a:r>
          </a:p>
          <a:p>
            <a:pPr algn="l">
              <a:spcBef>
                <a:spcPts val="0"/>
              </a:spcBef>
              <a:spcAft>
                <a:spcPts val="0"/>
              </a:spcAft>
            </a:pPr>
            <a:r>
              <a:rPr sz="1400" b="0">
                <a:solidFill>
                  <a:srgbClr val="7A541C"/>
                </a:solidFill>
                <a:latin typeface="Microsoft YaHei"/>
                <a:ea typeface="Microsoft YaHei"/>
                <a:cs typeface="Microsoft YaHei"/>
              </a:rPr>
              <a:t>Prefill 的 10 秒全局批在第 3 页：4K 为 3419，1M 为 13。4K、输出 512、90% 命中时，P:D 在 10 毫秒约 1:5.3，在 30 毫秒约 1:1.6。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10T GLM：结构外推与 TTFT / TPOT（配置 2）</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