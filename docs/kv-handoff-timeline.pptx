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时序按 DistServe 的定义：TTFT 是 prefill 阶段，首 token 在 prefill 侧生成；TPOT 从第二个 token 起算。按层搬运见 Splitwise / DéjàVu 以及后续的 SmartGen、BanaServe：算完一层即可送往已经选定的 decode。历史前缀来自 KV 池，只依赖目的地，可与本次 prefill 并行。露出的时间 = max(0, 单条搬运时间 - prefill 计算时间)。DistServe 的平均速率条件：所需带宽 = 每秒完成的 prefill 条数 × 单条 KV 字节 × 8。OPT-66B、512 token 约 1.13 GB，10 次/秒约合 90 Gbps，低于此带宽则排队积累。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上下文先切成两段：KV 池里已经有的历史段只读取，未命中的一段在本地重计算。依赖在层上：本地计算第 i 层的 attention 之前，第 i 层的历史 KV 必须已经到位。读取第 i+1 层可以和本地计算第 i 层重叠。读取慢于计算时，两层之间出现等待，这段在首 token 之前，进入 TTFT。层间等待 = max(0, 该层历史 KV 读完的时刻 - 上一层本地算完的时刻)。若某一小段在本地重算比从池里读取更便宜，就把这一段从读取改成重算，用来消掉等待。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1133856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PD 分离  ·  KV 交接    1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29184"/>
            <a:ext cx="115214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搬运的时序：谁依赖谁，哪一段露在外面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713232"/>
            <a:ext cx="64008" cy="329184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76656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目的地先选定。首 token 由 prefill 返回。按层送出的 KV 能被后续计算盖住；盖不住的最后一段，出现在第一个字和第二个字之间。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664208" y="1170432"/>
            <a:ext cx="6236208" cy="3456432"/>
          </a:xfrm>
          <a:prstGeom prst="rect">
            <a:avLst/>
          </a:prstGeom>
          <a:solidFill>
            <a:srgbClr val="E8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00416" y="1170432"/>
            <a:ext cx="3749040" cy="3456432"/>
          </a:xfrm>
          <a:prstGeom prst="rect">
            <a:avLst/>
          </a:prstGeom>
          <a:solidFill>
            <a:srgbClr val="FF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4208" y="1170432"/>
            <a:ext cx="6236208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被 prefill 盖住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6" y="1170432"/>
            <a:ext cx="374904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露出，可优化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" y="1444752"/>
            <a:ext cx="1353312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选定目的地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" y="2029968"/>
            <a:ext cx="1353312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Prefill 计算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" y="2779776"/>
            <a:ext cx="1353312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本次 KV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3364992"/>
            <a:ext cx="1353312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历史前缀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4114800"/>
            <a:ext cx="1353312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Decode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1517904"/>
            <a:ext cx="941831" cy="365760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选定 decode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15768" y="2084832"/>
            <a:ext cx="1261872" cy="402336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59" y="2084832"/>
            <a:ext cx="1261872" cy="402336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0952" y="2084832"/>
            <a:ext cx="1261872" cy="402336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084832"/>
            <a:ext cx="1261872" cy="402336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1170432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6E48"/>
                </a:solidFill>
                <a:latin typeface="Microsoft YaHei"/>
                <a:ea typeface="Microsoft YaHei"/>
                <a:cs typeface="Microsoft YaHei"/>
              </a:rPr>
              <a:t>首 token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59" y="2834640"/>
            <a:ext cx="1261872" cy="402336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KV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30952" y="2834640"/>
            <a:ext cx="1261872" cy="402336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KV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38544" y="2834640"/>
            <a:ext cx="1261872" cy="402336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KV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0" y="2834640"/>
            <a:ext cx="1261872" cy="402336"/>
          </a:xfrm>
          <a:prstGeom prst="rect">
            <a:avLst/>
          </a:prstGeom>
          <a:solidFill>
            <a:srgbClr val="B04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KV 4  露出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72016" y="2834640"/>
            <a:ext cx="905255" cy="402336"/>
          </a:xfrm>
          <a:prstGeom prst="rect">
            <a:avLst/>
          </a:prstGeom>
          <a:solidFill>
            <a:srgbClr val="FF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气泡可压短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15768" y="3438144"/>
            <a:ext cx="3877056" cy="365760"/>
          </a:xfrm>
          <a:prstGeom prst="rect">
            <a:avLst/>
          </a:prstGeom>
          <a:solidFill>
            <a:srgbClr val="8C6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历史前缀并行加载，不依赖本次逐层计算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00416" y="4187952"/>
            <a:ext cx="2331720" cy="365760"/>
          </a:xfrm>
          <a:prstGeom prst="rect">
            <a:avLst/>
          </a:prstGeom>
          <a:solidFill>
            <a:srgbClr val="E2E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等待 KV 到齐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87000" y="4187952"/>
            <a:ext cx="1307592" cy="365760"/>
          </a:xfrm>
          <a:prstGeom prst="rect">
            <a:avLst/>
          </a:prstGeom>
          <a:solidFill>
            <a:srgbClr val="1B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2 token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5768" y="2542032"/>
            <a:ext cx="5184648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依赖：某一层算完，才能送出这一层的 KV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0416" y="3877056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依赖：KV 到齐，才能开算第 2 token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1444752"/>
            <a:ext cx="5093208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依赖：目的地选定之后，本次 KV 与历史前缀才能开搬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86700" y="1408176"/>
            <a:ext cx="27432" cy="3218688"/>
          </a:xfrm>
          <a:prstGeom prst="rect">
            <a:avLst/>
          </a:prstGeom>
          <a:solidFill>
            <a:srgbClr val="B04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56032" y="5074920"/>
            <a:ext cx="3820058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6032" y="5074920"/>
            <a:ext cx="73152" cy="1170432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5148072"/>
            <a:ext cx="352745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被盖住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5440680"/>
            <a:ext cx="352745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KV 1 到 KV 3 的搬运，落在后面几层的计算时间里。用户等到的首 token，仍等于 prefill 加排队。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85818" y="5074920"/>
            <a:ext cx="3820058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85818" y="5074920"/>
            <a:ext cx="73152" cy="1170432"/>
          </a:xfrm>
          <a:prstGeom prst="rect">
            <a:avLst/>
          </a:prstGeom>
          <a:solidFill>
            <a:srgbClr val="B04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68698" y="5148072"/>
            <a:ext cx="352745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露出，可优化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68698" y="5440680"/>
            <a:ext cx="352745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最后一层要等算完才能送，所以伸到首 token 之后。带宽变低、KV 变大、多条同时搬，气泡在这里变长。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15604" y="5074920"/>
            <a:ext cx="3820058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15604" y="5074920"/>
            <a:ext cx="73152" cy="1170432"/>
          </a:xfrm>
          <a:prstGeom prst="rect">
            <a:avLst/>
          </a:prstGeom>
          <a:solidFill>
            <a:srgbClr val="1B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98484" y="5148072"/>
            <a:ext cx="352745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B6E48"/>
                </a:solidFill>
                <a:latin typeface="Microsoft YaHei"/>
                <a:ea typeface="Microsoft YaHei"/>
                <a:cs typeface="Microsoft YaHei"/>
              </a:rPr>
              <a:t>露出落在哪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98484" y="5440680"/>
            <a:ext cx="352745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首 token 已经返回时，这段进第一个 TPOT。若改成等 KV 到齐才吐首字，同一段进入 TTFT。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6032" y="6446520"/>
            <a:ext cx="1161288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露出的时间 = max(0, 单条搬运时间 - prefill 计算时间)。图中每层搬运与每层计算等长，所以露出正好是最后一层；搬运更慢时，气泡再往右长。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1133856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PD 分离  ·  Prefill 与 KV 池    2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29184"/>
            <a:ext cx="115214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读历史 KV，本地只重算未命中的一段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713232"/>
            <a:ext cx="64008" cy="329184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76656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历史段按层从 KV 池读，未命中的一段在本地算。同一层要等历史 KV 到位才能算。读得比算得慢时，等待出现在首 token 之前。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133856"/>
            <a:ext cx="1389888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上下文切分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133856"/>
            <a:ext cx="6944867" cy="329184"/>
          </a:xfrm>
          <a:prstGeom prst="rect">
            <a:avLst/>
          </a:prstGeom>
          <a:solidFill>
            <a:srgbClr val="8C6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历史段：KV 池已有，只读取</a:t>
            </a:r>
          </a:p>
        </p:txBody>
      </p:sp>
      <p:sp>
        <p:nvSpPr>
          <p:cNvPr id="9" name="Rectangle 8"/>
          <p:cNvSpPr/>
          <p:nvPr/>
        </p:nvSpPr>
        <p:spPr>
          <a:xfrm>
            <a:off x="8663939" y="1133856"/>
            <a:ext cx="2976372" cy="329184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重算段：未命中，本地计算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9072" y="1463040"/>
            <a:ext cx="99212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上面是 token 切分，不是时间轴。下面每一格才是时间。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19072" y="1719072"/>
            <a:ext cx="10030968" cy="1591056"/>
          </a:xfrm>
          <a:prstGeom prst="rect">
            <a:avLst/>
          </a:prstGeom>
          <a:solidFill>
            <a:srgbClr val="E8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1719072"/>
            <a:ext cx="9070848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时间  →    读历史可与上一层本地计算重叠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2760" y="1719072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6E48"/>
                </a:solidFill>
                <a:latin typeface="Microsoft YaHei"/>
                <a:ea typeface="Microsoft YaHei"/>
                <a:cs typeface="Microsoft YaHei"/>
              </a:rPr>
              <a:t>首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1975104"/>
            <a:ext cx="1389888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KV 池读取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2779776"/>
            <a:ext cx="1389888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本地重计算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73936" y="2048256"/>
            <a:ext cx="932688" cy="384047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判定命中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73936" y="2779776"/>
            <a:ext cx="950976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等切分完成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2029968"/>
            <a:ext cx="1700784" cy="420623"/>
          </a:xfrm>
          <a:prstGeom prst="rect">
            <a:avLst/>
          </a:prstGeom>
          <a:solidFill>
            <a:srgbClr val="8C6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历史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98848" y="2029968"/>
            <a:ext cx="1700784" cy="420623"/>
          </a:xfrm>
          <a:prstGeom prst="rect">
            <a:avLst/>
          </a:prstGeom>
          <a:solidFill>
            <a:srgbClr val="8C6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历史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54496" y="2029968"/>
            <a:ext cx="1700784" cy="420623"/>
          </a:xfrm>
          <a:prstGeom prst="rect">
            <a:avLst/>
          </a:prstGeom>
          <a:solidFill>
            <a:srgbClr val="8C6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历史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10144" y="2029968"/>
            <a:ext cx="1700784" cy="420623"/>
          </a:xfrm>
          <a:prstGeom prst="rect">
            <a:avLst/>
          </a:prstGeom>
          <a:solidFill>
            <a:srgbClr val="8C6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历史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2834640"/>
            <a:ext cx="1700784" cy="420623"/>
          </a:xfrm>
          <a:prstGeom prst="rect">
            <a:avLst/>
          </a:prstGeom>
          <a:solidFill>
            <a:srgbClr val="FF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等历史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834640"/>
            <a:ext cx="969264" cy="420623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重算 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22976" y="2834640"/>
            <a:ext cx="676655" cy="420623"/>
          </a:xfrm>
          <a:prstGeom prst="rect">
            <a:avLst/>
          </a:prstGeom>
          <a:solidFill>
            <a:srgbClr val="FF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54496" y="2834640"/>
            <a:ext cx="969264" cy="420623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重算 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78624" y="2834640"/>
            <a:ext cx="676655" cy="420623"/>
          </a:xfrm>
          <a:prstGeom prst="rect">
            <a:avLst/>
          </a:prstGeom>
          <a:solidFill>
            <a:srgbClr val="FF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10144" y="2834640"/>
            <a:ext cx="969264" cy="420623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重算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4272" y="2834640"/>
            <a:ext cx="676655" cy="420623"/>
          </a:xfrm>
          <a:prstGeom prst="rect">
            <a:avLst/>
          </a:prstGeom>
          <a:solidFill>
            <a:srgbClr val="FF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65792" y="2834640"/>
            <a:ext cx="969264" cy="420623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重算 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789920" y="2834640"/>
            <a:ext cx="886968" cy="420623"/>
          </a:xfrm>
          <a:prstGeom prst="rect">
            <a:avLst/>
          </a:prstGeom>
          <a:solidFill>
            <a:srgbClr val="1B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首 token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776204" y="1938528"/>
            <a:ext cx="27432" cy="1371600"/>
          </a:xfrm>
          <a:prstGeom prst="rect">
            <a:avLst/>
          </a:prstGeom>
          <a:solidFill>
            <a:srgbClr val="1B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2505456"/>
            <a:ext cx="702259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依赖：该层历史 KV 到位，本地才能算这一层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6032" y="4315968"/>
            <a:ext cx="3820058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56032" y="4315968"/>
            <a:ext cx="73152" cy="1783080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4" y="4407407"/>
            <a:ext cx="354573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被盖住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" y="4718304"/>
            <a:ext cx="3545738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历史 2 到历史 4 的读取，落在上一层本地重计算的时间里。重算 1 与历史 2 同时进行，重算 2 与历史 3 同时进行。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85818" y="4315968"/>
            <a:ext cx="3820058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85818" y="4315968"/>
            <a:ext cx="73152" cy="1783080"/>
          </a:xfrm>
          <a:prstGeom prst="rect">
            <a:avLst/>
          </a:prstGeom>
          <a:solidFill>
            <a:srgbClr val="B04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50410" y="4407407"/>
            <a:ext cx="354573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露出，可优化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50410" y="4718304"/>
            <a:ext cx="3545738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本地一层已经算完，下一层历史 KV 还没到，中间就是等待。池带宽变低、历史段变长，等待变长。更便宜的一小段改在本地重算，可以把等待拿掉。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15604" y="4315968"/>
            <a:ext cx="3820058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15604" y="4315968"/>
            <a:ext cx="73152" cy="1783080"/>
          </a:xfrm>
          <a:prstGeom prst="rect">
            <a:avLst/>
          </a:prstGeom>
          <a:solidFill>
            <a:srgbClr val="1B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80196" y="4407407"/>
            <a:ext cx="354573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B6E48"/>
                </a:solidFill>
                <a:latin typeface="Microsoft YaHei"/>
                <a:ea typeface="Microsoft YaHei"/>
                <a:cs typeface="Microsoft YaHei"/>
              </a:rPr>
              <a:t>露出落在 TTFT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196" y="4718304"/>
            <a:ext cx="3545738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汇合在首 token 之前，等待直接进入 TTFT。上一页的露出在首 token 和第 2 token 之间，这一页的露出在首 token 之前。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6032" y="6263640"/>
            <a:ext cx="1161288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层间等待 = max(0, 该层历史 KV 读完的时刻 - 上一层本地算完的时刻)。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图按每层读取长于每层重计算来画，所以层与层之间有等待；读取更快时，这些等待消失，prefill 时间等于首层读取加上各层本地计算。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KV 交接时序：依赖与露出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