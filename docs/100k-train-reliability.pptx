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次数</c:v>
                </c:pt>
              </c:strCache>
            </c:strRef>
          </c:tx>
          <c:dPt>
            <c:idx val="0"/>
            <c:spPr>
              <a:solidFill>
                <a:srgbClr val="A6362E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67A2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4A048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F6AA5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127A6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606E7E"/>
              </a:solidFill>
              <a:ln w="15875"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故障 GPU  35.3%</c:v>
                </c:pt>
                <c:pt idx="1">
                  <c:v>HBM3 显存  17.2%</c:v>
                </c:pt>
                <c:pt idx="2">
                  <c:v>其他 GPU  11.5%</c:v>
                </c:pt>
                <c:pt idx="3">
                  <c:v>软件与依赖  13.4%</c:v>
                </c:pt>
                <c:pt idx="4">
                  <c:v>网络与通信超时  11.7%</c:v>
                </c:pt>
                <c:pt idx="5">
                  <c:v>主机  11.0%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</c:v>
                </c:pt>
                <c:pt idx="1">
                  <c:v>72</c:v>
                </c:pt>
                <c:pt idx="2">
                  <c:v>48</c:v>
                </c:pt>
                <c:pt idx="3">
                  <c:v>56</c:v>
                </c:pt>
                <c:pt idx="4">
                  <c:v>49</c:v>
                </c:pt>
                <c:pt idx="5">
                  <c:v>46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100">
              <a:latin typeface="Microsoft YaHei"/>
              <a:ea typeface="Microsoft YaHei"/>
              <a:cs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次数</c:v>
                </c:pt>
              </c:strCache>
            </c:strRef>
          </c:tx>
          <c:dPt>
            <c:idx val="0"/>
            <c:spPr>
              <a:solidFill>
                <a:srgbClr val="D67A2A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A6362E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27A6E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606E7E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1F6AA5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786040"/>
              </a:solidFill>
              <a:ln w="15875"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HBM3 显存  22.9%</c:v>
                </c:pt>
                <c:pt idx="1">
                  <c:v>PCIe 设备  18.0%</c:v>
                </c:pt>
                <c:pt idx="2">
                  <c:v>通信超时与网络  14.3%</c:v>
                </c:pt>
                <c:pt idx="3">
                  <c:v>维护、内核与重启  17.6%</c:v>
                </c:pt>
                <c:pt idx="4">
                  <c:v>GPU 计算  8.7%</c:v>
                </c:pt>
                <c:pt idx="5">
                  <c:v>软件、数值与其他  18.6%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155</c:v>
                </c:pt>
                <c:pt idx="1">
                  <c:v>122</c:v>
                </c:pt>
                <c:pt idx="2">
                  <c:v>97</c:v>
                </c:pt>
                <c:pt idx="3">
                  <c:v>119</c:v>
                </c:pt>
                <c:pt idx="4">
                  <c:v>59</c:v>
                </c:pt>
                <c:pt idx="5">
                  <c:v>126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100">
              <a:latin typeface="Microsoft YaHei"/>
              <a:ea typeface="Microsoft YaHei"/>
              <a:cs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次数</c:v>
                </c:pt>
              </c:strCache>
            </c:strRef>
          </c:tx>
          <c:dPt>
            <c:idx val="0"/>
            <c:spPr>
              <a:solidFill>
                <a:srgbClr val="A6362E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6E48"/>
              </a:solidFill>
              <a:ln w="15875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全体停顿  55.6%</c:v>
                </c:pt>
                <c:pt idx="1">
                  <c:v>全速训练  44.4%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8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100">
              <a:latin typeface="Microsoft YaHei"/>
              <a:ea typeface="Microsoft YaHei"/>
              <a:cs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次数</c:v>
                </c:pt>
              </c:strCache>
            </c:strRef>
          </c:tx>
          <c:dPt>
            <c:idx val="0"/>
            <c:spPr>
              <a:solidFill>
                <a:srgbClr val="A6362E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67A2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B6E48"/>
              </a:solidFill>
              <a:ln w="15875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完全停顿  16.7%</c:v>
                </c:pt>
                <c:pt idx="1">
                  <c:v>少一个副本  38.9%</c:v>
                </c:pt>
                <c:pt idx="2">
                  <c:v>全速训练  44.4%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8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100">
              <a:latin typeface="Microsoft YaHei"/>
              <a:ea typeface="Microsoft YaHei"/>
              <a:cs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338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训练可靠性  ·  1 万卡到 10 万卡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338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万卡先被打穿的是有效训练时间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77824"/>
            <a:ext cx="73152" cy="38404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59536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健康迭代的 MFU 在 1.6 万卡仍有 38%–55%。10 万卡公开材料没有同等 MFU，同步恢复把有效时间打到 44%。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65392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公开数据整理  ·  健康迭代 MFU 与有效训练时间分开计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481328"/>
            <a:ext cx="3703320" cy="73152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64208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1.2 万–1.6 万卡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93392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&gt;90%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88920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有效训练时间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163824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Llama 3、MegaScale 的生产窗口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481328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481328"/>
            <a:ext cx="3703320" cy="73152"/>
          </a:xfrm>
          <a:prstGeom prst="rect">
            <a:avLst/>
          </a:prstGeom>
          <a:solidFill>
            <a:srgbClr val="8C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664208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 万卡  ·  全体同步恢复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993392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8C2A24"/>
                </a:solidFill>
                <a:latin typeface="Microsoft YaHei"/>
                <a:ea typeface="Microsoft YaHei"/>
                <a:cs typeface="Microsoft YaHei"/>
              </a:rPr>
              <a:t>44%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788920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 18 分钟故障，停 10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163824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Meta 在 9.8 万卡上测到的恢复上限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1481328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481328"/>
            <a:ext cx="3703320" cy="73152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1664208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 万卡  ·  按副本恢复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1993392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788920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完全停顿收到约 3 分钟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163824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12 个副本，少副本的 7 分钟仍在训练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005072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40% 的单步 MFU × 44% 的有效时间 ≈ 峰值算力的 18%。按副本异步恢复后，同一单步效率对应约 32%。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故障原因饼图有 1.6 万卡和 3.2 万卡两份。10 万卡公开的是故障间隔和恢复时间，没有第二份原因饼。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84048" y="4754880"/>
          <a:ext cx="11430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846320"/>
                <a:gridCol w="438912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怎么读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万卡上谁先变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健康迭代 MFU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故障之间，一步吞吐相对峰值算力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batch 和慢卡会再掉几个点，不是腰斩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有效训练时间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有进展的时间 / 墙钟，含重启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同步恢复从 1.6 万卡的 &gt;90% 降到 44%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338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对照  ·  已发表数字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338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卡数上去之后，先变的是故障间隔和重启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77824"/>
            <a:ext cx="73152" cy="38404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59536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1.6 万卡大约 3 小时一次意外中断，有效时间仍高于 90%。10 万卡的生产估计是 18 分钟一次。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65392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公开数据整理  ·  健康迭代 MFU 与有效训练时间分开计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444752"/>
          <a:ext cx="115671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2468880"/>
                <a:gridCol w="2468880"/>
                <a:gridCol w="2697480"/>
              </a:tblGrid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故障间隔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有效训练时间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健康迭代 MFU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Llama 3
405B 稠密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16,384 H100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 天 419 次意外
约 3 小时一次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&gt;90%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BF16 38%–43%
16K / DP=128 为 41%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MegaScale
175B 稠密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12,288 卡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数周自动恢复
100 次以上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&gt;90%
诊断 &lt;10 分钟
追上 &lt;15 分钟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55.2%
3,072 卡时为 59.1%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 生产
约 3.2 万卡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32,000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每千台服务器
每天 2.3 次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95%–97%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未单列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 FT-HSDP
10 万卡估计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100,000
恢复实验 98,000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18 分钟一次
线性外推约 50 分钟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同步恢复 44%
按副本恢复 80%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正常步长约 20 秒
未给 MFU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59893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18 分钟比 3.2 万卡故障率线性外推的约 50 分钟更密，不能只按硬件故障率放大。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Llama 3 论文：arxiv.org/abs/2407.21783    MegaScale：arxiv.org/abs/2402.15627    FT-HSDP：arxiv.org/abs/2602.00277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338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故障原因占比  ·  意外中断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338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从 1.6 万卡到 3.2 万卡，显存和 PCIe 上来，裸 GPU 计算下去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77824"/>
            <a:ext cx="73152" cy="38404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59536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两张饼都按论文表内次数绘制。10 万卡没有公开的原因分解，不能把右图直接当成 10 万卡。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65392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公开数据整理  ·  健康迭代 MFU 与有效训练时间分开计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28600" y="1737360"/>
          <a:ext cx="5852160" cy="40873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28600" y="1444752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Llama 3  ·  16,384 卡  ·  419 次意外中断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080759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论文写 GPU 类 58.7%。表内 GPU 行加总 268/419 = 64%，含静默错误和散热。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126480" y="1737360"/>
          <a:ext cx="5852160" cy="40873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26480" y="1444752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Meta  ·  约 32,000 卡  ·  678 次中断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6080759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硬件相关 78%。GPU 计算故障从首位降到 7.4%，靠隔离坏卡。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338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万卡  ·  每 18 分钟的墙钟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338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同步恢复有 56% 的时间停着；按副本恢复后完全停顿只占 17%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77824"/>
            <a:ext cx="73152" cy="38404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59536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左图是全体一起重启。右图是 12 个副本里只重修坏掉的那一个，另外 7 分钟以 11/12 的速度继续跑。有效算力 80%。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65392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公开数据整理  ·  健康迭代 MFU 与有效训练时间分开计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56032" y="1737360"/>
          <a:ext cx="4160520" cy="40873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6032" y="1444752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同步恢复  ·  有效算力 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6080759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 分钟停顿 / 18 分钟。9.8 万卡恢复上限约 10 分钟。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480560" y="1737360"/>
          <a:ext cx="4160520" cy="40873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80560" y="1444752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按副本恢复  ·  有效算力 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080759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完全停顿 3 分钟。少副本的 7 分钟仍有 11/12 吞吐。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737360"/>
            <a:ext cx="3063240" cy="4160520"/>
          </a:xfrm>
          <a:prstGeom prst="rect">
            <a:avLst/>
          </a:prstGeom>
          <a:solidFill>
            <a:srgbClr val="F4F7FA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1874519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9.8 万卡同步恢复拆开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246888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2A24"/>
                </a:solidFill>
                <a:latin typeface="Microsoft YaHei"/>
                <a:ea typeface="Microsoft YaHei"/>
                <a:cs typeface="Microsoft YaHei"/>
              </a:rPr>
              <a:t>5 分钟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2724912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冷申请 GPU 的上限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310896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2A24"/>
                </a:solidFill>
                <a:latin typeface="Microsoft YaHei"/>
                <a:ea typeface="Microsoft YaHei"/>
                <a:cs typeface="Microsoft YaHei"/>
              </a:rPr>
              <a:t>200 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364992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NCCL 建连。1.6 万卡约 17 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374904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2A24"/>
                </a:solidFill>
                <a:latin typeface="Microsoft YaHei"/>
                <a:ea typeface="Microsoft YaHei"/>
                <a:cs typeface="Microsoft YaHei"/>
              </a:rPr>
              <a:t>数分钟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005072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恢复后第一步。正常步约 20 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438912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60 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4645152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检测目前靠超时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502920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不随规模涨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5285232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取 checkpoint 与健康检查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338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这些损失进哪一个指标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338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重启打有效时间，慢卡和跨楼打单步 MFU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77824"/>
            <a:ext cx="73152" cy="38404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59536"/>
            <a:ext cx="111556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Checkpoint 写盘在异步之后不在这张 10 分钟账单里。写进共享存储追不上故障间隔，是另一件事。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65392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公开数据整理  ·  健康迭代 MFU 与有效训练时间分开计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444752"/>
          <a:ext cx="115671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017520"/>
                <a:gridCol w="5074920"/>
                <a:gridCol w="2468880"/>
              </a:tblGrid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因素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公开量级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打在</a:t>
                      </a:r>
                    </a:p>
                  </a:txBody>
                  <a:tcPr marL="73152" marR="54864" marT="36576" marB="36576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全体同步重启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分钟 / 18 分钟，有效时间 44%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有效训练时间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慢卡、慢链路、软件抖动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万卡作业完成时间平均拉长到 1.34 倍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单步 MFU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batch 与跨楼时延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 万卡 MFU 59%→55%；跨楼时延约 30 倍于柜内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单步 MFU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静默数值错误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占中断约 1%–6%，单次排查以小时到天计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已完成步数作废</a:t>
                      </a:r>
                    </a:p>
                  </a:txBody>
                  <a:tcPr marL="73152" marR="54864" marT="36576" marB="36576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Checkpoint 写盘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异步分片后 GPU 阻塞是亚秒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不主导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4892040"/>
            <a:ext cx="11567160" cy="1417320"/>
          </a:xfrm>
          <a:prstGeom prst="rect">
            <a:avLst/>
          </a:prstGeom>
          <a:solidFill>
            <a:srgbClr val="F4F7FA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010912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收到第 1 项之后，限制回到第 2、3 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7667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按副本恢复把有效时间收到约 80%。此后每一步仍等最慢的 rank。时延敏感的集合通信要留在同一栋楼，跨楼只跑副本间的梯度。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Greyhound（ATC 2025）统计的是万卡集群里 512–1,024 卡的作业，不是 10 万卡全量。慢的主因是网络拥塞和 GPU 退化。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万卡到10万卡训练可靠性</dc:title>
  <dc:subject>故障占比与有效训练时间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